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359" r:id="rId2"/>
    <p:sldId id="257" r:id="rId3"/>
    <p:sldId id="258" r:id="rId4"/>
    <p:sldId id="259" r:id="rId5"/>
    <p:sldId id="260" r:id="rId6"/>
    <p:sldId id="347" r:id="rId7"/>
    <p:sldId id="348" r:id="rId8"/>
    <p:sldId id="317" r:id="rId9"/>
    <p:sldId id="328" r:id="rId10"/>
    <p:sldId id="351" r:id="rId11"/>
    <p:sldId id="262" r:id="rId12"/>
    <p:sldId id="316" r:id="rId13"/>
    <p:sldId id="349" r:id="rId14"/>
    <p:sldId id="352" r:id="rId15"/>
    <p:sldId id="329" r:id="rId16"/>
    <p:sldId id="353" r:id="rId17"/>
    <p:sldId id="330" r:id="rId18"/>
    <p:sldId id="332" r:id="rId19"/>
    <p:sldId id="354" r:id="rId20"/>
    <p:sldId id="333" r:id="rId21"/>
    <p:sldId id="264" r:id="rId22"/>
    <p:sldId id="355" r:id="rId23"/>
    <p:sldId id="335" r:id="rId24"/>
    <p:sldId id="318" r:id="rId25"/>
    <p:sldId id="356" r:id="rId26"/>
    <p:sldId id="336" r:id="rId27"/>
    <p:sldId id="357" r:id="rId28"/>
    <p:sldId id="295" r:id="rId29"/>
    <p:sldId id="315" r:id="rId30"/>
    <p:sldId id="360" r:id="rId31"/>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7" autoAdjust="0"/>
    <p:restoredTop sz="94636"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14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9618"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19" name="Rectangle 3"/>
          <p:cNvSpPr>
            <a:spLocks noGrp="1" noChangeArrowheads="1"/>
          </p:cNvSpPr>
          <p:nvPr>
            <p:ph type="dt" sz="quarter"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0" name="Rectangle 4"/>
          <p:cNvSpPr>
            <a:spLocks noGrp="1" noChangeArrowheads="1"/>
          </p:cNvSpPr>
          <p:nvPr>
            <p:ph type="ftr" sz="quarter" idx="2"/>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1" name="Rectangle 5"/>
          <p:cNvSpPr>
            <a:spLocks noGrp="1" noChangeArrowheads="1"/>
          </p:cNvSpPr>
          <p:nvPr>
            <p:ph type="sldNum" sz="quarter" idx="3"/>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fld id="{FCBAA398-CFCC-4FEC-85B2-5E73E3EF00E9}" type="slidenum">
              <a:rPr lang="en-US"/>
              <a:pPr>
                <a:defRPr/>
              </a:pPr>
              <a:t>‹#›</a:t>
            </a:fld>
            <a:endParaRPr lang="en-US"/>
          </a:p>
        </p:txBody>
      </p:sp>
    </p:spTree>
    <p:extLst>
      <p:ext uri="{BB962C8B-B14F-4D97-AF65-F5344CB8AC3E}">
        <p14:creationId xmlns:p14="http://schemas.microsoft.com/office/powerpoint/2010/main" val="36503949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A2936E9E-A252-45E1-973A-40EE65193463}" type="slidenum">
              <a:rPr lang="en-US"/>
              <a:pPr>
                <a:defRPr/>
              </a:pPr>
              <a:t>‹#›</a:t>
            </a:fld>
            <a:endParaRPr lang="en-US"/>
          </a:p>
        </p:txBody>
      </p:sp>
    </p:spTree>
    <p:extLst>
      <p:ext uri="{BB962C8B-B14F-4D97-AF65-F5344CB8AC3E}">
        <p14:creationId xmlns:p14="http://schemas.microsoft.com/office/powerpoint/2010/main" val="29759232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ln>
            <a:miter lim="800000"/>
            <a:headEnd/>
            <a:tailEnd/>
          </a:ln>
        </p:spPr>
        <p:txBody>
          <a:bodyPr/>
          <a:lstStyle/>
          <a:p>
            <a:fld id="{26976B47-66A6-4776-9EF5-64A4B17CBC92}" type="slidenum">
              <a:rPr lang="en-US" smtClean="0">
                <a:latin typeface="Tahoma" charset="0"/>
                <a:cs typeface="Arial" charset="0"/>
              </a:rPr>
              <a:pPr/>
              <a:t>1</a:t>
            </a:fld>
            <a:endParaRPr lang="en-US" smtClean="0">
              <a:latin typeface="Tahoma" charset="0"/>
              <a:cs typeface="Arial" charset="0"/>
            </a:endParaRPr>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997463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1152525" y="692150"/>
            <a:ext cx="4554538" cy="3416300"/>
          </a:xfrm>
          <a:ln/>
        </p:spPr>
      </p:sp>
      <p:sp>
        <p:nvSpPr>
          <p:cNvPr id="54275"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3200366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10"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540544" y="776288"/>
            <a:ext cx="8062912" cy="1470025"/>
          </a:xfrm>
        </p:spPr>
        <p:txBody>
          <a:bodyPr anchor="b"/>
          <a:lstStyle>
            <a:lvl1pPr algn="r">
              <a:defRPr sz="4400"/>
            </a:lvl1pPr>
          </a:lstStyle>
          <a:p>
            <a:r>
              <a:rPr lang="en-US" smtClean="0"/>
              <a:t>Click to edit Master title style</a:t>
            </a:r>
            <a:endParaRPr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1" name="Date Placeholder 27"/>
          <p:cNvSpPr>
            <a:spLocks noGrp="1"/>
          </p:cNvSpPr>
          <p:nvPr>
            <p:ph type="dt" sz="half" idx="10"/>
          </p:nvPr>
        </p:nvSpPr>
        <p:spPr>
          <a:xfrm>
            <a:off x="1371600" y="6011863"/>
            <a:ext cx="5791200" cy="365125"/>
          </a:xfrm>
        </p:spPr>
        <p:txBody>
          <a:bodyPr tIns="0" bIns="0" anchor="t"/>
          <a:lstStyle>
            <a:lvl1pPr algn="r">
              <a:defRPr sz="1000"/>
            </a:lvl1pPr>
          </a:lstStyle>
          <a:p>
            <a:pPr>
              <a:defRPr/>
            </a:pPr>
            <a:endParaRPr lang="en-US"/>
          </a:p>
        </p:txBody>
      </p:sp>
      <p:sp>
        <p:nvSpPr>
          <p:cNvPr id="12" name="Footer Placeholder 16"/>
          <p:cNvSpPr>
            <a:spLocks noGrp="1"/>
          </p:cNvSpPr>
          <p:nvPr>
            <p:ph type="ftr" sz="quarter" idx="11"/>
          </p:nvPr>
        </p:nvSpPr>
        <p:spPr>
          <a:xfrm>
            <a:off x="1371600" y="5649913"/>
            <a:ext cx="5791200" cy="365125"/>
          </a:xfrm>
        </p:spPr>
        <p:txBody>
          <a:bodyPr tIns="0" bIns="0"/>
          <a:lstStyle>
            <a:lvl1pPr algn="r">
              <a:defRPr sz="1100"/>
            </a:lvl1pPr>
          </a:lstStyle>
          <a:p>
            <a:pPr>
              <a:defRPr/>
            </a:pPr>
            <a:r>
              <a:rPr lang="en-US" dirty="0"/>
              <a:t>Copyright © </a:t>
            </a:r>
            <a:r>
              <a:rPr lang="en-US" dirty="0" smtClean="0"/>
              <a:t>2015 </a:t>
            </a:r>
            <a:r>
              <a:rPr lang="en-US" dirty="0"/>
              <a:t>Pearson Education, Inc. Publishing as Prentice Hall</a:t>
            </a:r>
          </a:p>
        </p:txBody>
      </p:sp>
      <p:sp>
        <p:nvSpPr>
          <p:cNvPr id="13" name="Slide Number Placeholder 28"/>
          <p:cNvSpPr>
            <a:spLocks noGrp="1"/>
          </p:cNvSpPr>
          <p:nvPr>
            <p:ph type="sldNum" sz="quarter" idx="12"/>
          </p:nvPr>
        </p:nvSpPr>
        <p:spPr>
          <a:xfrm>
            <a:off x="8391525" y="5753100"/>
            <a:ext cx="503238" cy="365125"/>
          </a:xfrm>
        </p:spPr>
        <p:txBody>
          <a:bodyPr anchor="ctr"/>
          <a:lstStyle>
            <a:lvl1pPr algn="r">
              <a:defRPr sz="1300">
                <a:solidFill>
                  <a:srgbClr val="FFFFFF"/>
                </a:solidFill>
              </a:defRPr>
            </a:lvl1pPr>
          </a:lstStyle>
          <a:p>
            <a:pPr>
              <a:defRPr/>
            </a:pPr>
            <a:fld id="{FE06A989-1EE7-456C-B781-17672DF3EF99}" type="slidenum">
              <a:rPr lang="en-US"/>
              <a:pPr>
                <a:defRPr/>
              </a:pPr>
              <a:t>‹#›</a:t>
            </a:fld>
            <a:endParaRPr lang="en-US" sz="1800" dirty="0">
              <a:solidFill>
                <a:schemeClr val="bg1"/>
              </a:solidFill>
            </a:endParaRPr>
          </a:p>
        </p:txBody>
      </p:sp>
    </p:spTree>
  </p:cSld>
  <p:clrMapOvr>
    <a:masterClrMapping/>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457200" y="267494"/>
            <a:ext cx="8229600" cy="1399032"/>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882808"/>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3"/>
          <p:cNvSpPr>
            <a:spLocks noGrp="1"/>
          </p:cNvSpPr>
          <p:nvPr>
            <p:ph type="dt" sz="half" idx="10"/>
          </p:nvPr>
        </p:nvSpPr>
        <p:spPr>
          <a:xfrm>
            <a:off x="4791075" y="6480175"/>
            <a:ext cx="2133600" cy="301625"/>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457200" y="6481763"/>
            <a:ext cx="4259263"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p:txBody>
          <a:bodyPr/>
          <a:lstStyle>
            <a:lvl1pPr>
              <a:defRPr/>
            </a:lvl1pPr>
          </a:lstStyle>
          <a:p>
            <a:pPr>
              <a:defRPr/>
            </a:pPr>
            <a:fld id="{646E5690-65AA-4416-965B-6553FA9658AB}"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5D1837DC-43BE-42E2-B3EF-4710A4F7AE1E}"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4"/>
          <p:cNvSpPr>
            <a:spLocks noGrp="1"/>
          </p:cNvSpPr>
          <p:nvPr>
            <p:ph type="dt" sz="half" idx="10"/>
          </p:nvPr>
        </p:nvSpPr>
        <p:spPr/>
        <p:txBody>
          <a:bodyPr/>
          <a:lstStyle>
            <a:lvl1pPr>
              <a:defRPr/>
            </a:lvl1pPr>
          </a:lstStyle>
          <a:p>
            <a:pPr>
              <a:defRPr/>
            </a:pPr>
            <a:endParaRPr lang="en-US"/>
          </a:p>
        </p:txBody>
      </p:sp>
      <p:sp>
        <p:nvSpPr>
          <p:cNvPr id="10" name="Footer Placeholder 5"/>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1" name="Slide Number Placeholder 6"/>
          <p:cNvSpPr>
            <a:spLocks noGrp="1"/>
          </p:cNvSpPr>
          <p:nvPr>
            <p:ph type="sldNum" sz="quarter" idx="12"/>
          </p:nvPr>
        </p:nvSpPr>
        <p:spPr/>
        <p:txBody>
          <a:bodyPr/>
          <a:lstStyle>
            <a:lvl1pPr>
              <a:defRPr/>
            </a:lvl1pPr>
          </a:lstStyle>
          <a:p>
            <a:pPr>
              <a:defRPr/>
            </a:pPr>
            <a:fld id="{2C6E36AE-4E49-44BE-9028-E57D26CC79A3}" type="slidenum">
              <a:rPr lang="en-US"/>
              <a:pPr>
                <a:defRPr/>
              </a:pPr>
              <a:t>‹#›</a:t>
            </a:fld>
            <a:endParaRPr 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 calcmode="lin" valueType="num">
                                      <p:cBhvr additive="base">
                                        <p:cTn id="4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anim calcmode="lin" valueType="num">
                                      <p:cBhvr additive="base">
                                        <p:cTn id="4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anim calcmode="lin" valueType="num">
                                      <p:cBhvr additive="base">
                                        <p:cTn id="4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9" name="Slide Number Placeholder 8"/>
          <p:cNvSpPr>
            <a:spLocks noGrp="1"/>
          </p:cNvSpPr>
          <p:nvPr>
            <p:ph type="sldNum" sz="quarter" idx="12"/>
          </p:nvPr>
        </p:nvSpPr>
        <p:spPr>
          <a:xfrm>
            <a:off x="7589838" y="6483350"/>
            <a:ext cx="503237" cy="301625"/>
          </a:xfrm>
        </p:spPr>
        <p:txBody>
          <a:bodyPr/>
          <a:lstStyle>
            <a:lvl1pPr algn="ctr">
              <a:defRPr/>
            </a:lvl1pPr>
          </a:lstStyle>
          <a:p>
            <a:pPr>
              <a:defRPr/>
            </a:pPr>
            <a:fld id="{6B374420-6242-499C-96F9-CED02D0B3C93}"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 calcmode="lin" valueType="num">
                                      <p:cBhvr additive="base">
                                        <p:cTn id="2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additive="base">
                                        <p:cTn id="5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 calcmode="lin" valueType="num">
                                      <p:cBhvr additive="base">
                                        <p:cTn id="5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 calcmode="lin" valueType="num">
                                      <p:cBhvr additive="base">
                                        <p:cTn id="6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P spid="5" grpId="0" build="p" bldLvl="3" autoUpdateAnimBg="0"/>
      <p:bldP spid="6" grpId="0" build="p" bldLvl="3"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5" name="Slide Number Placeholder 22"/>
          <p:cNvSpPr>
            <a:spLocks noGrp="1"/>
          </p:cNvSpPr>
          <p:nvPr>
            <p:ph type="sldNum" sz="quarter" idx="12"/>
          </p:nvPr>
        </p:nvSpPr>
        <p:spPr/>
        <p:txBody>
          <a:bodyPr/>
          <a:lstStyle>
            <a:lvl1pPr>
              <a:defRPr/>
            </a:lvl1pPr>
          </a:lstStyle>
          <a:p>
            <a:pPr>
              <a:defRPr/>
            </a:pPr>
            <a:fld id="{91635C90-8C6B-4068-B5FA-5BE2CF0C2769}" type="slidenum">
              <a:rPr lang="en-US"/>
              <a:pPr>
                <a:defRPr/>
              </a:pPr>
              <a:t>‹#›</a:t>
            </a:fld>
            <a:endParaRPr lang="en-US"/>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4" name="Slide Number Placeholder 22"/>
          <p:cNvSpPr>
            <a:spLocks noGrp="1"/>
          </p:cNvSpPr>
          <p:nvPr>
            <p:ph type="sldNum" sz="quarter" idx="12"/>
          </p:nvPr>
        </p:nvSpPr>
        <p:spPr/>
        <p:txBody>
          <a:bodyPr/>
          <a:lstStyle>
            <a:lvl1pPr>
              <a:defRPr/>
            </a:lvl1pPr>
          </a:lstStyle>
          <a:p>
            <a:pPr>
              <a:defRPr/>
            </a:pPr>
            <a:fld id="{6C616F72-DC11-4D1E-9659-CBA433725A85}" type="slidenum">
              <a:rPr lang="en-US"/>
              <a:pPr>
                <a:defRPr/>
              </a:pPr>
              <a:t>‹#›</a:t>
            </a:fld>
            <a:endParaRPr lang="en-US"/>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410575" y="6556375"/>
            <a:ext cx="503238" cy="301625"/>
          </a:xfrm>
        </p:spPr>
        <p:txBody>
          <a:bodyPr/>
          <a:lstStyle>
            <a:lvl1pPr>
              <a:defRPr sz="900"/>
            </a:lvl1pPr>
          </a:lstStyle>
          <a:p>
            <a:pPr>
              <a:defRPr/>
            </a:pPr>
            <a:fld id="{0F38DCB1-45A1-4C84-87C0-193AF4678AD8}"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a:lvl1pPr>
          </a:lstStyle>
          <a:p>
            <a:pPr>
              <a:defRPr/>
            </a:pPr>
            <a:fld id="{06BE34E3-BFFD-4C3B-891B-1236F0BA71A9}"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46B32B33-5253-4236-B846-FF732A5DF687}" type="slidenum">
              <a:rPr lang="en-US"/>
              <a:pPr>
                <a:defRPr/>
              </a:pPr>
              <a:t>‹#›</a:t>
            </a:fld>
            <a:endParaRPr lang="en-US"/>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50B0B958-AE33-47DE-B663-1C43CC365CA2}" type="slidenum">
              <a:rPr lang="en-US"/>
              <a:pPr>
                <a:defRPr/>
              </a:pPr>
              <a:t>‹#›</a:t>
            </a:fld>
            <a:endParaRPr 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4791075" y="6481763"/>
            <a:ext cx="2133600"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a:solidFill>
                  <a:schemeClr val="tx1"/>
                </a:solidFill>
                <a:cs typeface="+mn-cs"/>
              </a:defRPr>
            </a:lvl1pPr>
          </a:lstStyle>
          <a:p>
            <a:pPr>
              <a:defRPr/>
            </a:pPr>
            <a:r>
              <a:rPr lang="en-US" dirty="0"/>
              <a:t>Copyright © </a:t>
            </a:r>
            <a:r>
              <a:rPr lang="en-US" dirty="0" smtClean="0"/>
              <a:t>2015 </a:t>
            </a:r>
            <a:r>
              <a:rPr lang="en-US" dirty="0"/>
              <a:t>Pearson Education, Inc. Publishing as Prentice Hall</a:t>
            </a:r>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a:solidFill>
                  <a:schemeClr val="tx1"/>
                </a:solidFill>
                <a:cs typeface="+mn-cs"/>
              </a:defRPr>
            </a:lvl1pPr>
          </a:lstStyle>
          <a:p>
            <a:pPr>
              <a:defRPr/>
            </a:pPr>
            <a:fld id="{74F50A36-9B3E-47C1-8725-4B1914BC29B6}" type="slidenum">
              <a:rPr lang="en-US"/>
              <a:pPr>
                <a:defRPr/>
              </a:pPr>
              <a:t>‹#›</a:t>
            </a:fld>
            <a:endParaRPr lang="en-US"/>
          </a:p>
        </p:txBody>
      </p:sp>
      <p:sp>
        <p:nvSpPr>
          <p:cNvPr id="1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Tree>
  </p:cSld>
  <p:clrMap bg1="dk1" tx1="lt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56" r:id="rId6"/>
    <p:sldLayoutId id="2147483657" r:id="rId7"/>
    <p:sldLayoutId id="2147483665" r:id="rId8"/>
    <p:sldLayoutId id="2147483666" r:id="rId9"/>
    <p:sldLayoutId id="2147483658" r:id="rId10"/>
    <p:sldLayoutId id="2147483659" r:id="rId11"/>
  </p:sldLayoutIdLst>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 calcmode="lin" valueType="num">
                                      <p:cBhvr additive="base">
                                        <p:cTn id="1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anim calcmode="lin" valueType="num">
                                      <p:cBhvr additive="base">
                                        <p:cTn id="2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3" autoUpdateAnimBg="0"/>
    </p:bldLst>
  </p:timing>
  <p:hf sldNum="0" hdr="0" dt="0"/>
  <p:txStyles>
    <p:titleStyle>
      <a:lvl1pPr marL="484188" algn="l" rtl="0" eaLnBrk="0" fontAlgn="base" hangingPunct="0">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eaLnBrk="0" fontAlgn="base" hangingPunct="0">
        <a:spcBef>
          <a:spcPct val="0"/>
        </a:spcBef>
        <a:spcAft>
          <a:spcPct val="0"/>
        </a:spcAft>
        <a:defRPr sz="4200">
          <a:solidFill>
            <a:srgbClr val="FF5C9C"/>
          </a:solidFill>
          <a:latin typeface="Century Gothic" pitchFamily="34" charset="0"/>
        </a:defRPr>
      </a:lvl2pPr>
      <a:lvl3pPr marL="484188" algn="l" rtl="0" eaLnBrk="0" fontAlgn="base" hangingPunct="0">
        <a:spcBef>
          <a:spcPct val="0"/>
        </a:spcBef>
        <a:spcAft>
          <a:spcPct val="0"/>
        </a:spcAft>
        <a:defRPr sz="4200">
          <a:solidFill>
            <a:srgbClr val="FF5C9C"/>
          </a:solidFill>
          <a:latin typeface="Century Gothic" pitchFamily="34" charset="0"/>
        </a:defRPr>
      </a:lvl3pPr>
      <a:lvl4pPr marL="484188" algn="l" rtl="0" eaLnBrk="0" fontAlgn="base" hangingPunct="0">
        <a:spcBef>
          <a:spcPct val="0"/>
        </a:spcBef>
        <a:spcAft>
          <a:spcPct val="0"/>
        </a:spcAft>
        <a:defRPr sz="4200">
          <a:solidFill>
            <a:srgbClr val="FF5C9C"/>
          </a:solidFill>
          <a:latin typeface="Century Gothic" pitchFamily="34" charset="0"/>
        </a:defRPr>
      </a:lvl4pPr>
      <a:lvl5pPr marL="484188" algn="l" rtl="0" eaLnBrk="0" fontAlgn="base" hangingPunct="0">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eaLnBrk="0" fontAlgn="base" hangingPunct="0">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eaLnBrk="0" fontAlgn="base" hangingPunct="0">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eaLnBrk="0" fontAlgn="base" hangingPunct="0">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eaLnBrk="0" fontAlgn="base" hangingPunct="0">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ctrTitle"/>
          </p:nvPr>
        </p:nvSpPr>
        <p:spPr>
          <a:xfrm>
            <a:off x="914400" y="1143000"/>
            <a:ext cx="7772400" cy="1981200"/>
          </a:xfrm>
        </p:spPr>
        <p:txBody>
          <a:bodyPr>
            <a:normAutofit fontScale="90000"/>
          </a:bodyPr>
          <a:lstStyle/>
          <a:p>
            <a:pPr marL="484632" eaLnBrk="1" fontAlgn="auto" hangingPunct="1">
              <a:spcAft>
                <a:spcPts val="0"/>
              </a:spcAft>
              <a:defRPr/>
            </a:pPr>
            <a:r>
              <a:rPr lang="en-US" sz="4000" b="1" dirty="0">
                <a:solidFill>
                  <a:schemeClr val="accent1">
                    <a:tint val="83000"/>
                    <a:satMod val="150000"/>
                  </a:schemeClr>
                </a:solidFill>
              </a:rPr>
              <a:t>Essentials of</a:t>
            </a:r>
            <a:br>
              <a:rPr lang="en-US" sz="4000" b="1" dirty="0">
                <a:solidFill>
                  <a:schemeClr val="accent1">
                    <a:tint val="83000"/>
                    <a:satMod val="150000"/>
                  </a:schemeClr>
                </a:solidFill>
              </a:rPr>
            </a:br>
            <a:r>
              <a:rPr lang="en-US" sz="4000" b="1" dirty="0">
                <a:solidFill>
                  <a:schemeClr val="accent1">
                    <a:tint val="83000"/>
                    <a:satMod val="150000"/>
                  </a:schemeClr>
                </a:solidFill>
              </a:rPr>
              <a:t>Systems Analysis and Design</a:t>
            </a:r>
            <a:br>
              <a:rPr lang="en-US" sz="4000" b="1" dirty="0">
                <a:solidFill>
                  <a:schemeClr val="accent1">
                    <a:tint val="83000"/>
                    <a:satMod val="150000"/>
                  </a:schemeClr>
                </a:solidFill>
              </a:rPr>
            </a:br>
            <a:r>
              <a:rPr lang="en-US" sz="3600" b="1" dirty="0" smtClean="0">
                <a:solidFill>
                  <a:schemeClr val="accent1">
                    <a:tint val="83000"/>
                    <a:satMod val="150000"/>
                  </a:schemeClr>
                </a:solidFill>
              </a:rPr>
              <a:t>Sixth </a:t>
            </a:r>
            <a:r>
              <a:rPr lang="en-US" sz="3600" b="1" dirty="0">
                <a:solidFill>
                  <a:schemeClr val="accent1">
                    <a:tint val="83000"/>
                    <a:satMod val="150000"/>
                  </a:schemeClr>
                </a:solidFill>
              </a:rPr>
              <a:t>Edition</a:t>
            </a:r>
            <a:br>
              <a:rPr lang="en-US" sz="3600" b="1" dirty="0">
                <a:solidFill>
                  <a:schemeClr val="accent1">
                    <a:tint val="83000"/>
                    <a:satMod val="150000"/>
                  </a:schemeClr>
                </a:solidFill>
              </a:rPr>
            </a:br>
            <a:r>
              <a:rPr lang="en-US" sz="3600" b="1" dirty="0">
                <a:solidFill>
                  <a:schemeClr val="accent1">
                    <a:tint val="83000"/>
                    <a:satMod val="150000"/>
                  </a:schemeClr>
                </a:solidFill>
              </a:rPr>
              <a:t> </a:t>
            </a:r>
            <a:r>
              <a:rPr lang="en-US" sz="2800" b="1" dirty="0">
                <a:solidFill>
                  <a:schemeClr val="accent1">
                    <a:tint val="83000"/>
                    <a:satMod val="150000"/>
                  </a:schemeClr>
                </a:solidFill>
              </a:rPr>
              <a:t>Joseph S. </a:t>
            </a:r>
            <a:r>
              <a:rPr lang="en-US" sz="2800" b="1" dirty="0" err="1">
                <a:solidFill>
                  <a:schemeClr val="accent1">
                    <a:tint val="83000"/>
                    <a:satMod val="150000"/>
                  </a:schemeClr>
                </a:solidFill>
              </a:rPr>
              <a:t>Valacich</a:t>
            </a:r>
            <a:r>
              <a:rPr lang="en-US" sz="2800" b="1" dirty="0">
                <a:solidFill>
                  <a:schemeClr val="accent1">
                    <a:tint val="83000"/>
                    <a:satMod val="150000"/>
                  </a:schemeClr>
                </a:solidFill>
              </a:rPr>
              <a:t/>
            </a:r>
            <a:br>
              <a:rPr lang="en-US" sz="2800" b="1" dirty="0">
                <a:solidFill>
                  <a:schemeClr val="accent1">
                    <a:tint val="83000"/>
                    <a:satMod val="150000"/>
                  </a:schemeClr>
                </a:solidFill>
              </a:rPr>
            </a:br>
            <a:r>
              <a:rPr lang="en-US" sz="2800" b="1" dirty="0">
                <a:solidFill>
                  <a:schemeClr val="accent1">
                    <a:tint val="83000"/>
                    <a:satMod val="150000"/>
                  </a:schemeClr>
                </a:solidFill>
              </a:rPr>
              <a:t>Joey F. George</a:t>
            </a:r>
            <a:br>
              <a:rPr lang="en-US" sz="2800" b="1" dirty="0">
                <a:solidFill>
                  <a:schemeClr val="accent1">
                    <a:tint val="83000"/>
                    <a:satMod val="150000"/>
                  </a:schemeClr>
                </a:solidFill>
              </a:rPr>
            </a:br>
            <a:r>
              <a:rPr lang="en-US" sz="2800" b="1" dirty="0">
                <a:solidFill>
                  <a:schemeClr val="accent1">
                    <a:tint val="83000"/>
                    <a:satMod val="150000"/>
                  </a:schemeClr>
                </a:solidFill>
              </a:rPr>
              <a:t>Jeffrey A. Hoffer</a:t>
            </a:r>
          </a:p>
        </p:txBody>
      </p:sp>
      <p:sp>
        <p:nvSpPr>
          <p:cNvPr id="318467" name="Rectangle 3" descr="Rectangle: Click to edit Master text styles&#10;Second level&#10;Third level&#10;Fourth level&#10;Fifth level"/>
          <p:cNvSpPr>
            <a:spLocks noGrp="1" noChangeArrowheads="1"/>
          </p:cNvSpPr>
          <p:nvPr>
            <p:ph type="subTitle" idx="1"/>
          </p:nvPr>
        </p:nvSpPr>
        <p:spPr>
          <a:xfrm>
            <a:off x="1066800" y="3505200"/>
            <a:ext cx="7086600" cy="1600200"/>
          </a:xfrm>
        </p:spPr>
        <p:txBody>
          <a:bodyPr>
            <a:normAutofit/>
          </a:bodyPr>
          <a:lstStyle/>
          <a:p>
            <a:pPr algn="ctr" eaLnBrk="1" fontAlgn="auto" hangingPunct="1">
              <a:lnSpc>
                <a:spcPct val="90000"/>
              </a:lnSpc>
              <a:spcAft>
                <a:spcPts val="0"/>
              </a:spcAft>
              <a:buFont typeface="Wingdings 2"/>
              <a:buNone/>
              <a:defRPr/>
            </a:pPr>
            <a:r>
              <a:rPr lang="en-US" sz="3600" b="1"/>
              <a:t>Appendix A</a:t>
            </a:r>
          </a:p>
          <a:p>
            <a:pPr algn="ctr" eaLnBrk="1" fontAlgn="auto" hangingPunct="1">
              <a:lnSpc>
                <a:spcPct val="90000"/>
              </a:lnSpc>
              <a:spcAft>
                <a:spcPts val="0"/>
              </a:spcAft>
              <a:buFont typeface="Wingdings 2"/>
              <a:buNone/>
              <a:defRPr/>
            </a:pPr>
            <a:r>
              <a:rPr lang="en-US" b="1"/>
              <a:t>Object-Oriented Analysis and Design</a:t>
            </a:r>
          </a:p>
          <a:p>
            <a:pPr algn="ctr" eaLnBrk="1" fontAlgn="auto" hangingPunct="1">
              <a:lnSpc>
                <a:spcPct val="90000"/>
              </a:lnSpc>
              <a:spcAft>
                <a:spcPts val="0"/>
              </a:spcAft>
              <a:buFont typeface="Wingdings 2"/>
              <a:buNone/>
              <a:defRPr/>
            </a:pPr>
            <a:endParaRPr lang="en-US" b="1"/>
          </a:p>
        </p:txBody>
      </p:sp>
      <p:sp>
        <p:nvSpPr>
          <p:cNvPr id="15363"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dirty="0" smtClean="0">
                <a:cs typeface="Arial" charset="0"/>
              </a:rPr>
              <a:t>Copyright © 2015 Pearson Education, Inc. Publishing as Prentice Hall</a:t>
            </a:r>
          </a:p>
        </p:txBody>
      </p:sp>
      <p:sp>
        <p:nvSpPr>
          <p:cNvPr id="31846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r>
              <a:rPr lang="en-US" sz="1600">
                <a:solidFill>
                  <a:schemeClr val="tx1"/>
                </a:solidFill>
                <a:cs typeface="+mn-cs"/>
              </a:rPr>
              <a:t>A.1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609600" y="304800"/>
            <a:ext cx="7772400" cy="1066800"/>
          </a:xfrm>
        </p:spPr>
        <p:txBody>
          <a:bodyPr/>
          <a:lstStyle/>
          <a:p>
            <a:pPr marL="484632" eaLnBrk="1" fontAlgn="auto" hangingPunct="1">
              <a:spcAft>
                <a:spcPts val="0"/>
              </a:spcAft>
              <a:defRPr/>
            </a:pPr>
            <a:r>
              <a:rPr lang="en-US">
                <a:solidFill>
                  <a:schemeClr val="accent1">
                    <a:tint val="83000"/>
                    <a:satMod val="150000"/>
                  </a:schemeClr>
                </a:solidFill>
              </a:rPr>
              <a:t>Learning Objectives</a:t>
            </a:r>
          </a:p>
        </p:txBody>
      </p:sp>
      <p:sp>
        <p:nvSpPr>
          <p:cNvPr id="17410"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lstStyle/>
          <a:p>
            <a:pPr eaLnBrk="1" hangingPunct="1">
              <a:buClr>
                <a:srgbClr val="BA2212"/>
              </a:buClr>
              <a:buFont typeface="Wingdings" pitchFamily="2" charset="2"/>
              <a:buChar char="ü"/>
            </a:pPr>
            <a:r>
              <a:rPr lang="en-US" sz="2400" smtClean="0"/>
              <a:t>Key terms</a:t>
            </a:r>
          </a:p>
          <a:p>
            <a:pPr lvl="1" eaLnBrk="1" hangingPunct="1">
              <a:buClr>
                <a:srgbClr val="BA2212"/>
              </a:buClr>
              <a:buFont typeface="Wingdings" pitchFamily="2" charset="2"/>
              <a:buChar char="ü"/>
            </a:pPr>
            <a:r>
              <a:rPr lang="en-US" sz="2000" smtClean="0"/>
              <a:t>Association</a:t>
            </a:r>
          </a:p>
          <a:p>
            <a:pPr lvl="1" eaLnBrk="1" hangingPunct="1">
              <a:buClr>
                <a:srgbClr val="BA2212"/>
              </a:buClr>
              <a:buFont typeface="Wingdings" pitchFamily="2" charset="2"/>
              <a:buChar char="ü"/>
            </a:pPr>
            <a:r>
              <a:rPr lang="en-US" sz="2000" smtClean="0"/>
              <a:t>Class diagram</a:t>
            </a:r>
          </a:p>
          <a:p>
            <a:pPr lvl="1" eaLnBrk="1" hangingPunct="1">
              <a:buClr>
                <a:srgbClr val="BA2212"/>
              </a:buClr>
              <a:buFont typeface="Wingdings" pitchFamily="2" charset="2"/>
              <a:buChar char="ü"/>
            </a:pPr>
            <a:r>
              <a:rPr lang="en-US" sz="2000" smtClean="0"/>
              <a:t>Event</a:t>
            </a:r>
          </a:p>
          <a:p>
            <a:pPr lvl="1" eaLnBrk="1" hangingPunct="1">
              <a:buClr>
                <a:srgbClr val="BA2212"/>
              </a:buClr>
              <a:buFont typeface="Wingdings" pitchFamily="2" charset="2"/>
              <a:buChar char="ü"/>
            </a:pPr>
            <a:r>
              <a:rPr lang="en-US" sz="2000" smtClean="0"/>
              <a:t>Object</a:t>
            </a:r>
          </a:p>
          <a:p>
            <a:pPr lvl="1" eaLnBrk="1" hangingPunct="1">
              <a:buClr>
                <a:srgbClr val="BA2212"/>
              </a:buClr>
              <a:buFont typeface="Wingdings" pitchFamily="2" charset="2"/>
              <a:buChar char="ü"/>
            </a:pPr>
            <a:r>
              <a:rPr lang="en-US" sz="2000" smtClean="0"/>
              <a:t>Object class</a:t>
            </a:r>
          </a:p>
          <a:p>
            <a:pPr lvl="1" eaLnBrk="1" hangingPunct="1">
              <a:buClr>
                <a:srgbClr val="BA2212"/>
              </a:buClr>
              <a:buFont typeface="Wingdings" pitchFamily="2" charset="2"/>
              <a:buChar char="ü"/>
            </a:pPr>
            <a:r>
              <a:rPr lang="en-US" sz="2000" smtClean="0"/>
              <a:t>Operation</a:t>
            </a:r>
          </a:p>
          <a:p>
            <a:pPr lvl="1" eaLnBrk="1" hangingPunct="1">
              <a:buClr>
                <a:srgbClr val="BA2212"/>
              </a:buClr>
              <a:buFont typeface="Wingdings" pitchFamily="2" charset="2"/>
              <a:buChar char="ü"/>
            </a:pPr>
            <a:r>
              <a:rPr lang="en-US" sz="2000" smtClean="0"/>
              <a:t>Sequence diagram</a:t>
            </a:r>
          </a:p>
          <a:p>
            <a:pPr lvl="1" eaLnBrk="1" hangingPunct="1">
              <a:buClr>
                <a:srgbClr val="BA2212"/>
              </a:buClr>
              <a:buFont typeface="Wingdings" pitchFamily="2" charset="2"/>
              <a:buChar char="ü"/>
            </a:pPr>
            <a:r>
              <a:rPr lang="en-US" sz="2000" smtClean="0"/>
              <a:t>State</a:t>
            </a:r>
          </a:p>
          <a:p>
            <a:pPr lvl="1" eaLnBrk="1" hangingPunct="1">
              <a:buClr>
                <a:srgbClr val="BA2212"/>
              </a:buClr>
              <a:buFont typeface="Wingdings" pitchFamily="2" charset="2"/>
              <a:buChar char="ü"/>
            </a:pPr>
            <a:r>
              <a:rPr lang="en-US" sz="2000" smtClean="0"/>
              <a:t>State transition</a:t>
            </a:r>
          </a:p>
          <a:p>
            <a:pPr lvl="1" eaLnBrk="1" hangingPunct="1">
              <a:buClr>
                <a:srgbClr val="BA2212"/>
              </a:buClr>
              <a:buFont typeface="Wingdings" pitchFamily="2" charset="2"/>
              <a:buChar char="ü"/>
            </a:pPr>
            <a:r>
              <a:rPr lang="en-US" sz="2000" smtClean="0"/>
              <a:t>Unified Modeling Language (UML)</a:t>
            </a:r>
          </a:p>
          <a:p>
            <a:pPr lvl="1" eaLnBrk="1" hangingPunct="1">
              <a:buClr>
                <a:srgbClr val="BA2212"/>
              </a:buClr>
              <a:buFont typeface="Wingdings" pitchFamily="2" charset="2"/>
              <a:buChar char="ü"/>
            </a:pPr>
            <a:r>
              <a:rPr lang="en-US" sz="2000" smtClean="0"/>
              <a:t>Use case</a:t>
            </a:r>
          </a:p>
        </p:txBody>
      </p:sp>
      <p:sp>
        <p:nvSpPr>
          <p:cNvPr id="174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0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A.2</a:t>
            </a: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Learning Objectives (continued)</a:t>
            </a:r>
          </a:p>
        </p:txBody>
      </p:sp>
      <p:sp>
        <p:nvSpPr>
          <p:cNvPr id="18434"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buClr>
                <a:srgbClr val="BA2212"/>
              </a:buClr>
              <a:buFont typeface="Wingdings" pitchFamily="2" charset="2"/>
              <a:buChar char="ü"/>
            </a:pPr>
            <a:r>
              <a:rPr lang="en-US" sz="2800" smtClean="0"/>
              <a:t>Discuss the concepts and principles underlying the object-oriented approach</a:t>
            </a:r>
          </a:p>
          <a:p>
            <a:pPr eaLnBrk="1" hangingPunct="1">
              <a:buClr>
                <a:srgbClr val="BA2212"/>
              </a:buClr>
              <a:buFont typeface="Wingdings" pitchFamily="2" charset="2"/>
              <a:buChar char="ü"/>
            </a:pPr>
            <a:r>
              <a:rPr lang="en-US" sz="2800" smtClean="0"/>
              <a:t>Learn to develop requirements models using use-case diagrams</a:t>
            </a:r>
          </a:p>
          <a:p>
            <a:pPr eaLnBrk="1" hangingPunct="1">
              <a:buClr>
                <a:srgbClr val="BA2212"/>
              </a:buClr>
              <a:buFont typeface="Wingdings" pitchFamily="2" charset="2"/>
              <a:buChar char="ü"/>
            </a:pPr>
            <a:r>
              <a:rPr lang="en-US" sz="2800" smtClean="0"/>
              <a:t>Learn to use class diagrams to develop object models of the problem domain</a:t>
            </a:r>
          </a:p>
          <a:p>
            <a:pPr eaLnBrk="1" hangingPunct="1">
              <a:buClr>
                <a:srgbClr val="BA2212"/>
              </a:buClr>
              <a:buFont typeface="Wingdings" pitchFamily="2" charset="2"/>
              <a:buChar char="ü"/>
            </a:pPr>
            <a:r>
              <a:rPr lang="en-US" sz="2800" smtClean="0"/>
              <a:t>Learn to develop requirements models using state and sequence diagrams</a:t>
            </a:r>
          </a:p>
          <a:p>
            <a:pPr eaLnBrk="1" hangingPunct="1">
              <a:buClr>
                <a:srgbClr val="BA2212"/>
              </a:buClr>
              <a:buFont typeface="Wingdings" pitchFamily="2" charset="2"/>
              <a:buNone/>
            </a:pPr>
            <a:endParaRPr lang="en-US" sz="2800" smtClean="0"/>
          </a:p>
        </p:txBody>
      </p:sp>
      <p:sp>
        <p:nvSpPr>
          <p:cNvPr id="184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310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20D89B07-F17C-4614-A3E4-A19494A153EF}" type="slidenum">
              <a:rPr lang="en-US" sz="1600">
                <a:solidFill>
                  <a:schemeClr val="tx1"/>
                </a:solidFill>
                <a:cs typeface="+mn-cs"/>
              </a:rPr>
              <a:pPr algn="ctr" eaLnBrk="0" hangingPunct="0">
                <a:defRPr/>
              </a:pPr>
              <a:t>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The Object-Oriented Modeling Approach </a:t>
            </a:r>
          </a:p>
        </p:txBody>
      </p:sp>
      <p:sp>
        <p:nvSpPr>
          <p:cNvPr id="19458" name="Rectangle 3" descr="Rectangle: Click to edit Master text styles&#10;Second level&#10;Third level&#10;Fourth level&#10;Fifth level"/>
          <p:cNvSpPr>
            <a:spLocks noGrp="1" noChangeArrowheads="1"/>
          </p:cNvSpPr>
          <p:nvPr>
            <p:ph idx="1"/>
          </p:nvPr>
        </p:nvSpPr>
        <p:spPr>
          <a:xfrm>
            <a:off x="838200" y="1524000"/>
            <a:ext cx="7772400" cy="4495800"/>
          </a:xfrm>
        </p:spPr>
        <p:txBody>
          <a:bodyPr/>
          <a:lstStyle/>
          <a:p>
            <a:pPr marL="341313" indent="-341313" eaLnBrk="1" hangingPunct="1">
              <a:tabLst>
                <a:tab pos="682625" algn="l"/>
              </a:tabLst>
            </a:pPr>
            <a:r>
              <a:rPr lang="en-US" sz="2800" smtClean="0"/>
              <a:t>Benefits</a:t>
            </a:r>
          </a:p>
          <a:p>
            <a:pPr marL="804863" lvl="1" indent="-287338" eaLnBrk="1" hangingPunct="1">
              <a:buSzTx/>
              <a:buFont typeface="Wingdings" pitchFamily="2" charset="2"/>
              <a:buAutoNum type="arabicPeriod"/>
              <a:tabLst>
                <a:tab pos="682625" algn="l"/>
              </a:tabLst>
            </a:pPr>
            <a:r>
              <a:rPr lang="en-US" sz="2400" smtClean="0"/>
              <a:t>The ability to tackle more challenging problem domains</a:t>
            </a:r>
          </a:p>
          <a:p>
            <a:pPr marL="804863" lvl="1" indent="-287338" eaLnBrk="1" hangingPunct="1">
              <a:buSzTx/>
              <a:buFont typeface="Wingdings" pitchFamily="2" charset="2"/>
              <a:buAutoNum type="arabicPeriod"/>
              <a:tabLst>
                <a:tab pos="682625" algn="l"/>
              </a:tabLst>
            </a:pPr>
            <a:r>
              <a:rPr lang="en-US" sz="2400" smtClean="0"/>
              <a:t>Improved communication among users, analysts, designers, and programmers</a:t>
            </a:r>
          </a:p>
          <a:p>
            <a:pPr marL="804863" lvl="1" indent="-287338" eaLnBrk="1" hangingPunct="1">
              <a:buSzTx/>
              <a:buFont typeface="Wingdings" pitchFamily="2" charset="2"/>
              <a:buAutoNum type="arabicPeriod"/>
              <a:tabLst>
                <a:tab pos="682625" algn="l"/>
              </a:tabLst>
            </a:pPr>
            <a:r>
              <a:rPr lang="en-US" sz="2400" smtClean="0"/>
              <a:t>Reusability of analysis, design, and programming results</a:t>
            </a:r>
          </a:p>
          <a:p>
            <a:pPr marL="804863" lvl="1" indent="-287338" eaLnBrk="1" hangingPunct="1">
              <a:buSzTx/>
              <a:buFont typeface="Wingdings" pitchFamily="2" charset="2"/>
              <a:buAutoNum type="arabicPeriod"/>
              <a:tabLst>
                <a:tab pos="682625" algn="l"/>
              </a:tabLst>
            </a:pPr>
            <a:r>
              <a:rPr lang="en-US" sz="2400" smtClean="0"/>
              <a:t>Increased consistency among the models developed during object-oriented analysis, design, and programming</a:t>
            </a:r>
          </a:p>
        </p:txBody>
      </p:sp>
      <p:sp>
        <p:nvSpPr>
          <p:cNvPr id="194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8944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5C13822B-8F88-4521-AB46-6D3986FFB1BD}" type="slidenum">
              <a:rPr lang="en-US" sz="1600">
                <a:solidFill>
                  <a:schemeClr val="tx1"/>
                </a:solidFill>
                <a:cs typeface="+mn-cs"/>
              </a:rPr>
              <a:pPr algn="ctr" eaLnBrk="0" hangingPunct="0">
                <a:defRPr/>
              </a:pPr>
              <a:t>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70" name="Rectangle 6"/>
          <p:cNvSpPr>
            <a:spLocks noGrp="1" noChangeArrowheads="1"/>
          </p:cNvSpPr>
          <p:nvPr>
            <p:ph type="title"/>
          </p:nvPr>
        </p:nvSpPr>
        <p:spPr/>
        <p:txBody>
          <a:bodyPr>
            <a:normAutofit fontScale="90000"/>
          </a:bodyPr>
          <a:lstStyle/>
          <a:p>
            <a:pPr marL="484632" eaLnBrk="1" fontAlgn="auto" hangingPunct="1">
              <a:spcAft>
                <a:spcPts val="0"/>
              </a:spcAft>
              <a:defRPr/>
            </a:pPr>
            <a:r>
              <a:rPr lang="en-US" dirty="0">
                <a:solidFill>
                  <a:schemeClr val="accent1">
                    <a:tint val="83000"/>
                    <a:satMod val="150000"/>
                  </a:schemeClr>
                </a:solidFill>
              </a:rPr>
              <a:t>The Object-Oriented Modeling Approach (continued)</a:t>
            </a:r>
          </a:p>
        </p:txBody>
      </p:sp>
      <p:sp>
        <p:nvSpPr>
          <p:cNvPr id="20482" name="Rectangle 7"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90000"/>
              </a:lnSpc>
            </a:pPr>
            <a:r>
              <a:rPr lang="en-US" smtClean="0"/>
              <a:t>Object-Oriented Systems Development Life Cycle</a:t>
            </a:r>
          </a:p>
          <a:p>
            <a:pPr lvl="1" eaLnBrk="1" hangingPunct="1">
              <a:lnSpc>
                <a:spcPct val="90000"/>
              </a:lnSpc>
            </a:pPr>
            <a:r>
              <a:rPr lang="en-US" smtClean="0"/>
              <a:t>Process of progressively developing representation of a system component (or object) through the phases of analysis, design, and implementation</a:t>
            </a:r>
          </a:p>
          <a:p>
            <a:pPr lvl="1" eaLnBrk="1" hangingPunct="1">
              <a:lnSpc>
                <a:spcPct val="90000"/>
              </a:lnSpc>
            </a:pPr>
            <a:r>
              <a:rPr lang="en-US" smtClean="0"/>
              <a:t>The model is abstract in the early stages</a:t>
            </a:r>
          </a:p>
          <a:p>
            <a:pPr lvl="1" eaLnBrk="1" hangingPunct="1">
              <a:lnSpc>
                <a:spcPct val="90000"/>
              </a:lnSpc>
            </a:pPr>
            <a:r>
              <a:rPr lang="en-US" smtClean="0"/>
              <a:t>As the model evolves, it becomes more and more detailed</a:t>
            </a:r>
          </a:p>
          <a:p>
            <a:pPr lvl="1" eaLnBrk="1" hangingPunct="1">
              <a:lnSpc>
                <a:spcPct val="90000"/>
              </a:lnSpc>
            </a:pPr>
            <a:endParaRPr lang="en-US" smtClean="0"/>
          </a:p>
        </p:txBody>
      </p:sp>
      <p:sp>
        <p:nvSpPr>
          <p:cNvPr id="204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046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ECC75C5B-1102-4B1D-BAF7-18C158C4D99C}" type="slidenum">
              <a:rPr lang="en-US" sz="1600">
                <a:solidFill>
                  <a:schemeClr val="tx1"/>
                </a:solidFill>
                <a:cs typeface="+mn-cs"/>
              </a:rPr>
              <a:pPr algn="ctr" eaLnBrk="0" hangingPunct="0">
                <a:defRPr/>
              </a:pPr>
              <a:t>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5" name="Rectangle 1029"/>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The Object-Oriented Systems Development Life Cycle</a:t>
            </a:r>
          </a:p>
        </p:txBody>
      </p:sp>
      <p:sp>
        <p:nvSpPr>
          <p:cNvPr id="21506" name="Rectangle 1030"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800" smtClean="0"/>
              <a:t>Analysis Phase</a:t>
            </a:r>
          </a:p>
          <a:p>
            <a:pPr lvl="1" eaLnBrk="1" hangingPunct="1">
              <a:lnSpc>
                <a:spcPct val="80000"/>
              </a:lnSpc>
            </a:pPr>
            <a:r>
              <a:rPr lang="en-US" sz="2400" smtClean="0"/>
              <a:t>Model of the real-world application is developed showing its important properties</a:t>
            </a:r>
          </a:p>
          <a:p>
            <a:pPr lvl="1" eaLnBrk="1" hangingPunct="1">
              <a:lnSpc>
                <a:spcPct val="80000"/>
              </a:lnSpc>
            </a:pPr>
            <a:r>
              <a:rPr lang="en-US" sz="2400" smtClean="0"/>
              <a:t>Model specifies the functional behavior of the system independent of implementation details</a:t>
            </a:r>
          </a:p>
          <a:p>
            <a:pPr eaLnBrk="1" hangingPunct="1">
              <a:lnSpc>
                <a:spcPct val="80000"/>
              </a:lnSpc>
            </a:pPr>
            <a:r>
              <a:rPr lang="en-US" sz="2800" smtClean="0"/>
              <a:t>Design Phase</a:t>
            </a:r>
          </a:p>
          <a:p>
            <a:pPr lvl="1" eaLnBrk="1" hangingPunct="1">
              <a:lnSpc>
                <a:spcPct val="80000"/>
              </a:lnSpc>
            </a:pPr>
            <a:r>
              <a:rPr lang="en-US" sz="2400" smtClean="0"/>
              <a:t>Analysis model is refined and adapted to the environment</a:t>
            </a:r>
          </a:p>
          <a:p>
            <a:pPr eaLnBrk="1" hangingPunct="1">
              <a:lnSpc>
                <a:spcPct val="80000"/>
              </a:lnSpc>
            </a:pPr>
            <a:r>
              <a:rPr lang="en-US" sz="2800" smtClean="0"/>
              <a:t>Implementation Phase</a:t>
            </a:r>
          </a:p>
          <a:p>
            <a:pPr lvl="1" eaLnBrk="1" hangingPunct="1">
              <a:lnSpc>
                <a:spcPct val="80000"/>
              </a:lnSpc>
            </a:pPr>
            <a:r>
              <a:rPr lang="en-US" sz="2400" smtClean="0"/>
              <a:t>Design is implemented using a programming language or database management system</a:t>
            </a:r>
          </a:p>
        </p:txBody>
      </p:sp>
      <p:sp>
        <p:nvSpPr>
          <p:cNvPr id="215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2084" name="Text Box 1028"/>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995BB16D-158E-4A9B-8CFA-2B0CD62ECCE7}" type="slidenum">
              <a:rPr lang="en-US" sz="1600">
                <a:solidFill>
                  <a:schemeClr val="tx1"/>
                </a:solidFill>
                <a:cs typeface="+mn-cs"/>
              </a:rPr>
              <a:pPr algn="ctr" eaLnBrk="0" hangingPunct="0">
                <a:defRPr/>
              </a:pPr>
              <a:t>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9" name="Rectangle 5"/>
          <p:cNvSpPr>
            <a:spLocks noGrp="1" noChangeArrowheads="1"/>
          </p:cNvSpPr>
          <p:nvPr>
            <p:ph type="title"/>
          </p:nvPr>
        </p:nvSpPr>
        <p:spPr/>
        <p:txBody>
          <a:bodyPr>
            <a:noAutofit/>
          </a:bodyPr>
          <a:lstStyle/>
          <a:p>
            <a:pPr marL="484632" eaLnBrk="1" fontAlgn="auto" hangingPunct="1">
              <a:spcAft>
                <a:spcPts val="0"/>
              </a:spcAft>
              <a:defRPr/>
            </a:pPr>
            <a:r>
              <a:rPr lang="en-US" sz="3200" dirty="0">
                <a:solidFill>
                  <a:schemeClr val="accent1">
                    <a:tint val="83000"/>
                    <a:satMod val="150000"/>
                  </a:schemeClr>
                </a:solidFill>
              </a:rPr>
              <a:t>The Object-Oriented Systems Development Life Cycle (continued)</a:t>
            </a:r>
          </a:p>
        </p:txBody>
      </p:sp>
      <p:sp>
        <p:nvSpPr>
          <p:cNvPr id="22530"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z="2800" smtClean="0"/>
              <a:t>Unified Modeling Language (UML)</a:t>
            </a:r>
          </a:p>
          <a:p>
            <a:pPr lvl="1" eaLnBrk="1" hangingPunct="1"/>
            <a:r>
              <a:rPr lang="en-US" sz="2400" smtClean="0"/>
              <a:t>A notation that allows the modeler to specify, visualize and construct the artifacts of software systems, as well as business models</a:t>
            </a:r>
          </a:p>
          <a:p>
            <a:pPr lvl="1" eaLnBrk="1" hangingPunct="1"/>
            <a:r>
              <a:rPr lang="en-US" sz="2400" smtClean="0"/>
              <a:t>Techniques and notations</a:t>
            </a:r>
          </a:p>
          <a:p>
            <a:pPr lvl="2" eaLnBrk="1" hangingPunct="1"/>
            <a:r>
              <a:rPr lang="en-US" sz="2000" smtClean="0"/>
              <a:t>Use cases</a:t>
            </a:r>
          </a:p>
          <a:p>
            <a:pPr lvl="2" eaLnBrk="1" hangingPunct="1"/>
            <a:r>
              <a:rPr lang="en-US" sz="2000" smtClean="0"/>
              <a:t>Class diagrams</a:t>
            </a:r>
          </a:p>
          <a:p>
            <a:pPr lvl="2" eaLnBrk="1" hangingPunct="1"/>
            <a:r>
              <a:rPr lang="en-US" sz="2000" smtClean="0"/>
              <a:t>State diagrams</a:t>
            </a:r>
          </a:p>
          <a:p>
            <a:pPr lvl="2" eaLnBrk="1" hangingPunct="1"/>
            <a:r>
              <a:rPr lang="en-US" sz="2000" smtClean="0"/>
              <a:t>Sequence diagrams</a:t>
            </a:r>
          </a:p>
        </p:txBody>
      </p:sp>
      <p:sp>
        <p:nvSpPr>
          <p:cNvPr id="225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310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A2E5E44D-D46F-46DB-AA4E-BC6D48E38AF4}" type="slidenum">
              <a:rPr lang="en-US" sz="1600">
                <a:solidFill>
                  <a:schemeClr val="tx1"/>
                </a:solidFill>
                <a:cs typeface="+mn-cs"/>
              </a:rPr>
              <a:pPr algn="ctr" eaLnBrk="0" hangingPunct="0">
                <a:defRPr/>
              </a:pPr>
              <a:t>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5" name="Rectangle 5"/>
          <p:cNvSpPr>
            <a:spLocks noGrp="1" noChangeArrowheads="1"/>
          </p:cNvSpPr>
          <p:nvPr>
            <p:ph type="title"/>
          </p:nvPr>
        </p:nvSpPr>
        <p:spPr/>
        <p:txBody>
          <a:bodyPr/>
          <a:lstStyle/>
          <a:p>
            <a:pPr marL="484632" eaLnBrk="1" fontAlgn="auto" hangingPunct="1">
              <a:spcAft>
                <a:spcPts val="0"/>
              </a:spcAft>
              <a:defRPr/>
            </a:pPr>
            <a:r>
              <a:rPr lang="en-US" dirty="0">
                <a:solidFill>
                  <a:schemeClr val="accent1">
                    <a:tint val="83000"/>
                    <a:satMod val="150000"/>
                  </a:schemeClr>
                </a:solidFill>
              </a:rPr>
              <a:t>Use-Case Modeling</a:t>
            </a:r>
          </a:p>
        </p:txBody>
      </p:sp>
      <p:sp>
        <p:nvSpPr>
          <p:cNvPr id="23554"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800" smtClean="0"/>
              <a:t>Applied to analyze functional requirements of the system</a:t>
            </a:r>
          </a:p>
          <a:p>
            <a:pPr eaLnBrk="1" hangingPunct="1">
              <a:lnSpc>
                <a:spcPct val="80000"/>
              </a:lnSpc>
            </a:pPr>
            <a:r>
              <a:rPr lang="en-US" sz="2800" smtClean="0"/>
              <a:t>Performed during the analysis phase to help developers understand functional requirements of the system without regard for implementation details</a:t>
            </a:r>
          </a:p>
          <a:p>
            <a:pPr eaLnBrk="1" hangingPunct="1">
              <a:lnSpc>
                <a:spcPct val="80000"/>
              </a:lnSpc>
            </a:pPr>
            <a:r>
              <a:rPr lang="en-US" sz="2800" smtClean="0"/>
              <a:t>Use Case</a:t>
            </a:r>
          </a:p>
          <a:p>
            <a:pPr lvl="1" eaLnBrk="1" hangingPunct="1">
              <a:lnSpc>
                <a:spcPct val="80000"/>
              </a:lnSpc>
            </a:pPr>
            <a:r>
              <a:rPr lang="en-US" sz="2400" smtClean="0"/>
              <a:t>A complete sequence of related actions initiated by an actor</a:t>
            </a:r>
          </a:p>
          <a:p>
            <a:pPr eaLnBrk="1" hangingPunct="1">
              <a:lnSpc>
                <a:spcPct val="80000"/>
              </a:lnSpc>
            </a:pPr>
            <a:r>
              <a:rPr lang="en-US" sz="2800" smtClean="0"/>
              <a:t>Actor</a:t>
            </a:r>
          </a:p>
          <a:p>
            <a:pPr lvl="1" eaLnBrk="1" hangingPunct="1">
              <a:lnSpc>
                <a:spcPct val="80000"/>
              </a:lnSpc>
            </a:pPr>
            <a:r>
              <a:rPr lang="en-US" sz="2400" smtClean="0"/>
              <a:t>An external entity that interacts with the system</a:t>
            </a:r>
          </a:p>
          <a:p>
            <a:pPr eaLnBrk="1" hangingPunct="1">
              <a:lnSpc>
                <a:spcPct val="80000"/>
              </a:lnSpc>
            </a:pPr>
            <a:endParaRPr lang="en-US" sz="2800" smtClean="0"/>
          </a:p>
        </p:txBody>
      </p:sp>
      <p:sp>
        <p:nvSpPr>
          <p:cNvPr id="235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624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519F6C8D-661C-4A55-ABFB-73E5B795BC05}" type="slidenum">
              <a:rPr lang="en-US" sz="1600">
                <a:solidFill>
                  <a:schemeClr val="tx1"/>
                </a:solidFill>
                <a:cs typeface="+mn-cs"/>
              </a:rPr>
              <a:pPr algn="ctr" eaLnBrk="0" hangingPunct="0">
                <a:defRPr/>
              </a:pPr>
              <a:t>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050"/>
          <p:cNvSpPr>
            <a:spLocks noGrp="1" noChangeArrowheads="1"/>
          </p:cNvSpPr>
          <p:nvPr>
            <p:ph type="title"/>
          </p:nvPr>
        </p:nvSpPr>
        <p:spPr>
          <a:xfrm>
            <a:off x="685800" y="533400"/>
            <a:ext cx="7772400" cy="838200"/>
          </a:xfrm>
        </p:spPr>
        <p:txBody>
          <a:bodyPr/>
          <a:lstStyle/>
          <a:p>
            <a:pPr marL="484632" eaLnBrk="1" fontAlgn="auto" hangingPunct="1">
              <a:spcAft>
                <a:spcPts val="0"/>
              </a:spcAft>
              <a:defRPr/>
            </a:pPr>
            <a:r>
              <a:rPr lang="en-US">
                <a:solidFill>
                  <a:schemeClr val="accent1">
                    <a:tint val="83000"/>
                    <a:satMod val="150000"/>
                  </a:schemeClr>
                </a:solidFill>
              </a:rPr>
              <a:t>Use-Case Modeling</a:t>
            </a:r>
          </a:p>
        </p:txBody>
      </p:sp>
      <p:sp>
        <p:nvSpPr>
          <p:cNvPr id="24578" name="Rectangle 2051" descr="Rectangle: Click to edit Master text styles&#10;Second level&#10;Third level&#10;Fourth level&#10;Fifth level"/>
          <p:cNvSpPr>
            <a:spLocks noGrp="1" noChangeArrowheads="1"/>
          </p:cNvSpPr>
          <p:nvPr>
            <p:ph idx="1"/>
          </p:nvPr>
        </p:nvSpPr>
        <p:spPr>
          <a:xfrm>
            <a:off x="838200" y="1447800"/>
            <a:ext cx="7772400" cy="4572000"/>
          </a:xfrm>
        </p:spPr>
        <p:txBody>
          <a:bodyPr/>
          <a:lstStyle/>
          <a:p>
            <a:pPr eaLnBrk="1" hangingPunct="1"/>
            <a:r>
              <a:rPr lang="en-US" smtClean="0"/>
              <a:t>Use cases represent complete functionality of the system</a:t>
            </a:r>
          </a:p>
          <a:p>
            <a:pPr eaLnBrk="1" hangingPunct="1"/>
            <a:r>
              <a:rPr lang="en-US" smtClean="0"/>
              <a:t>Use cases may participate in relationships with other use cases</a:t>
            </a:r>
          </a:p>
          <a:p>
            <a:pPr eaLnBrk="1" hangingPunct="1"/>
            <a:r>
              <a:rPr lang="en-US" smtClean="0"/>
              <a:t>Use cases may also use other use cases</a:t>
            </a:r>
          </a:p>
          <a:p>
            <a:pPr lvl="1" eaLnBrk="1" hangingPunct="1">
              <a:buFont typeface="Wingdings" pitchFamily="2" charset="2"/>
              <a:buNone/>
            </a:pPr>
            <a:endParaRPr lang="en-US" smtClean="0"/>
          </a:p>
          <a:p>
            <a:pPr eaLnBrk="1" hangingPunct="1">
              <a:buFont typeface="Wingdings" pitchFamily="2" charset="2"/>
              <a:buNone/>
            </a:pPr>
            <a:endParaRPr lang="en-US" smtClean="0"/>
          </a:p>
        </p:txBody>
      </p:sp>
      <p:sp>
        <p:nvSpPr>
          <p:cNvPr id="245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1604" name="Text Box 205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3ADA6F93-1EE3-45D8-A991-D36A4F18BA25}" type="slidenum">
              <a:rPr lang="en-US" sz="1600">
                <a:solidFill>
                  <a:schemeClr val="tx1"/>
                </a:solidFill>
                <a:cs typeface="+mn-cs"/>
              </a:rPr>
              <a:pPr algn="ctr" eaLnBrk="0" hangingPunct="0">
                <a:defRPr/>
              </a:pPr>
              <a:t>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026"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2D4B8C71-8A90-432A-8A38-4669D228192E}" type="slidenum">
              <a:rPr lang="en-US" sz="1600">
                <a:solidFill>
                  <a:schemeClr val="tx1"/>
                </a:solidFill>
                <a:cs typeface="+mn-cs"/>
              </a:rPr>
              <a:pPr algn="ctr" eaLnBrk="0" hangingPunct="0">
                <a:defRPr/>
              </a:pPr>
              <a:t>10</a:t>
            </a:fld>
            <a:endParaRPr lang="en-US" sz="1600">
              <a:solidFill>
                <a:schemeClr val="tx1"/>
              </a:solidFill>
              <a:cs typeface="+mn-cs"/>
            </a:endParaRPr>
          </a:p>
        </p:txBody>
      </p:sp>
      <p:pic>
        <p:nvPicPr>
          <p:cNvPr id="2" name="Picture 1"/>
          <p:cNvPicPr>
            <a:picLocks noChangeAspect="1"/>
          </p:cNvPicPr>
          <p:nvPr/>
        </p:nvPicPr>
        <p:blipFill>
          <a:blip r:embed="rId2"/>
          <a:stretch>
            <a:fillRect/>
          </a:stretch>
        </p:blipFill>
        <p:spPr>
          <a:xfrm>
            <a:off x="76200" y="1219200"/>
            <a:ext cx="8915400" cy="4343400"/>
          </a:xfrm>
          <a:prstGeom prst="rect">
            <a:avLst/>
          </a:prstGeom>
        </p:spPr>
      </p:pic>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7" name="Rectangle 5"/>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Object Modeling:</a:t>
            </a:r>
            <a:br>
              <a:rPr lang="en-US">
                <a:solidFill>
                  <a:schemeClr val="accent1">
                    <a:tint val="83000"/>
                    <a:satMod val="150000"/>
                  </a:schemeClr>
                </a:solidFill>
              </a:rPr>
            </a:br>
            <a:r>
              <a:rPr lang="en-US">
                <a:solidFill>
                  <a:schemeClr val="accent1">
                    <a:tint val="83000"/>
                    <a:satMod val="150000"/>
                  </a:schemeClr>
                </a:solidFill>
              </a:rPr>
              <a:t>Class Diagrams</a:t>
            </a:r>
          </a:p>
        </p:txBody>
      </p:sp>
      <p:sp>
        <p:nvSpPr>
          <p:cNvPr id="26626"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90000"/>
              </a:lnSpc>
            </a:pPr>
            <a:r>
              <a:rPr lang="en-US" sz="2400" smtClean="0"/>
              <a:t>Object</a:t>
            </a:r>
          </a:p>
          <a:p>
            <a:pPr lvl="1" eaLnBrk="1" hangingPunct="1">
              <a:lnSpc>
                <a:spcPct val="90000"/>
              </a:lnSpc>
            </a:pPr>
            <a:r>
              <a:rPr lang="en-US" sz="2000" smtClean="0"/>
              <a:t>An entity that has a well-defined role in the application domain, and has state, behavior, and identity</a:t>
            </a:r>
          </a:p>
          <a:p>
            <a:pPr eaLnBrk="1" hangingPunct="1">
              <a:lnSpc>
                <a:spcPct val="90000"/>
              </a:lnSpc>
            </a:pPr>
            <a:r>
              <a:rPr lang="en-US" sz="2400" smtClean="0"/>
              <a:t>State</a:t>
            </a:r>
          </a:p>
          <a:p>
            <a:pPr lvl="1" eaLnBrk="1" hangingPunct="1">
              <a:lnSpc>
                <a:spcPct val="90000"/>
              </a:lnSpc>
            </a:pPr>
            <a:r>
              <a:rPr lang="en-US" sz="2000" smtClean="0"/>
              <a:t>A condition that encompasses an object’s properties and the values those properties have</a:t>
            </a:r>
          </a:p>
          <a:p>
            <a:pPr eaLnBrk="1" hangingPunct="1">
              <a:lnSpc>
                <a:spcPct val="90000"/>
              </a:lnSpc>
            </a:pPr>
            <a:r>
              <a:rPr lang="en-US" sz="2400" smtClean="0"/>
              <a:t>Behavior</a:t>
            </a:r>
          </a:p>
          <a:p>
            <a:pPr lvl="1" eaLnBrk="1" hangingPunct="1">
              <a:lnSpc>
                <a:spcPct val="90000"/>
              </a:lnSpc>
            </a:pPr>
            <a:r>
              <a:rPr lang="en-US" sz="2000" smtClean="0"/>
              <a:t>A manner that represents how an object acts and reacts</a:t>
            </a:r>
          </a:p>
          <a:p>
            <a:pPr eaLnBrk="1" hangingPunct="1">
              <a:lnSpc>
                <a:spcPct val="90000"/>
              </a:lnSpc>
            </a:pPr>
            <a:r>
              <a:rPr lang="en-US" sz="2400" smtClean="0"/>
              <a:t>Object Class</a:t>
            </a:r>
          </a:p>
          <a:p>
            <a:pPr lvl="1" eaLnBrk="1" hangingPunct="1">
              <a:lnSpc>
                <a:spcPct val="90000"/>
              </a:lnSpc>
            </a:pPr>
            <a:r>
              <a:rPr lang="en-US" sz="2000" smtClean="0"/>
              <a:t>A set of objects that share a common structure and a common behavior</a:t>
            </a:r>
          </a:p>
        </p:txBody>
      </p:sp>
      <p:sp>
        <p:nvSpPr>
          <p:cNvPr id="266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251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8EDA2F84-76E6-4BCC-BFAC-156C957C51D6}" type="slidenum">
              <a:rPr lang="en-US" sz="1600">
                <a:solidFill>
                  <a:schemeClr val="tx1"/>
                </a:solidFill>
                <a:cs typeface="+mn-cs"/>
              </a:rPr>
              <a:pPr algn="ctr" eaLnBrk="0" hangingPunct="0">
                <a:defRPr/>
              </a:pPr>
              <a:t>11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dirty="0">
                <a:solidFill>
                  <a:schemeClr val="accent1">
                    <a:tint val="83000"/>
                    <a:satMod val="150000"/>
                  </a:schemeClr>
                </a:solidFill>
              </a:rPr>
              <a:t>Object Modeling:</a:t>
            </a:r>
            <a:br>
              <a:rPr lang="en-US" dirty="0">
                <a:solidFill>
                  <a:schemeClr val="accent1">
                    <a:tint val="83000"/>
                    <a:satMod val="150000"/>
                  </a:schemeClr>
                </a:solidFill>
              </a:rPr>
            </a:br>
            <a:r>
              <a:rPr lang="en-US" dirty="0">
                <a:solidFill>
                  <a:schemeClr val="accent1">
                    <a:tint val="83000"/>
                    <a:satMod val="150000"/>
                  </a:schemeClr>
                </a:solidFill>
              </a:rPr>
              <a:t>Class Diagrams (continued)</a:t>
            </a:r>
          </a:p>
        </p:txBody>
      </p:sp>
      <p:sp>
        <p:nvSpPr>
          <p:cNvPr id="27650"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lstStyle/>
          <a:p>
            <a:pPr eaLnBrk="1" hangingPunct="1"/>
            <a:r>
              <a:rPr lang="en-US" smtClean="0"/>
              <a:t>Class Diagram</a:t>
            </a:r>
          </a:p>
          <a:p>
            <a:pPr lvl="1" eaLnBrk="1" hangingPunct="1"/>
            <a:r>
              <a:rPr lang="en-US" smtClean="0"/>
              <a:t>Class is represented as a rectangle with three compartments</a:t>
            </a:r>
          </a:p>
          <a:p>
            <a:pPr lvl="1" eaLnBrk="1" hangingPunct="1"/>
            <a:r>
              <a:rPr lang="en-US" smtClean="0"/>
              <a:t>Objects can participate in relationships with objects of the same class</a:t>
            </a:r>
          </a:p>
          <a:p>
            <a:pPr lvl="1" eaLnBrk="1" hangingPunct="1">
              <a:buFont typeface="Wingdings" pitchFamily="2" charset="2"/>
              <a:buNone/>
            </a:pPr>
            <a:endParaRPr lang="en-US" smtClean="0"/>
          </a:p>
          <a:p>
            <a:pPr lvl="1" eaLnBrk="1" hangingPunct="1">
              <a:buFont typeface="Wingdings" pitchFamily="2" charset="2"/>
              <a:buNone/>
            </a:pPr>
            <a:endParaRPr lang="en-US" smtClean="0"/>
          </a:p>
          <a:p>
            <a:pPr lvl="1" eaLnBrk="1" hangingPunct="1"/>
            <a:endParaRPr lang="en-US" smtClean="0"/>
          </a:p>
          <a:p>
            <a:pPr lvl="1" eaLnBrk="1" hangingPunct="1">
              <a:buFont typeface="Wingdings" pitchFamily="2" charset="2"/>
              <a:buNone/>
            </a:pPr>
            <a:endParaRPr lang="en-US" smtClean="0"/>
          </a:p>
        </p:txBody>
      </p:sp>
      <p:sp>
        <p:nvSpPr>
          <p:cNvPr id="2765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5220"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53B7AE85-708C-48FE-B0BA-3771FA6BD4B7}" type="slidenum">
              <a:rPr lang="en-US" sz="1600">
                <a:solidFill>
                  <a:schemeClr val="tx1"/>
                </a:solidFill>
                <a:cs typeface="+mn-cs"/>
              </a:rPr>
              <a:pPr algn="ctr" eaLnBrk="0" hangingPunct="0">
                <a:defRPr/>
              </a:pPr>
              <a:t>12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3" name="Rectangle 1029"/>
          <p:cNvSpPr>
            <a:spLocks noGrp="1" noChangeArrowheads="1"/>
          </p:cNvSpPr>
          <p:nvPr>
            <p:ph type="title"/>
          </p:nvPr>
        </p:nvSpPr>
        <p:spPr/>
        <p:txBody>
          <a:bodyPr/>
          <a:lstStyle/>
          <a:p>
            <a:pPr marL="484632" eaLnBrk="1" fontAlgn="auto" hangingPunct="1">
              <a:spcAft>
                <a:spcPts val="0"/>
              </a:spcAft>
              <a:defRPr/>
            </a:pPr>
            <a:r>
              <a:rPr lang="en-US" dirty="0">
                <a:solidFill>
                  <a:schemeClr val="accent1">
                    <a:tint val="83000"/>
                    <a:satMod val="150000"/>
                  </a:schemeClr>
                </a:solidFill>
              </a:rPr>
              <a:t>Object Modeling:</a:t>
            </a:r>
            <a:br>
              <a:rPr lang="en-US" dirty="0">
                <a:solidFill>
                  <a:schemeClr val="accent1">
                    <a:tint val="83000"/>
                    <a:satMod val="150000"/>
                  </a:schemeClr>
                </a:solidFill>
              </a:rPr>
            </a:br>
            <a:r>
              <a:rPr lang="en-US" dirty="0">
                <a:solidFill>
                  <a:schemeClr val="accent1">
                    <a:tint val="83000"/>
                    <a:satMod val="150000"/>
                  </a:schemeClr>
                </a:solidFill>
              </a:rPr>
              <a:t>Object Diagrams</a:t>
            </a:r>
          </a:p>
        </p:txBody>
      </p:sp>
      <p:sp>
        <p:nvSpPr>
          <p:cNvPr id="28674" name="Rectangle 1030"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90000"/>
              </a:lnSpc>
            </a:pPr>
            <a:r>
              <a:rPr lang="en-US" sz="2400" smtClean="0"/>
              <a:t>Object Diagram</a:t>
            </a:r>
          </a:p>
          <a:p>
            <a:pPr lvl="1" eaLnBrk="1" hangingPunct="1">
              <a:lnSpc>
                <a:spcPct val="90000"/>
              </a:lnSpc>
            </a:pPr>
            <a:r>
              <a:rPr lang="en-US" sz="2000" smtClean="0"/>
              <a:t>A graph of instances that are compatible with a given class diagram;  also called an instance diagram</a:t>
            </a:r>
          </a:p>
          <a:p>
            <a:pPr lvl="1" eaLnBrk="1" hangingPunct="1">
              <a:lnSpc>
                <a:spcPct val="90000"/>
              </a:lnSpc>
            </a:pPr>
            <a:r>
              <a:rPr lang="en-US" sz="2000" smtClean="0"/>
              <a:t>Object is represented as a rectangle with two compartments</a:t>
            </a:r>
          </a:p>
          <a:p>
            <a:pPr eaLnBrk="1" hangingPunct="1">
              <a:lnSpc>
                <a:spcPct val="90000"/>
              </a:lnSpc>
            </a:pPr>
            <a:r>
              <a:rPr lang="en-US" sz="2400" smtClean="0"/>
              <a:t>Operation</a:t>
            </a:r>
          </a:p>
          <a:p>
            <a:pPr lvl="1" eaLnBrk="1" hangingPunct="1">
              <a:lnSpc>
                <a:spcPct val="90000"/>
              </a:lnSpc>
            </a:pPr>
            <a:r>
              <a:rPr lang="en-US" sz="2000" smtClean="0"/>
              <a:t>A function or service that is provided by all the instances of a class</a:t>
            </a:r>
          </a:p>
          <a:p>
            <a:pPr eaLnBrk="1" hangingPunct="1">
              <a:lnSpc>
                <a:spcPct val="90000"/>
              </a:lnSpc>
            </a:pPr>
            <a:r>
              <a:rPr lang="en-US" sz="2400" smtClean="0"/>
              <a:t>Encapsulation</a:t>
            </a:r>
          </a:p>
          <a:p>
            <a:pPr lvl="1" eaLnBrk="1" hangingPunct="1">
              <a:lnSpc>
                <a:spcPct val="90000"/>
              </a:lnSpc>
            </a:pPr>
            <a:r>
              <a:rPr lang="en-US" sz="2000" smtClean="0"/>
              <a:t>The technique of hiding the internal implementation details of an object from its external view</a:t>
            </a:r>
          </a:p>
          <a:p>
            <a:pPr lvl="1" eaLnBrk="1" hangingPunct="1">
              <a:lnSpc>
                <a:spcPct val="90000"/>
              </a:lnSpc>
            </a:pPr>
            <a:endParaRPr lang="en-US" sz="2000" smtClean="0"/>
          </a:p>
        </p:txBody>
      </p:sp>
      <p:sp>
        <p:nvSpPr>
          <p:cNvPr id="286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4132"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40CAC7A7-ABBC-444E-AF9C-C274673CDC55}" type="slidenum">
              <a:rPr lang="en-US" sz="1600">
                <a:solidFill>
                  <a:schemeClr val="tx1"/>
                </a:solidFill>
                <a:cs typeface="+mn-cs"/>
              </a:rPr>
              <a:pPr algn="ctr" eaLnBrk="0" hangingPunct="0">
                <a:defRPr/>
              </a:pPr>
              <a:t>13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10274"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E29576C2-BD8C-47F6-8CEC-4CA46761BEFC}" type="slidenum">
              <a:rPr lang="en-US" sz="1600">
                <a:solidFill>
                  <a:schemeClr val="tx1"/>
                </a:solidFill>
                <a:cs typeface="+mn-cs"/>
              </a:rPr>
              <a:pPr algn="ctr" eaLnBrk="0" hangingPunct="0">
                <a:defRPr/>
              </a:pPr>
              <a:t>14</a:t>
            </a:fld>
            <a:endParaRPr lang="en-US" sz="1600">
              <a:solidFill>
                <a:schemeClr val="tx1"/>
              </a:solidFill>
              <a:cs typeface="+mn-cs"/>
            </a:endParaRPr>
          </a:p>
        </p:txBody>
      </p:sp>
      <p:pic>
        <p:nvPicPr>
          <p:cNvPr id="310278" name="Picture 6"/>
          <p:cNvPicPr>
            <a:picLocks noChangeAspect="1" noChangeArrowheads="1"/>
          </p:cNvPicPr>
          <p:nvPr/>
        </p:nvPicPr>
        <p:blipFill>
          <a:blip r:embed="rId2"/>
          <a:srcRect/>
          <a:stretch>
            <a:fillRect/>
          </a:stretch>
        </p:blipFill>
        <p:spPr bwMode="auto">
          <a:xfrm>
            <a:off x="698500" y="1422400"/>
            <a:ext cx="7747000" cy="40132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9" name="Rectangle 5"/>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Representing Associations</a:t>
            </a:r>
          </a:p>
        </p:txBody>
      </p:sp>
      <p:sp>
        <p:nvSpPr>
          <p:cNvPr id="30722"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800" smtClean="0"/>
              <a:t>Association</a:t>
            </a:r>
          </a:p>
          <a:p>
            <a:pPr lvl="1" eaLnBrk="1" hangingPunct="1">
              <a:lnSpc>
                <a:spcPct val="80000"/>
              </a:lnSpc>
            </a:pPr>
            <a:r>
              <a:rPr lang="en-US" sz="2400" smtClean="0"/>
              <a:t>A relationship between object classes</a:t>
            </a:r>
          </a:p>
          <a:p>
            <a:pPr lvl="1" eaLnBrk="1" hangingPunct="1">
              <a:lnSpc>
                <a:spcPct val="80000"/>
              </a:lnSpc>
            </a:pPr>
            <a:r>
              <a:rPr lang="en-US" sz="2400" smtClean="0"/>
              <a:t>Degree may be unary, binary, ternary or higher</a:t>
            </a:r>
          </a:p>
          <a:p>
            <a:pPr lvl="1" eaLnBrk="1" hangingPunct="1">
              <a:lnSpc>
                <a:spcPct val="80000"/>
              </a:lnSpc>
            </a:pPr>
            <a:r>
              <a:rPr lang="en-US" sz="2400" smtClean="0"/>
              <a:t>Depicted as a solid line between participating classes</a:t>
            </a:r>
          </a:p>
          <a:p>
            <a:pPr eaLnBrk="1" hangingPunct="1">
              <a:lnSpc>
                <a:spcPct val="80000"/>
              </a:lnSpc>
            </a:pPr>
            <a:r>
              <a:rPr lang="en-US" sz="2800" smtClean="0"/>
              <a:t>Association Role</a:t>
            </a:r>
          </a:p>
          <a:p>
            <a:pPr lvl="1" eaLnBrk="1" hangingPunct="1">
              <a:lnSpc>
                <a:spcPct val="80000"/>
              </a:lnSpc>
            </a:pPr>
            <a:r>
              <a:rPr lang="en-US" sz="2400" smtClean="0"/>
              <a:t>The end of an association where it connects to a class</a:t>
            </a:r>
          </a:p>
          <a:p>
            <a:pPr lvl="1" eaLnBrk="1" hangingPunct="1">
              <a:lnSpc>
                <a:spcPct val="80000"/>
              </a:lnSpc>
            </a:pPr>
            <a:r>
              <a:rPr lang="en-US" sz="2400" smtClean="0"/>
              <a:t>Each role has multiplicity, which indicates how many objects participate in a given association relationship</a:t>
            </a:r>
          </a:p>
          <a:p>
            <a:pPr lvl="1" eaLnBrk="1" hangingPunct="1">
              <a:lnSpc>
                <a:spcPct val="80000"/>
              </a:lnSpc>
            </a:pPr>
            <a:endParaRPr lang="en-US" sz="2400" smtClean="0"/>
          </a:p>
          <a:p>
            <a:pPr lvl="1" eaLnBrk="1" hangingPunct="1">
              <a:lnSpc>
                <a:spcPct val="80000"/>
              </a:lnSpc>
            </a:pPr>
            <a:endParaRPr lang="en-US" sz="2400" smtClean="0"/>
          </a:p>
        </p:txBody>
      </p:sp>
      <p:sp>
        <p:nvSpPr>
          <p:cNvPr id="307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2628"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5431D740-496D-4834-AD51-728920F099DD}" type="slidenum">
              <a:rPr lang="en-US" sz="1600">
                <a:solidFill>
                  <a:schemeClr val="tx1"/>
                </a:solidFill>
                <a:cs typeface="+mn-cs"/>
              </a:rPr>
              <a:pPr algn="ctr" eaLnBrk="0" hangingPunct="0">
                <a:defRPr/>
              </a:pPr>
              <a:t>15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11298"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A9E9DFAB-B44D-4981-AF8E-D5BD2DDA2D64}" type="slidenum">
              <a:rPr lang="en-US" sz="1600">
                <a:solidFill>
                  <a:schemeClr val="tx1"/>
                </a:solidFill>
                <a:cs typeface="+mn-cs"/>
              </a:rPr>
              <a:pPr algn="ctr" eaLnBrk="0" hangingPunct="0">
                <a:defRPr/>
              </a:pPr>
              <a:t>16</a:t>
            </a:fld>
            <a:endParaRPr lang="en-US" sz="1600">
              <a:solidFill>
                <a:schemeClr val="tx1"/>
              </a:solidFill>
              <a:cs typeface="+mn-cs"/>
            </a:endParaRPr>
          </a:p>
        </p:txBody>
      </p:sp>
      <p:pic>
        <p:nvPicPr>
          <p:cNvPr id="311303" name="Picture 7"/>
          <p:cNvPicPr>
            <a:picLocks noChangeAspect="1" noChangeArrowheads="1"/>
          </p:cNvPicPr>
          <p:nvPr/>
        </p:nvPicPr>
        <p:blipFill>
          <a:blip r:embed="rId2"/>
          <a:srcRect/>
          <a:stretch>
            <a:fillRect/>
          </a:stretch>
        </p:blipFill>
        <p:spPr bwMode="auto">
          <a:xfrm>
            <a:off x="641350" y="228600"/>
            <a:ext cx="7861300" cy="58166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3" name="Rectangle 5"/>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Representing Generalization</a:t>
            </a:r>
          </a:p>
        </p:txBody>
      </p:sp>
      <p:sp>
        <p:nvSpPr>
          <p:cNvPr id="32770"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z="2800" smtClean="0"/>
              <a:t>Generalization</a:t>
            </a:r>
          </a:p>
          <a:p>
            <a:pPr lvl="1" eaLnBrk="1" hangingPunct="1"/>
            <a:r>
              <a:rPr lang="en-US" sz="2400" smtClean="0"/>
              <a:t>Abstraction of common features among multiple classes, as well as their relationships, into a more general class</a:t>
            </a:r>
          </a:p>
          <a:p>
            <a:pPr eaLnBrk="1" hangingPunct="1"/>
            <a:r>
              <a:rPr lang="en-US" sz="2800" smtClean="0"/>
              <a:t>Subclass</a:t>
            </a:r>
          </a:p>
          <a:p>
            <a:pPr lvl="1" eaLnBrk="1" hangingPunct="1"/>
            <a:r>
              <a:rPr lang="en-US" sz="2400" smtClean="0"/>
              <a:t>A class that has been generalized</a:t>
            </a:r>
          </a:p>
          <a:p>
            <a:pPr eaLnBrk="1" hangingPunct="1"/>
            <a:r>
              <a:rPr lang="en-US" sz="2800" smtClean="0"/>
              <a:t>Superclass</a:t>
            </a:r>
          </a:p>
          <a:p>
            <a:pPr lvl="1" eaLnBrk="1" hangingPunct="1"/>
            <a:r>
              <a:rPr lang="en-US" sz="2400" smtClean="0"/>
              <a:t>A class that is composed of several generalized subclasses</a:t>
            </a:r>
          </a:p>
          <a:p>
            <a:pPr lvl="1" eaLnBrk="1" hangingPunct="1"/>
            <a:endParaRPr lang="en-US" sz="2400" smtClean="0"/>
          </a:p>
        </p:txBody>
      </p:sp>
      <p:sp>
        <p:nvSpPr>
          <p:cNvPr id="327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365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A79C4752-DBF3-45BE-B73F-F41CFCA1BF57}" type="slidenum">
              <a:rPr lang="en-US" sz="1600">
                <a:solidFill>
                  <a:schemeClr val="tx1"/>
                </a:solidFill>
                <a:cs typeface="+mn-cs"/>
              </a:rPr>
              <a:pPr algn="ctr" eaLnBrk="0" hangingPunct="0">
                <a:defRPr/>
              </a:pPr>
              <a:t>17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701" name="Rectangle 5"/>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Representing Generalization (continued)</a:t>
            </a:r>
          </a:p>
        </p:txBody>
      </p:sp>
      <p:sp>
        <p:nvSpPr>
          <p:cNvPr id="33794"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800" smtClean="0"/>
              <a:t>Discriminator</a:t>
            </a:r>
          </a:p>
          <a:p>
            <a:pPr lvl="1" eaLnBrk="1" hangingPunct="1">
              <a:lnSpc>
                <a:spcPct val="80000"/>
              </a:lnSpc>
            </a:pPr>
            <a:r>
              <a:rPr lang="en-US" sz="2400" smtClean="0"/>
              <a:t>Shows which property of an object class is being abstracted by a generalization relationship</a:t>
            </a:r>
          </a:p>
          <a:p>
            <a:pPr eaLnBrk="1" hangingPunct="1">
              <a:lnSpc>
                <a:spcPct val="80000"/>
              </a:lnSpc>
            </a:pPr>
            <a:r>
              <a:rPr lang="en-US" sz="2800" smtClean="0"/>
              <a:t>Inheritance</a:t>
            </a:r>
          </a:p>
          <a:p>
            <a:pPr lvl="1" eaLnBrk="1" hangingPunct="1">
              <a:lnSpc>
                <a:spcPct val="80000"/>
              </a:lnSpc>
            </a:pPr>
            <a:r>
              <a:rPr lang="en-US" sz="2400" smtClean="0"/>
              <a:t>A property in which a subclass inherits the features from its superclass</a:t>
            </a:r>
          </a:p>
          <a:p>
            <a:pPr eaLnBrk="1" hangingPunct="1">
              <a:lnSpc>
                <a:spcPct val="80000"/>
              </a:lnSpc>
            </a:pPr>
            <a:r>
              <a:rPr lang="en-US" sz="2800" smtClean="0"/>
              <a:t>Abstract Class</a:t>
            </a:r>
          </a:p>
          <a:p>
            <a:pPr lvl="1" eaLnBrk="1" hangingPunct="1">
              <a:lnSpc>
                <a:spcPct val="80000"/>
              </a:lnSpc>
            </a:pPr>
            <a:r>
              <a:rPr lang="en-US" sz="2400" smtClean="0"/>
              <a:t>A class that has no direct instances but whose descendents may have direct instances</a:t>
            </a:r>
          </a:p>
          <a:p>
            <a:pPr eaLnBrk="1" hangingPunct="1">
              <a:lnSpc>
                <a:spcPct val="80000"/>
              </a:lnSpc>
            </a:pPr>
            <a:r>
              <a:rPr lang="en-US" sz="2800" smtClean="0"/>
              <a:t>Concrete Class</a:t>
            </a:r>
          </a:p>
          <a:p>
            <a:pPr lvl="1" eaLnBrk="1" hangingPunct="1">
              <a:lnSpc>
                <a:spcPct val="80000"/>
              </a:lnSpc>
            </a:pPr>
            <a:r>
              <a:rPr lang="en-US" sz="2400" smtClean="0"/>
              <a:t>A class that can have direct instances</a:t>
            </a:r>
          </a:p>
        </p:txBody>
      </p:sp>
      <p:sp>
        <p:nvSpPr>
          <p:cNvPr id="3379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5700"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40CF5549-E334-4561-BA75-8F91914712BE}" type="slidenum">
              <a:rPr lang="en-US" sz="1600">
                <a:solidFill>
                  <a:schemeClr val="tx1"/>
                </a:solidFill>
                <a:cs typeface="+mn-cs"/>
              </a:rPr>
              <a:pPr algn="ctr" eaLnBrk="0" hangingPunct="0">
                <a:defRPr/>
              </a:pPr>
              <a:t>18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12322"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90C4CBED-E3DE-49A5-A923-0C093AC95DF4}" type="slidenum">
              <a:rPr lang="en-US" sz="1600">
                <a:solidFill>
                  <a:schemeClr val="tx1"/>
                </a:solidFill>
                <a:cs typeface="+mn-cs"/>
              </a:rPr>
              <a:pPr algn="ctr" eaLnBrk="0" hangingPunct="0">
                <a:defRPr/>
              </a:pPr>
              <a:t>19</a:t>
            </a:fld>
            <a:endParaRPr lang="en-US" sz="1600">
              <a:solidFill>
                <a:schemeClr val="tx1"/>
              </a:solidFill>
              <a:cs typeface="+mn-cs"/>
            </a:endParaRPr>
          </a:p>
        </p:txBody>
      </p:sp>
      <p:pic>
        <p:nvPicPr>
          <p:cNvPr id="312326" name="Picture 6"/>
          <p:cNvPicPr>
            <a:picLocks noChangeAspect="1" noChangeArrowheads="1"/>
          </p:cNvPicPr>
          <p:nvPr/>
        </p:nvPicPr>
        <p:blipFill>
          <a:blip r:embed="rId2"/>
          <a:srcRect/>
          <a:stretch>
            <a:fillRect/>
          </a:stretch>
        </p:blipFill>
        <p:spPr bwMode="auto">
          <a:xfrm>
            <a:off x="1295400" y="533400"/>
            <a:ext cx="6756400" cy="5691188"/>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1026"/>
          <p:cNvSpPr>
            <a:spLocks noGrp="1" noChangeArrowheads="1"/>
          </p:cNvSpPr>
          <p:nvPr>
            <p:ph type="title"/>
          </p:nvPr>
        </p:nvSpPr>
        <p:spPr>
          <a:xfrm>
            <a:off x="609600" y="228600"/>
            <a:ext cx="7772400" cy="1143000"/>
          </a:xfrm>
        </p:spPr>
        <p:txBody>
          <a:bodyPr/>
          <a:lstStyle/>
          <a:p>
            <a:pPr marL="484632" eaLnBrk="1" fontAlgn="auto" hangingPunct="1">
              <a:spcAft>
                <a:spcPts val="0"/>
              </a:spcAft>
              <a:defRPr/>
            </a:pPr>
            <a:r>
              <a:rPr lang="en-US">
                <a:solidFill>
                  <a:schemeClr val="accent1">
                    <a:tint val="83000"/>
                    <a:satMod val="150000"/>
                  </a:schemeClr>
                </a:solidFill>
              </a:rPr>
              <a:t>Representing Aggregation</a:t>
            </a:r>
          </a:p>
        </p:txBody>
      </p:sp>
      <p:sp>
        <p:nvSpPr>
          <p:cNvPr id="35842" name="Rectangle 1027" descr="Rectangle: Click to edit Master text styles&#10;Second level&#10;Third level&#10;Fourth level&#10;Fifth level"/>
          <p:cNvSpPr>
            <a:spLocks noGrp="1" noChangeArrowheads="1"/>
          </p:cNvSpPr>
          <p:nvPr>
            <p:ph idx="1"/>
          </p:nvPr>
        </p:nvSpPr>
        <p:spPr>
          <a:xfrm>
            <a:off x="762000" y="1524000"/>
            <a:ext cx="7772400" cy="4191000"/>
          </a:xfrm>
        </p:spPr>
        <p:txBody>
          <a:bodyPr/>
          <a:lstStyle/>
          <a:p>
            <a:pPr eaLnBrk="1" hangingPunct="1">
              <a:lnSpc>
                <a:spcPct val="90000"/>
              </a:lnSpc>
            </a:pPr>
            <a:r>
              <a:rPr lang="en-US" smtClean="0"/>
              <a:t>Aggregation</a:t>
            </a:r>
          </a:p>
          <a:p>
            <a:pPr lvl="1" eaLnBrk="1" hangingPunct="1">
              <a:lnSpc>
                <a:spcPct val="90000"/>
              </a:lnSpc>
            </a:pPr>
            <a:r>
              <a:rPr lang="en-US" smtClean="0"/>
              <a:t>A part-of relationship between a component object and an aggregate object</a:t>
            </a:r>
          </a:p>
          <a:p>
            <a:pPr lvl="1" eaLnBrk="1" hangingPunct="1">
              <a:lnSpc>
                <a:spcPct val="90000"/>
              </a:lnSpc>
            </a:pPr>
            <a:r>
              <a:rPr lang="en-US" smtClean="0"/>
              <a:t>Example: Personal computer</a:t>
            </a:r>
          </a:p>
          <a:p>
            <a:pPr lvl="2" eaLnBrk="1" hangingPunct="1">
              <a:lnSpc>
                <a:spcPct val="90000"/>
              </a:lnSpc>
            </a:pPr>
            <a:r>
              <a:rPr lang="en-US" smtClean="0"/>
              <a:t>Composed of CPU, Monitor, Keyboard, etc.</a:t>
            </a:r>
          </a:p>
          <a:p>
            <a:pPr lvl="1" eaLnBrk="1" hangingPunct="1">
              <a:lnSpc>
                <a:spcPct val="90000"/>
              </a:lnSpc>
              <a:buFont typeface="Wingdings" pitchFamily="2" charset="2"/>
              <a:buNone/>
            </a:pPr>
            <a:endParaRPr lang="en-US" smtClean="0"/>
          </a:p>
        </p:txBody>
      </p:sp>
      <p:sp>
        <p:nvSpPr>
          <p:cNvPr id="3584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6724"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FA43115D-1B29-4786-8976-A9CFB4068781}" type="slidenum">
              <a:rPr lang="en-US" sz="1600">
                <a:solidFill>
                  <a:schemeClr val="tx1"/>
                </a:solidFill>
                <a:cs typeface="+mn-cs"/>
              </a:rPr>
              <a:pPr algn="ctr" eaLnBrk="0" hangingPunct="0">
                <a:defRPr/>
              </a:pPr>
              <a:t>20</a:t>
            </a:fld>
            <a:endParaRPr lang="en-US" sz="1600">
              <a:solidFill>
                <a:schemeClr val="tx1"/>
              </a:solidFill>
              <a:cs typeface="+mn-cs"/>
            </a:endParaRPr>
          </a:p>
        </p:txBody>
      </p:sp>
      <p:pic>
        <p:nvPicPr>
          <p:cNvPr id="326656" name="Picture 1024"/>
          <p:cNvPicPr>
            <a:picLocks noChangeAspect="1" noChangeArrowheads="1"/>
          </p:cNvPicPr>
          <p:nvPr/>
        </p:nvPicPr>
        <p:blipFill>
          <a:blip r:embed="rId2"/>
          <a:srcRect/>
          <a:stretch>
            <a:fillRect/>
          </a:stretch>
        </p:blipFill>
        <p:spPr bwMode="auto">
          <a:xfrm>
            <a:off x="1447800" y="4033838"/>
            <a:ext cx="6689725" cy="2332037"/>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5" name="Rectangle 5"/>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Dynamic Modeling:</a:t>
            </a:r>
            <a:br>
              <a:rPr lang="en-US">
                <a:solidFill>
                  <a:schemeClr val="accent1">
                    <a:tint val="83000"/>
                    <a:satMod val="150000"/>
                  </a:schemeClr>
                </a:solidFill>
              </a:rPr>
            </a:br>
            <a:r>
              <a:rPr lang="en-US">
                <a:solidFill>
                  <a:schemeClr val="accent1">
                    <a:tint val="83000"/>
                    <a:satMod val="150000"/>
                  </a:schemeClr>
                </a:solidFill>
              </a:rPr>
              <a:t>State Diagrams</a:t>
            </a:r>
          </a:p>
        </p:txBody>
      </p:sp>
      <p:sp>
        <p:nvSpPr>
          <p:cNvPr id="36866"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90000"/>
              </a:lnSpc>
            </a:pPr>
            <a:r>
              <a:rPr lang="en-US" sz="2400" smtClean="0"/>
              <a:t>State</a:t>
            </a:r>
          </a:p>
          <a:p>
            <a:pPr lvl="1" eaLnBrk="1" hangingPunct="1">
              <a:lnSpc>
                <a:spcPct val="90000"/>
              </a:lnSpc>
            </a:pPr>
            <a:r>
              <a:rPr lang="en-US" sz="2000" smtClean="0"/>
              <a:t>A condition during the life of an object during which it satisfies some conditions, performs some actions or waits for some events</a:t>
            </a:r>
          </a:p>
          <a:p>
            <a:pPr lvl="1" eaLnBrk="1" hangingPunct="1">
              <a:lnSpc>
                <a:spcPct val="90000"/>
              </a:lnSpc>
            </a:pPr>
            <a:r>
              <a:rPr lang="en-US" sz="2000" smtClean="0"/>
              <a:t>Shown as a rectangle with rounded corners</a:t>
            </a:r>
          </a:p>
          <a:p>
            <a:pPr eaLnBrk="1" hangingPunct="1">
              <a:lnSpc>
                <a:spcPct val="90000"/>
              </a:lnSpc>
            </a:pPr>
            <a:r>
              <a:rPr lang="en-US" sz="2400" smtClean="0"/>
              <a:t>State Transition</a:t>
            </a:r>
          </a:p>
          <a:p>
            <a:pPr lvl="1" eaLnBrk="1" hangingPunct="1">
              <a:lnSpc>
                <a:spcPct val="90000"/>
              </a:lnSpc>
            </a:pPr>
            <a:r>
              <a:rPr lang="en-US" sz="2000" smtClean="0"/>
              <a:t>The changes in the attributes of an object or in the links an object has with other objects</a:t>
            </a:r>
          </a:p>
          <a:p>
            <a:pPr lvl="1" eaLnBrk="1" hangingPunct="1">
              <a:lnSpc>
                <a:spcPct val="90000"/>
              </a:lnSpc>
            </a:pPr>
            <a:r>
              <a:rPr lang="en-US" sz="2000" smtClean="0"/>
              <a:t>Shown as a solid arrow</a:t>
            </a:r>
          </a:p>
          <a:p>
            <a:pPr lvl="1" eaLnBrk="1" hangingPunct="1">
              <a:lnSpc>
                <a:spcPct val="90000"/>
              </a:lnSpc>
            </a:pPr>
            <a:r>
              <a:rPr lang="en-US" sz="2000" smtClean="0"/>
              <a:t>Diagrammed with a guard condition and action</a:t>
            </a:r>
          </a:p>
          <a:p>
            <a:pPr eaLnBrk="1" hangingPunct="1">
              <a:lnSpc>
                <a:spcPct val="90000"/>
              </a:lnSpc>
            </a:pPr>
            <a:r>
              <a:rPr lang="en-US" sz="2400" smtClean="0"/>
              <a:t>Event</a:t>
            </a:r>
          </a:p>
          <a:p>
            <a:pPr lvl="1" eaLnBrk="1" hangingPunct="1">
              <a:lnSpc>
                <a:spcPct val="90000"/>
              </a:lnSpc>
            </a:pPr>
            <a:r>
              <a:rPr lang="en-US" sz="2000" smtClean="0"/>
              <a:t>Something that takes place at a certain point in time</a:t>
            </a:r>
          </a:p>
          <a:p>
            <a:pPr lvl="1" eaLnBrk="1" hangingPunct="1">
              <a:lnSpc>
                <a:spcPct val="90000"/>
              </a:lnSpc>
            </a:pPr>
            <a:endParaRPr lang="en-US" sz="2000" smtClean="0"/>
          </a:p>
        </p:txBody>
      </p:sp>
      <p:sp>
        <p:nvSpPr>
          <p:cNvPr id="368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4564"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440EE95B-85CB-4F58-839E-DBEC777DC3CB}" type="slidenum">
              <a:rPr lang="en-US" sz="1600">
                <a:solidFill>
                  <a:schemeClr val="tx1"/>
                </a:solidFill>
                <a:cs typeface="+mn-cs"/>
              </a:rPr>
              <a:pPr algn="ctr" eaLnBrk="0" hangingPunct="0">
                <a:defRPr/>
              </a:pPr>
              <a:t>21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13346"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4249EE38-28CC-4623-8C50-72393B97EE23}" type="slidenum">
              <a:rPr lang="en-US" sz="1600">
                <a:solidFill>
                  <a:schemeClr val="tx1"/>
                </a:solidFill>
                <a:cs typeface="+mn-cs"/>
              </a:rPr>
              <a:pPr algn="ctr" eaLnBrk="0" hangingPunct="0">
                <a:defRPr/>
              </a:pPr>
              <a:t>22</a:t>
            </a:fld>
            <a:endParaRPr lang="en-US" sz="1600">
              <a:solidFill>
                <a:schemeClr val="tx1"/>
              </a:solidFill>
              <a:cs typeface="+mn-cs"/>
            </a:endParaRPr>
          </a:p>
        </p:txBody>
      </p:sp>
      <p:pic>
        <p:nvPicPr>
          <p:cNvPr id="313349" name="Picture 5"/>
          <p:cNvPicPr>
            <a:picLocks noChangeAspect="1" noChangeArrowheads="1"/>
          </p:cNvPicPr>
          <p:nvPr/>
        </p:nvPicPr>
        <p:blipFill>
          <a:blip r:embed="rId2"/>
          <a:srcRect/>
          <a:stretch>
            <a:fillRect/>
          </a:stretch>
        </p:blipFill>
        <p:spPr bwMode="auto">
          <a:xfrm>
            <a:off x="434975" y="1146175"/>
            <a:ext cx="8274050" cy="456565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3" name="Rectangle 1029"/>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Dynamic Modeling:</a:t>
            </a:r>
            <a:br>
              <a:rPr lang="en-US">
                <a:solidFill>
                  <a:schemeClr val="accent1">
                    <a:tint val="83000"/>
                    <a:satMod val="150000"/>
                  </a:schemeClr>
                </a:solidFill>
              </a:rPr>
            </a:br>
            <a:r>
              <a:rPr lang="en-US">
                <a:solidFill>
                  <a:schemeClr val="accent1">
                    <a:tint val="83000"/>
                    <a:satMod val="150000"/>
                  </a:schemeClr>
                </a:solidFill>
              </a:rPr>
              <a:t>Sequence Diagrams</a:t>
            </a:r>
          </a:p>
        </p:txBody>
      </p:sp>
      <p:sp>
        <p:nvSpPr>
          <p:cNvPr id="38914" name="Rectangle 1030"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z="2800" smtClean="0"/>
              <a:t>Sequence Diagram</a:t>
            </a:r>
          </a:p>
          <a:p>
            <a:pPr lvl="1" eaLnBrk="1" hangingPunct="1"/>
            <a:r>
              <a:rPr lang="en-US" sz="2400" smtClean="0"/>
              <a:t>A depiction of the interaction among objects during certain periods of time</a:t>
            </a:r>
          </a:p>
          <a:p>
            <a:pPr eaLnBrk="1" hangingPunct="1"/>
            <a:r>
              <a:rPr lang="en-US" sz="2800" smtClean="0"/>
              <a:t>Activation</a:t>
            </a:r>
          </a:p>
          <a:p>
            <a:pPr lvl="1" eaLnBrk="1" hangingPunct="1"/>
            <a:r>
              <a:rPr lang="en-US" sz="2400" smtClean="0"/>
              <a:t>The time period during which an object performs an operation</a:t>
            </a:r>
          </a:p>
          <a:p>
            <a:pPr eaLnBrk="1" hangingPunct="1"/>
            <a:r>
              <a:rPr lang="en-US" sz="2800" smtClean="0"/>
              <a:t>Messages</a:t>
            </a:r>
          </a:p>
          <a:p>
            <a:pPr lvl="1" eaLnBrk="1" hangingPunct="1"/>
            <a:r>
              <a:rPr lang="en-US" sz="2400" smtClean="0"/>
              <a:t>Means by which objects communicate with each other</a:t>
            </a:r>
          </a:p>
          <a:p>
            <a:pPr eaLnBrk="1" hangingPunct="1"/>
            <a:endParaRPr lang="en-US" sz="2800" smtClean="0"/>
          </a:p>
        </p:txBody>
      </p:sp>
      <p:sp>
        <p:nvSpPr>
          <p:cNvPr id="3891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8772"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F4C24387-5816-41BC-A947-56781A543086}" type="slidenum">
              <a:rPr lang="en-US" sz="1600">
                <a:solidFill>
                  <a:schemeClr val="tx1"/>
                </a:solidFill>
                <a:cs typeface="+mn-cs"/>
              </a:rPr>
              <a:pPr algn="ctr" eaLnBrk="0" hangingPunct="0">
                <a:defRPr/>
              </a:pPr>
              <a:t>23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73" name="Rectangle 9"/>
          <p:cNvSpPr>
            <a:spLocks noGrp="1" noChangeArrowheads="1"/>
          </p:cNvSpPr>
          <p:nvPr>
            <p:ph type="title"/>
          </p:nvPr>
        </p:nvSpPr>
        <p:spPr>
          <a:xfrm>
            <a:off x="533400" y="228600"/>
            <a:ext cx="7772400" cy="1143000"/>
          </a:xfrm>
        </p:spPr>
        <p:txBody>
          <a:bodyPr>
            <a:normAutofit fontScale="90000"/>
          </a:bodyPr>
          <a:lstStyle/>
          <a:p>
            <a:pPr marL="484632" eaLnBrk="1" fontAlgn="auto" hangingPunct="1">
              <a:spcAft>
                <a:spcPts val="0"/>
              </a:spcAft>
              <a:defRPr/>
            </a:pPr>
            <a:r>
              <a:rPr lang="en-US" sz="4000" dirty="0">
                <a:solidFill>
                  <a:schemeClr val="accent1">
                    <a:tint val="83000"/>
                    <a:satMod val="150000"/>
                  </a:schemeClr>
                </a:solidFill>
              </a:rPr>
              <a:t>Dynamic </a:t>
            </a:r>
            <a:r>
              <a:rPr lang="en-US" sz="4000" dirty="0" smtClean="0">
                <a:solidFill>
                  <a:schemeClr val="accent1">
                    <a:tint val="83000"/>
                    <a:satMod val="150000"/>
                  </a:schemeClr>
                </a:solidFill>
              </a:rPr>
              <a:t>Modeling: Sequence </a:t>
            </a:r>
            <a:r>
              <a:rPr lang="en-US" sz="4000" dirty="0">
                <a:solidFill>
                  <a:schemeClr val="accent1">
                    <a:tint val="83000"/>
                    <a:satMod val="150000"/>
                  </a:schemeClr>
                </a:solidFill>
              </a:rPr>
              <a:t>Diagrams (continued)</a:t>
            </a:r>
          </a:p>
        </p:txBody>
      </p:sp>
      <p:sp>
        <p:nvSpPr>
          <p:cNvPr id="39938" name="Rectangle 10"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90000"/>
              </a:lnSpc>
            </a:pPr>
            <a:r>
              <a:rPr lang="en-US" smtClean="0"/>
              <a:t>Synchronous Message</a:t>
            </a:r>
          </a:p>
          <a:p>
            <a:pPr lvl="1" eaLnBrk="1" hangingPunct="1">
              <a:lnSpc>
                <a:spcPct val="90000"/>
              </a:lnSpc>
            </a:pPr>
            <a:r>
              <a:rPr lang="en-US" smtClean="0"/>
              <a:t>A type of message in which the caller has to wait for the receiving object to finish executing the called operation before it can resume execution itself</a:t>
            </a:r>
          </a:p>
          <a:p>
            <a:pPr eaLnBrk="1" hangingPunct="1">
              <a:lnSpc>
                <a:spcPct val="90000"/>
              </a:lnSpc>
            </a:pPr>
            <a:r>
              <a:rPr lang="en-US" smtClean="0"/>
              <a:t>Simple Message</a:t>
            </a:r>
          </a:p>
          <a:p>
            <a:pPr lvl="1" eaLnBrk="1" hangingPunct="1">
              <a:lnSpc>
                <a:spcPct val="90000"/>
              </a:lnSpc>
            </a:pPr>
            <a:r>
              <a:rPr lang="en-US" smtClean="0"/>
              <a:t>A message that transfers control from the sender to the recipient without describing the details of the communication</a:t>
            </a:r>
          </a:p>
          <a:p>
            <a:pPr lvl="1" eaLnBrk="1" hangingPunct="1">
              <a:lnSpc>
                <a:spcPct val="90000"/>
              </a:lnSpc>
            </a:pPr>
            <a:endParaRPr lang="en-US" smtClean="0"/>
          </a:p>
          <a:p>
            <a:pPr eaLnBrk="1" hangingPunct="1">
              <a:lnSpc>
                <a:spcPct val="90000"/>
              </a:lnSpc>
            </a:pPr>
            <a:endParaRPr lang="en-US" smtClean="0"/>
          </a:p>
        </p:txBody>
      </p:sp>
      <p:sp>
        <p:nvSpPr>
          <p:cNvPr id="3993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7268"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5E191058-B4AA-4CEB-91F2-5A967D7BA327}" type="slidenum">
              <a:rPr lang="en-US" sz="1600">
                <a:solidFill>
                  <a:schemeClr val="tx1"/>
                </a:solidFill>
                <a:cs typeface="+mn-cs"/>
              </a:rPr>
              <a:pPr algn="ctr" eaLnBrk="0" hangingPunct="0">
                <a:defRPr/>
              </a:pPr>
              <a:t>24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14370" name="Text Box 2"/>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065E5D25-A5F7-48D7-A163-80AA1C56925A}" type="slidenum">
              <a:rPr lang="en-US" sz="1600">
                <a:solidFill>
                  <a:schemeClr val="tx1"/>
                </a:solidFill>
                <a:cs typeface="+mn-cs"/>
              </a:rPr>
              <a:pPr algn="ctr" eaLnBrk="0" hangingPunct="0">
                <a:defRPr/>
              </a:pPr>
              <a:t>25</a:t>
            </a:fld>
            <a:endParaRPr lang="en-US" sz="1600">
              <a:solidFill>
                <a:schemeClr val="tx1"/>
              </a:solidFill>
              <a:cs typeface="+mn-cs"/>
            </a:endParaRPr>
          </a:p>
        </p:txBody>
      </p:sp>
      <p:pic>
        <p:nvPicPr>
          <p:cNvPr id="314372" name="Picture 4"/>
          <p:cNvPicPr>
            <a:picLocks noChangeAspect="1" noChangeArrowheads="1"/>
          </p:cNvPicPr>
          <p:nvPr/>
        </p:nvPicPr>
        <p:blipFill>
          <a:blip r:embed="rId2"/>
          <a:srcRect/>
          <a:stretch>
            <a:fillRect/>
          </a:stretch>
        </p:blipFill>
        <p:spPr bwMode="auto">
          <a:xfrm>
            <a:off x="1065213" y="609600"/>
            <a:ext cx="6978650" cy="531495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1026"/>
          <p:cNvSpPr>
            <a:spLocks noGrp="1" noChangeArrowheads="1"/>
          </p:cNvSpPr>
          <p:nvPr>
            <p:ph type="title"/>
          </p:nvPr>
        </p:nvSpPr>
        <p:spPr>
          <a:xfrm>
            <a:off x="609600" y="228600"/>
            <a:ext cx="7772400" cy="1219200"/>
          </a:xfrm>
        </p:spPr>
        <p:txBody>
          <a:bodyPr/>
          <a:lstStyle/>
          <a:p>
            <a:pPr marL="484632" eaLnBrk="1" fontAlgn="auto" hangingPunct="1">
              <a:spcAft>
                <a:spcPts val="0"/>
              </a:spcAft>
              <a:defRPr/>
            </a:pPr>
            <a:r>
              <a:rPr lang="en-US" sz="4000">
                <a:solidFill>
                  <a:schemeClr val="accent1">
                    <a:tint val="83000"/>
                    <a:satMod val="150000"/>
                  </a:schemeClr>
                </a:solidFill>
              </a:rPr>
              <a:t>Moving to Design</a:t>
            </a:r>
          </a:p>
        </p:txBody>
      </p:sp>
      <p:sp>
        <p:nvSpPr>
          <p:cNvPr id="289795" name="Rectangle 1027" descr="Rectangle: Click to edit Master text styles&#10;Second level&#10;Third level&#10;Fourth level&#10;Fifth level"/>
          <p:cNvSpPr>
            <a:spLocks noGrp="1" noChangeArrowheads="1"/>
          </p:cNvSpPr>
          <p:nvPr>
            <p:ph idx="1"/>
          </p:nvPr>
        </p:nvSpPr>
        <p:spPr>
          <a:xfrm>
            <a:off x="838200" y="1524000"/>
            <a:ext cx="7772400" cy="4495800"/>
          </a:xfrm>
        </p:spPr>
        <p:txBody>
          <a:bodyPr>
            <a:normAutofit fontScale="92500"/>
          </a:bodyPr>
          <a:lstStyle/>
          <a:p>
            <a:pPr marL="448056" indent="-384048" eaLnBrk="1" fontAlgn="auto" hangingPunct="1">
              <a:lnSpc>
                <a:spcPct val="90000"/>
              </a:lnSpc>
              <a:spcAft>
                <a:spcPts val="0"/>
              </a:spcAft>
              <a:buFont typeface="Wingdings 2"/>
              <a:buChar char=""/>
              <a:defRPr/>
            </a:pPr>
            <a:r>
              <a:rPr lang="en-US" sz="2800"/>
              <a:t>Start with existing set of analysis model</a:t>
            </a:r>
          </a:p>
          <a:p>
            <a:pPr marL="448056" indent="-384048" eaLnBrk="1" fontAlgn="auto" hangingPunct="1">
              <a:lnSpc>
                <a:spcPct val="90000"/>
              </a:lnSpc>
              <a:spcAft>
                <a:spcPts val="0"/>
              </a:spcAft>
              <a:buFont typeface="Wingdings 2"/>
              <a:buChar char=""/>
              <a:defRPr/>
            </a:pPr>
            <a:r>
              <a:rPr lang="en-US" sz="2800"/>
              <a:t>Progressively add technical details</a:t>
            </a:r>
          </a:p>
          <a:p>
            <a:pPr marL="448056" indent="-384048" eaLnBrk="1" fontAlgn="auto" hangingPunct="1">
              <a:lnSpc>
                <a:spcPct val="90000"/>
              </a:lnSpc>
              <a:spcAft>
                <a:spcPts val="0"/>
              </a:spcAft>
              <a:buFont typeface="Wingdings 2"/>
              <a:buChar char=""/>
              <a:defRPr/>
            </a:pPr>
            <a:r>
              <a:rPr lang="en-US" sz="2800"/>
              <a:t>Design model must be more detailed than analysis model</a:t>
            </a:r>
          </a:p>
          <a:p>
            <a:pPr marL="448056" indent="-384048" eaLnBrk="1" fontAlgn="auto" hangingPunct="1">
              <a:lnSpc>
                <a:spcPct val="90000"/>
              </a:lnSpc>
              <a:spcAft>
                <a:spcPts val="0"/>
              </a:spcAft>
              <a:buFont typeface="Wingdings 2"/>
              <a:buChar char=""/>
              <a:defRPr/>
            </a:pPr>
            <a:r>
              <a:rPr lang="en-US" sz="2800"/>
              <a:t>Component Diagram</a:t>
            </a:r>
          </a:p>
          <a:p>
            <a:pPr marL="822960" lvl="1" eaLnBrk="1" fontAlgn="auto" hangingPunct="1">
              <a:lnSpc>
                <a:spcPct val="90000"/>
              </a:lnSpc>
              <a:spcAft>
                <a:spcPts val="0"/>
              </a:spcAft>
              <a:buFont typeface="Verdana"/>
              <a:buChar char="›"/>
              <a:defRPr/>
            </a:pPr>
            <a:r>
              <a:rPr lang="en-US" sz="2400"/>
              <a:t>A diagram that shows the software components or modules and their dependencies</a:t>
            </a:r>
          </a:p>
          <a:p>
            <a:pPr marL="448056" indent="-384048" eaLnBrk="1" fontAlgn="auto" hangingPunct="1">
              <a:lnSpc>
                <a:spcPct val="90000"/>
              </a:lnSpc>
              <a:spcAft>
                <a:spcPts val="0"/>
              </a:spcAft>
              <a:buFont typeface="Wingdings 2"/>
              <a:buChar char=""/>
              <a:defRPr/>
            </a:pPr>
            <a:r>
              <a:rPr lang="en-US" sz="2800"/>
              <a:t>Deployment Diagram</a:t>
            </a:r>
          </a:p>
          <a:p>
            <a:pPr marL="822960" lvl="1" eaLnBrk="1" fontAlgn="auto" hangingPunct="1">
              <a:lnSpc>
                <a:spcPct val="90000"/>
              </a:lnSpc>
              <a:spcAft>
                <a:spcPts val="0"/>
              </a:spcAft>
              <a:buFont typeface="Verdana"/>
              <a:buChar char="›"/>
              <a:defRPr/>
            </a:pPr>
            <a:r>
              <a:rPr lang="en-US" sz="2400"/>
              <a:t>A diagram that shows how the software components, processes and objects are deployed into the physical architecture of the system</a:t>
            </a:r>
          </a:p>
        </p:txBody>
      </p:sp>
      <p:sp>
        <p:nvSpPr>
          <p:cNvPr id="4198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9796"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D9ED8EB8-C1F8-400C-99EB-855BF30C03D2}" type="slidenum">
              <a:rPr lang="en-US" sz="1600">
                <a:solidFill>
                  <a:schemeClr val="tx1"/>
                </a:solidFill>
                <a:cs typeface="+mn-cs"/>
              </a:rPr>
              <a:pPr algn="ctr" eaLnBrk="0" hangingPunct="0">
                <a:defRPr/>
              </a:pPr>
              <a:t>26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15394"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B3D6BFD1-9EEC-4A1C-9B04-61468FCADA96}" type="slidenum">
              <a:rPr lang="en-US" sz="1600">
                <a:solidFill>
                  <a:schemeClr val="tx1"/>
                </a:solidFill>
                <a:cs typeface="+mn-cs"/>
              </a:rPr>
              <a:pPr algn="ctr" eaLnBrk="0" hangingPunct="0">
                <a:defRPr/>
              </a:pPr>
              <a:t>27</a:t>
            </a:fld>
            <a:endParaRPr lang="en-US" sz="1600">
              <a:solidFill>
                <a:schemeClr val="tx1"/>
              </a:solidFill>
              <a:cs typeface="+mn-cs"/>
            </a:endParaRPr>
          </a:p>
        </p:txBody>
      </p:sp>
      <p:pic>
        <p:nvPicPr>
          <p:cNvPr id="315396" name="Picture 4"/>
          <p:cNvPicPr>
            <a:picLocks noChangeAspect="1" noChangeArrowheads="1"/>
          </p:cNvPicPr>
          <p:nvPr/>
        </p:nvPicPr>
        <p:blipFill>
          <a:blip r:embed="rId2"/>
          <a:srcRect/>
          <a:stretch>
            <a:fillRect/>
          </a:stretch>
        </p:blipFill>
        <p:spPr bwMode="auto">
          <a:xfrm>
            <a:off x="152400" y="1041400"/>
            <a:ext cx="8866188" cy="42672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Summary</a:t>
            </a:r>
          </a:p>
        </p:txBody>
      </p:sp>
      <p:sp>
        <p:nvSpPr>
          <p:cNvPr id="44034"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Object-Oriented Modeling Approach</a:t>
            </a:r>
          </a:p>
          <a:p>
            <a:pPr lvl="1" eaLnBrk="1" hangingPunct="1"/>
            <a:r>
              <a:rPr lang="en-US" smtClean="0"/>
              <a:t>Benefits</a:t>
            </a:r>
          </a:p>
          <a:p>
            <a:pPr lvl="1" eaLnBrk="1" hangingPunct="1"/>
            <a:r>
              <a:rPr lang="en-US" smtClean="0"/>
              <a:t>Unified Modeling Language</a:t>
            </a:r>
          </a:p>
          <a:p>
            <a:pPr lvl="2" eaLnBrk="1" hangingPunct="1"/>
            <a:r>
              <a:rPr lang="en-US" smtClean="0"/>
              <a:t>Use cases</a:t>
            </a:r>
          </a:p>
          <a:p>
            <a:pPr lvl="2" eaLnBrk="1" hangingPunct="1"/>
            <a:r>
              <a:rPr lang="en-US" smtClean="0"/>
              <a:t>Class diagrams</a:t>
            </a:r>
          </a:p>
          <a:p>
            <a:pPr lvl="2" eaLnBrk="1" hangingPunct="1"/>
            <a:r>
              <a:rPr lang="en-US" smtClean="0"/>
              <a:t>State diagrams</a:t>
            </a:r>
          </a:p>
          <a:p>
            <a:pPr lvl="2" eaLnBrk="1" hangingPunct="1"/>
            <a:r>
              <a:rPr lang="en-US" smtClean="0"/>
              <a:t>Sequence diagrams</a:t>
            </a:r>
          </a:p>
          <a:p>
            <a:pPr eaLnBrk="1" hangingPunct="1"/>
            <a:r>
              <a:rPr lang="en-US" smtClean="0"/>
              <a:t>Use Case Modeling</a:t>
            </a:r>
          </a:p>
          <a:p>
            <a:pPr eaLnBrk="1" hangingPunct="1">
              <a:buFont typeface="Wingdings" pitchFamily="2" charset="2"/>
              <a:buNone/>
            </a:pPr>
            <a:endParaRPr lang="en-US" smtClean="0"/>
          </a:p>
        </p:txBody>
      </p:sp>
      <p:sp>
        <p:nvSpPr>
          <p:cNvPr id="440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3245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C607B4AF-820B-4C44-AD7F-979399351EF4}" type="slidenum">
              <a:rPr lang="en-US" sz="1600">
                <a:solidFill>
                  <a:schemeClr val="tx1"/>
                </a:solidFill>
                <a:cs typeface="+mn-cs"/>
              </a:rPr>
              <a:pPr algn="ctr" eaLnBrk="0" hangingPunct="0">
                <a:defRPr/>
              </a:pPr>
              <a:t>28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Summary (continued)</a:t>
            </a:r>
          </a:p>
        </p:txBody>
      </p:sp>
      <p:sp>
        <p:nvSpPr>
          <p:cNvPr id="45058"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Object Modeling: Class Diagrams</a:t>
            </a:r>
          </a:p>
          <a:p>
            <a:pPr lvl="1" eaLnBrk="1" hangingPunct="1"/>
            <a:r>
              <a:rPr lang="en-US" smtClean="0"/>
              <a:t>Associations</a:t>
            </a:r>
          </a:p>
          <a:p>
            <a:pPr lvl="1" eaLnBrk="1" hangingPunct="1"/>
            <a:r>
              <a:rPr lang="en-US" smtClean="0"/>
              <a:t>Generalizations</a:t>
            </a:r>
          </a:p>
          <a:p>
            <a:pPr lvl="1" eaLnBrk="1" hangingPunct="1"/>
            <a:r>
              <a:rPr lang="en-US" smtClean="0"/>
              <a:t>Aggregation</a:t>
            </a:r>
          </a:p>
          <a:p>
            <a:pPr eaLnBrk="1" hangingPunct="1"/>
            <a:r>
              <a:rPr lang="en-US" smtClean="0"/>
              <a:t>Dynamic Modeling: State Diagrams</a:t>
            </a:r>
          </a:p>
          <a:p>
            <a:pPr eaLnBrk="1" hangingPunct="1"/>
            <a:r>
              <a:rPr lang="en-US" smtClean="0"/>
              <a:t>Dynamic Modeling: Sequence Diagrams</a:t>
            </a:r>
          </a:p>
          <a:p>
            <a:pPr eaLnBrk="1" hangingPunct="1"/>
            <a:r>
              <a:rPr lang="en-US" smtClean="0"/>
              <a:t>Moving to Design</a:t>
            </a:r>
          </a:p>
          <a:p>
            <a:pPr eaLnBrk="1" hangingPunct="1">
              <a:buFont typeface="Wingdings" pitchFamily="2" charset="2"/>
              <a:buNone/>
            </a:pPr>
            <a:endParaRPr lang="en-US" smtClean="0"/>
          </a:p>
          <a:p>
            <a:pPr eaLnBrk="1" hangingPunct="1"/>
            <a:endParaRPr lang="en-US" smtClean="0"/>
          </a:p>
          <a:p>
            <a:pPr eaLnBrk="1" hangingPunct="1"/>
            <a:endParaRPr lang="en-US" smtClean="0"/>
          </a:p>
        </p:txBody>
      </p:sp>
      <p:sp>
        <p:nvSpPr>
          <p:cNvPr id="450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317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A.</a:t>
            </a:r>
            <a:fld id="{5E580AB8-2BC1-4503-821B-C3E6595999A2}" type="slidenum">
              <a:rPr lang="en-US" sz="1600">
                <a:solidFill>
                  <a:schemeClr val="tx1"/>
                </a:solidFill>
                <a:cs typeface="+mn-cs"/>
              </a:rPr>
              <a:pPr algn="ctr" eaLnBrk="0" hangingPunct="0">
                <a:defRPr/>
              </a:pPr>
              <a:t>29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53251"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53252"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3063</TotalTime>
  <Words>1412</Words>
  <Application>Microsoft Office PowerPoint</Application>
  <PresentationFormat>On-screen Show (4:3)</PresentationFormat>
  <Paragraphs>221</Paragraphs>
  <Slides>30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Century Gothic</vt:lpstr>
      <vt:lpstr>Tahoma</vt:lpstr>
      <vt:lpstr>Times New Roman</vt:lpstr>
      <vt:lpstr>Verdana</vt:lpstr>
      <vt:lpstr>Wingdings</vt:lpstr>
      <vt:lpstr>Wingdings 2</vt:lpstr>
      <vt:lpstr>Verve</vt:lpstr>
      <vt:lpstr>Essentials of Systems Analysis and Design Sixth Edition  Joseph S. Valacich Joey F. George Jeffrey A. Hoffer</vt:lpstr>
      <vt:lpstr>Learning Objectives</vt:lpstr>
      <vt:lpstr>Learning Objectives (continued)</vt:lpstr>
      <vt:lpstr>The Object-Oriented Modeling Approach </vt:lpstr>
      <vt:lpstr>The Object-Oriented Modeling Approach (continued)</vt:lpstr>
      <vt:lpstr>The Object-Oriented Systems Development Life Cycle</vt:lpstr>
      <vt:lpstr>The Object-Oriented Systems Development Life Cycle (continued)</vt:lpstr>
      <vt:lpstr>Use-Case Modeling</vt:lpstr>
      <vt:lpstr>Use-Case Modeling</vt:lpstr>
      <vt:lpstr>PowerPoint Presentation</vt:lpstr>
      <vt:lpstr>Object Modeling: Class Diagrams</vt:lpstr>
      <vt:lpstr>Object Modeling: Class Diagrams (continued)</vt:lpstr>
      <vt:lpstr>Object Modeling: Object Diagrams</vt:lpstr>
      <vt:lpstr>PowerPoint Presentation</vt:lpstr>
      <vt:lpstr>Representing Associations</vt:lpstr>
      <vt:lpstr>PowerPoint Presentation</vt:lpstr>
      <vt:lpstr>Representing Generalization</vt:lpstr>
      <vt:lpstr>Representing Generalization (continued)</vt:lpstr>
      <vt:lpstr>PowerPoint Presentation</vt:lpstr>
      <vt:lpstr>Representing Aggregation</vt:lpstr>
      <vt:lpstr>Dynamic Modeling: State Diagrams</vt:lpstr>
      <vt:lpstr>PowerPoint Presentation</vt:lpstr>
      <vt:lpstr>Dynamic Modeling: Sequence Diagrams</vt:lpstr>
      <vt:lpstr>Dynamic Modeling: Sequence Diagrams (continued)</vt:lpstr>
      <vt:lpstr>PowerPoint Presentation</vt:lpstr>
      <vt:lpstr>Moving to Design</vt:lpstr>
      <vt:lpstr>PowerPoint Presentation</vt:lpstr>
      <vt:lpstr>Summary</vt:lpstr>
      <vt:lpstr>Summary (continued)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Appendix A</dc:title>
  <dc:creator>John Russo</dc:creator>
  <cp:lastModifiedBy>Kim Norbuta</cp:lastModifiedBy>
  <cp:revision>123</cp:revision>
  <cp:lastPrinted>1601-01-01T00:00:00Z</cp:lastPrinted>
  <dcterms:created xsi:type="dcterms:W3CDTF">2011-07-26T16:23:16Z</dcterms:created>
  <dcterms:modified xsi:type="dcterms:W3CDTF">2014-10-24T15:18:13Z</dcterms:modified>
</cp:coreProperties>
</file>