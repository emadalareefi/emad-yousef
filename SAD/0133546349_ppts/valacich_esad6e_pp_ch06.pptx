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handoutMasterIdLst>
    <p:handoutMasterId r:id="rId47"/>
  </p:handoutMasterIdLst>
  <p:sldIdLst>
    <p:sldId id="313" r:id="rId2"/>
    <p:sldId id="257" r:id="rId3"/>
    <p:sldId id="259" r:id="rId4"/>
    <p:sldId id="260" r:id="rId5"/>
    <p:sldId id="261" r:id="rId6"/>
    <p:sldId id="262" r:id="rId7"/>
    <p:sldId id="299" r:id="rId8"/>
    <p:sldId id="264" r:id="rId9"/>
    <p:sldId id="287" r:id="rId10"/>
    <p:sldId id="265" r:id="rId11"/>
    <p:sldId id="266" r:id="rId12"/>
    <p:sldId id="300" r:id="rId13"/>
    <p:sldId id="298" r:id="rId14"/>
    <p:sldId id="267" r:id="rId15"/>
    <p:sldId id="303" r:id="rId16"/>
    <p:sldId id="302" r:id="rId17"/>
    <p:sldId id="304" r:id="rId18"/>
    <p:sldId id="270" r:id="rId19"/>
    <p:sldId id="271" r:id="rId20"/>
    <p:sldId id="272" r:id="rId21"/>
    <p:sldId id="274" r:id="rId22"/>
    <p:sldId id="275" r:id="rId23"/>
    <p:sldId id="276" r:id="rId24"/>
    <p:sldId id="305" r:id="rId25"/>
    <p:sldId id="279" r:id="rId26"/>
    <p:sldId id="306" r:id="rId27"/>
    <p:sldId id="280" r:id="rId28"/>
    <p:sldId id="281" r:id="rId29"/>
    <p:sldId id="282" r:id="rId30"/>
    <p:sldId id="283" r:id="rId31"/>
    <p:sldId id="284" r:id="rId32"/>
    <p:sldId id="285" r:id="rId33"/>
    <p:sldId id="307" r:id="rId34"/>
    <p:sldId id="308" r:id="rId35"/>
    <p:sldId id="288" r:id="rId36"/>
    <p:sldId id="291" r:id="rId37"/>
    <p:sldId id="292" r:id="rId38"/>
    <p:sldId id="293" r:id="rId39"/>
    <p:sldId id="310" r:id="rId40"/>
    <p:sldId id="311" r:id="rId41"/>
    <p:sldId id="294" r:id="rId42"/>
    <p:sldId id="312" r:id="rId43"/>
    <p:sldId id="295" r:id="rId44"/>
    <p:sldId id="314" r:id="rId45"/>
  </p:sldIdLst>
  <p:sldSz cx="9144000" cy="6858000" type="screen4x3"/>
  <p:notesSz cx="6858000" cy="9144000"/>
  <p:defaultTextStyle>
    <a:defPPr>
      <a:defRPr lang="en-US"/>
    </a:defPPr>
    <a:lvl1pPr algn="l" rtl="0" fontAlgn="base">
      <a:spcBef>
        <a:spcPct val="0"/>
      </a:spcBef>
      <a:spcAft>
        <a:spcPct val="0"/>
      </a:spcAft>
      <a:defRPr sz="4400" kern="1200">
        <a:solidFill>
          <a:schemeClr val="tx2"/>
        </a:solidFill>
        <a:latin typeface="Arial" charset="0"/>
        <a:ea typeface="+mn-ea"/>
        <a:cs typeface="Arial" charset="0"/>
      </a:defRPr>
    </a:lvl1pPr>
    <a:lvl2pPr marL="457200" algn="l" rtl="0" fontAlgn="base">
      <a:spcBef>
        <a:spcPct val="0"/>
      </a:spcBef>
      <a:spcAft>
        <a:spcPct val="0"/>
      </a:spcAft>
      <a:defRPr sz="4400" kern="1200">
        <a:solidFill>
          <a:schemeClr val="tx2"/>
        </a:solidFill>
        <a:latin typeface="Arial" charset="0"/>
        <a:ea typeface="+mn-ea"/>
        <a:cs typeface="Arial" charset="0"/>
      </a:defRPr>
    </a:lvl2pPr>
    <a:lvl3pPr marL="914400" algn="l" rtl="0" fontAlgn="base">
      <a:spcBef>
        <a:spcPct val="0"/>
      </a:spcBef>
      <a:spcAft>
        <a:spcPct val="0"/>
      </a:spcAft>
      <a:defRPr sz="4400" kern="1200">
        <a:solidFill>
          <a:schemeClr val="tx2"/>
        </a:solidFill>
        <a:latin typeface="Arial" charset="0"/>
        <a:ea typeface="+mn-ea"/>
        <a:cs typeface="Arial" charset="0"/>
      </a:defRPr>
    </a:lvl3pPr>
    <a:lvl4pPr marL="1371600" algn="l" rtl="0" fontAlgn="base">
      <a:spcBef>
        <a:spcPct val="0"/>
      </a:spcBef>
      <a:spcAft>
        <a:spcPct val="0"/>
      </a:spcAft>
      <a:defRPr sz="4400" kern="1200">
        <a:solidFill>
          <a:schemeClr val="tx2"/>
        </a:solidFill>
        <a:latin typeface="Arial" charset="0"/>
        <a:ea typeface="+mn-ea"/>
        <a:cs typeface="Arial" charset="0"/>
      </a:defRPr>
    </a:lvl4pPr>
    <a:lvl5pPr marL="1828800" algn="l" rtl="0" fontAlgn="base">
      <a:spcBef>
        <a:spcPct val="0"/>
      </a:spcBef>
      <a:spcAft>
        <a:spcPct val="0"/>
      </a:spcAft>
      <a:defRPr sz="4400" kern="1200">
        <a:solidFill>
          <a:schemeClr val="tx2"/>
        </a:solidFill>
        <a:latin typeface="Arial" charset="0"/>
        <a:ea typeface="+mn-ea"/>
        <a:cs typeface="Arial" charset="0"/>
      </a:defRPr>
    </a:lvl5pPr>
    <a:lvl6pPr marL="2286000" algn="l" defTabSz="914400" rtl="0" eaLnBrk="1" latinLnBrk="0" hangingPunct="1">
      <a:defRPr sz="4400" kern="1200">
        <a:solidFill>
          <a:schemeClr val="tx2"/>
        </a:solidFill>
        <a:latin typeface="Arial" charset="0"/>
        <a:ea typeface="+mn-ea"/>
        <a:cs typeface="Arial" charset="0"/>
      </a:defRPr>
    </a:lvl6pPr>
    <a:lvl7pPr marL="2743200" algn="l" defTabSz="914400" rtl="0" eaLnBrk="1" latinLnBrk="0" hangingPunct="1">
      <a:defRPr sz="4400" kern="1200">
        <a:solidFill>
          <a:schemeClr val="tx2"/>
        </a:solidFill>
        <a:latin typeface="Arial" charset="0"/>
        <a:ea typeface="+mn-ea"/>
        <a:cs typeface="Arial" charset="0"/>
      </a:defRPr>
    </a:lvl7pPr>
    <a:lvl8pPr marL="3200400" algn="l" defTabSz="914400" rtl="0" eaLnBrk="1" latinLnBrk="0" hangingPunct="1">
      <a:defRPr sz="4400" kern="1200">
        <a:solidFill>
          <a:schemeClr val="tx2"/>
        </a:solidFill>
        <a:latin typeface="Arial" charset="0"/>
        <a:ea typeface="+mn-ea"/>
        <a:cs typeface="Arial" charset="0"/>
      </a:defRPr>
    </a:lvl8pPr>
    <a:lvl9pPr marL="3657600" algn="l" defTabSz="914400" rtl="0" eaLnBrk="1" latinLnBrk="0" hangingPunct="1">
      <a:defRPr sz="4400" kern="1200">
        <a:solidFill>
          <a:schemeClr val="tx2"/>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912"/>
    <a:srgbClr val="BA2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7" autoAdjust="0"/>
    <p:restoredTop sz="94685" autoAdjust="0"/>
  </p:normalViewPr>
  <p:slideViewPr>
    <p:cSldViewPr>
      <p:cViewPr varScale="1">
        <p:scale>
          <a:sx n="70" d="100"/>
          <a:sy n="70" d="100"/>
        </p:scale>
        <p:origin x="138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1" d="100"/>
          <a:sy n="41" d="100"/>
        </p:scale>
        <p:origin x="-147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9618"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19" name="Rectangle 3"/>
          <p:cNvSpPr>
            <a:spLocks noGrp="1" noChangeArrowheads="1"/>
          </p:cNvSpPr>
          <p:nvPr>
            <p:ph type="dt" sz="quarter"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20" name="Rectangle 4"/>
          <p:cNvSpPr>
            <a:spLocks noGrp="1" noChangeArrowheads="1"/>
          </p:cNvSpPr>
          <p:nvPr>
            <p:ph type="ftr" sz="quarter" idx="2"/>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21" name="Rectangle 5"/>
          <p:cNvSpPr>
            <a:spLocks noGrp="1" noChangeArrowheads="1"/>
          </p:cNvSpPr>
          <p:nvPr>
            <p:ph type="sldNum" sz="quarter" idx="3"/>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fld id="{8CD93E37-6318-408C-88B9-1284F92C300A}" type="slidenum">
              <a:rPr lang="en-US"/>
              <a:pPr>
                <a:defRPr/>
              </a:pPr>
              <a:t>‹#›</a:t>
            </a:fld>
            <a:endParaRPr lang="en-US"/>
          </a:p>
        </p:txBody>
      </p:sp>
    </p:spTree>
    <p:extLst>
      <p:ext uri="{BB962C8B-B14F-4D97-AF65-F5344CB8AC3E}">
        <p14:creationId xmlns:p14="http://schemas.microsoft.com/office/powerpoint/2010/main" val="19786118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200">
                <a:solidFill>
                  <a:schemeClr val="tx1"/>
                </a:solidFill>
                <a:latin typeface="Tahoma" pitchFamily="34" charset="0"/>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200">
                <a:solidFill>
                  <a:schemeClr val="tx1"/>
                </a:solidFill>
                <a:latin typeface="Tahoma" pitchFamily="34" charset="0"/>
                <a:cs typeface="+mn-cs"/>
              </a:defRPr>
            </a:lvl1pPr>
          </a:lstStyle>
          <a:p>
            <a:pPr>
              <a:defRPr/>
            </a:pPr>
            <a:fld id="{92756F58-A309-4726-A97A-BC06243BB083}" type="slidenum">
              <a:rPr lang="en-US"/>
              <a:pPr>
                <a:defRPr/>
              </a:pPr>
              <a:t>‹#›</a:t>
            </a:fld>
            <a:endParaRPr lang="en-US"/>
          </a:p>
        </p:txBody>
      </p:sp>
    </p:spTree>
    <p:extLst>
      <p:ext uri="{BB962C8B-B14F-4D97-AF65-F5344CB8AC3E}">
        <p14:creationId xmlns:p14="http://schemas.microsoft.com/office/powerpoint/2010/main" val="17751153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a:noFill/>
          <a:ln>
            <a:miter lim="800000"/>
            <a:headEnd/>
            <a:tailEnd/>
          </a:ln>
        </p:spPr>
        <p:txBody>
          <a:bodyPr/>
          <a:lstStyle/>
          <a:p>
            <a:fld id="{8AF467CD-296B-408A-A6FC-768D2523AB64}" type="slidenum">
              <a:rPr lang="en-US" smtClean="0">
                <a:cs typeface="Arial" charset="0"/>
              </a:rPr>
              <a:pPr/>
              <a:t>1</a:t>
            </a:fld>
            <a:endParaRPr lang="en-US" smtClean="0">
              <a:cs typeface="Arial" charset="0"/>
            </a:endParaRPr>
          </a:p>
        </p:txBody>
      </p:sp>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4030943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152525" y="692150"/>
            <a:ext cx="4554538" cy="3416300"/>
          </a:xfrm>
          <a:ln/>
        </p:spPr>
      </p:sp>
      <p:sp>
        <p:nvSpPr>
          <p:cNvPr id="70659" name="Rectangle 3"/>
          <p:cNvSpPr>
            <a:spLocks noGrp="1" noChangeArrowheads="1"/>
          </p:cNvSpPr>
          <p:nvPr>
            <p:ph type="body" idx="1"/>
          </p:nvPr>
        </p:nvSpPr>
        <p:spPr>
          <a:noFill/>
        </p:spPr>
        <p:txBody>
          <a:bodyPr lIns="90480" tIns="44446" rIns="90480" bIns="44446"/>
          <a:lstStyle/>
          <a:p>
            <a:endParaRPr lang="en-US" smtClean="0"/>
          </a:p>
        </p:txBody>
      </p:sp>
    </p:spTree>
    <p:extLst>
      <p:ext uri="{BB962C8B-B14F-4D97-AF65-F5344CB8AC3E}">
        <p14:creationId xmlns:p14="http://schemas.microsoft.com/office/powerpoint/2010/main" val="276566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10" name="Isosceles Triangle 6"/>
          <p:cNvSpPr/>
          <p:nvPr/>
        </p:nvSpPr>
        <p:spPr>
          <a:xfrm rot="16200000">
            <a:off x="7553325" y="5254626"/>
            <a:ext cx="1893887"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540544" y="776288"/>
            <a:ext cx="8062912" cy="1470025"/>
          </a:xfrm>
        </p:spPr>
        <p:txBody>
          <a:bodyPr anchor="b"/>
          <a:lstStyle>
            <a:lvl1pPr algn="r">
              <a:defRPr sz="4400"/>
            </a:lvl1pPr>
          </a:lstStyle>
          <a:p>
            <a:r>
              <a:rPr lang="en-US" smtClean="0"/>
              <a:t>Click to edit Master title style</a:t>
            </a:r>
            <a:endParaRPr lang="en-US"/>
          </a:p>
        </p:txBody>
      </p:sp>
      <p:sp>
        <p:nvSpPr>
          <p:cNvPr id="9" name="Subtitl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1" name="Date Placeholder 27"/>
          <p:cNvSpPr>
            <a:spLocks noGrp="1"/>
          </p:cNvSpPr>
          <p:nvPr>
            <p:ph type="dt" sz="half" idx="10"/>
          </p:nvPr>
        </p:nvSpPr>
        <p:spPr>
          <a:xfrm>
            <a:off x="1371600" y="6011863"/>
            <a:ext cx="5791200" cy="365125"/>
          </a:xfrm>
        </p:spPr>
        <p:txBody>
          <a:bodyPr tIns="0" bIns="0" anchor="t"/>
          <a:lstStyle>
            <a:lvl1pPr algn="r">
              <a:defRPr sz="1000"/>
            </a:lvl1pPr>
          </a:lstStyle>
          <a:p>
            <a:pPr>
              <a:defRPr/>
            </a:pPr>
            <a:endParaRPr lang="en-US"/>
          </a:p>
        </p:txBody>
      </p:sp>
      <p:sp>
        <p:nvSpPr>
          <p:cNvPr id="12" name="Footer Placeholder 16"/>
          <p:cNvSpPr>
            <a:spLocks noGrp="1"/>
          </p:cNvSpPr>
          <p:nvPr>
            <p:ph type="ftr" sz="quarter" idx="11"/>
          </p:nvPr>
        </p:nvSpPr>
        <p:spPr>
          <a:xfrm>
            <a:off x="1371600" y="5649913"/>
            <a:ext cx="5791200" cy="365125"/>
          </a:xfrm>
        </p:spPr>
        <p:txBody>
          <a:bodyPr tIns="0" bIns="0"/>
          <a:lstStyle>
            <a:lvl1pPr algn="r">
              <a:defRPr sz="1100" smtClean="0"/>
            </a:lvl1pPr>
          </a:lstStyle>
          <a:p>
            <a:pPr>
              <a:defRPr/>
            </a:pPr>
            <a:r>
              <a:rPr lang="en-US" dirty="0" smtClean="0"/>
              <a:t>Copyright © 2015 Pearson Education, Inc. Publishing as Prentice Hall</a:t>
            </a:r>
            <a:endParaRPr lang="en-US" dirty="0"/>
          </a:p>
        </p:txBody>
      </p:sp>
      <p:sp>
        <p:nvSpPr>
          <p:cNvPr id="13" name="Slide Number Placeholder 28"/>
          <p:cNvSpPr>
            <a:spLocks noGrp="1"/>
          </p:cNvSpPr>
          <p:nvPr>
            <p:ph type="sldNum" sz="quarter" idx="12"/>
          </p:nvPr>
        </p:nvSpPr>
        <p:spPr>
          <a:xfrm>
            <a:off x="8391525" y="5753100"/>
            <a:ext cx="503238" cy="365125"/>
          </a:xfrm>
        </p:spPr>
        <p:txBody>
          <a:bodyPr anchor="ctr"/>
          <a:lstStyle>
            <a:lvl1pPr algn="ctr">
              <a:defRPr sz="1300" smtClean="0">
                <a:solidFill>
                  <a:srgbClr val="FFFFFF"/>
                </a:solidFill>
              </a:defRPr>
            </a:lvl1pPr>
          </a:lstStyle>
          <a:p>
            <a:pPr>
              <a:defRPr/>
            </a:pPr>
            <a:fld id="{84E92EB2-B6A3-4684-B073-5E9129E0F39D}"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type="obj" preserve="1">
  <p:cSld name="Title and Content">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a:xfrm>
            <a:off x="457200" y="267494"/>
            <a:ext cx="8229600" cy="1399032"/>
          </a:xfrm>
        </p:spPr>
        <p:txBody>
          <a:bodyPr/>
          <a:lstStyle/>
          <a:p>
            <a:r>
              <a:rPr lang="en-US" smtClean="0"/>
              <a:t>Click to edit Master title style</a:t>
            </a:r>
            <a:endParaRPr lang="en-US"/>
          </a:p>
        </p:txBody>
      </p:sp>
      <p:sp>
        <p:nvSpPr>
          <p:cNvPr id="3" name="Content Placeholder 2"/>
          <p:cNvSpPr>
            <a:spLocks noGrp="1"/>
          </p:cNvSpPr>
          <p:nvPr>
            <p:ph idx="1"/>
          </p:nvPr>
        </p:nvSpPr>
        <p:spPr>
          <a:xfrm>
            <a:off x="457200" y="1882808"/>
            <a:ext cx="8229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Date Placeholder 3"/>
          <p:cNvSpPr>
            <a:spLocks noGrp="1"/>
          </p:cNvSpPr>
          <p:nvPr>
            <p:ph type="dt" sz="half" idx="10"/>
          </p:nvPr>
        </p:nvSpPr>
        <p:spPr>
          <a:xfrm>
            <a:off x="4791075" y="6480175"/>
            <a:ext cx="2133600" cy="301625"/>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457200" y="6481763"/>
            <a:ext cx="4259263" cy="300037"/>
          </a:xfrm>
        </p:spPr>
        <p:txBody>
          <a:bodyPr/>
          <a:lstStyle>
            <a:lvl1pPr>
              <a:defRPr/>
            </a:lvl1pPr>
          </a:lstStyle>
          <a:p>
            <a:pPr>
              <a:defRPr/>
            </a:pPr>
            <a:r>
              <a:rPr lang="en-US" dirty="0" smtClean="0"/>
              <a:t>Copyright © 2015 Pearson Education, Inc. Publishing as Prentice Hall</a:t>
            </a:r>
            <a:endParaRPr lang="en-US" dirty="0"/>
          </a:p>
        </p:txBody>
      </p:sp>
      <p:sp>
        <p:nvSpPr>
          <p:cNvPr id="10" name="Slide Number Placeholder 5"/>
          <p:cNvSpPr>
            <a:spLocks noGrp="1"/>
          </p:cNvSpPr>
          <p:nvPr>
            <p:ph type="sldNum" sz="quarter" idx="12"/>
          </p:nvPr>
        </p:nvSpPr>
        <p:spPr/>
        <p:txBody>
          <a:bodyPr/>
          <a:lstStyle>
            <a:lvl1pPr>
              <a:defRPr/>
            </a:lvl1pPr>
          </a:lstStyle>
          <a:p>
            <a:pPr>
              <a:defRPr/>
            </a:pPr>
            <a:fld id="{9582A485-2FE1-4B99-B421-5F8F9A75ADD0}"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secHead" preserve="1">
  <p:cSld name="Section Header">
    <p:bg>
      <p:bgRef idx="1002">
        <a:schemeClr val="bg1"/>
      </p:bgRef>
    </p:bg>
    <p:spTree>
      <p:nvGrpSpPr>
        <p:cNvPr id="1" name=""/>
        <p:cNvGrpSpPr/>
        <p:nvPr/>
      </p:nvGrpSpPr>
      <p:grpSpPr>
        <a:xfrm>
          <a:off x="0" y="0"/>
          <a:ext cx="0" cy="0"/>
          <a:chOff x="0" y="0"/>
          <a:chExt cx="0" cy="0"/>
        </a:xfrm>
      </p:grpSpPr>
      <p:sp>
        <p:nvSpPr>
          <p:cNvPr id="4" name="Right Triangle 8"/>
          <p:cNvSpPr/>
          <p:nvPr/>
        </p:nvSpPr>
        <p:spPr>
          <a:xfrm flipV="1">
            <a:off x="6350" y="6350"/>
            <a:ext cx="9131300" cy="6837363"/>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p>
        </p:txBody>
      </p:sp>
      <p:sp>
        <p:nvSpPr>
          <p:cNvPr id="5" name="Isosceles Triangle 7"/>
          <p:cNvSpPr/>
          <p:nvPr/>
        </p:nvSpPr>
        <p:spPr>
          <a:xfrm rot="5400000" flipV="1">
            <a:off x="7553325" y="309563"/>
            <a:ext cx="1893888"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10"/>
          <p:cNvCxnSpPr/>
          <p:nvPr/>
        </p:nvCxnSpPr>
        <p:spPr>
          <a:xfrm rot="10800000">
            <a:off x="6469063" y="9525"/>
            <a:ext cx="2673350" cy="1900238"/>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9"/>
          <p:cNvCxnSpPr/>
          <p:nvPr/>
        </p:nvCxnSpPr>
        <p:spPr>
          <a:xfrm flipV="1">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lstStyle>
            <a:lvl1pPr marL="0" algn="l">
              <a:buNone/>
              <a:defRPr sz="3600" b="1"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381000" y="1633536"/>
            <a:ext cx="3886200" cy="2286000"/>
          </a:xfrm>
        </p:spPr>
        <p:txBody>
          <a:bodyPr/>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8" name="Date Placeholder 3"/>
          <p:cNvSpPr>
            <a:spLocks noGrp="1"/>
          </p:cNvSpPr>
          <p:nvPr>
            <p:ph type="dt" sz="half" idx="10"/>
          </p:nvPr>
        </p:nvSpPr>
        <p:spPr>
          <a:xfrm>
            <a:off x="6956425" y="6477000"/>
            <a:ext cx="2133600" cy="304800"/>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2619375" y="6481763"/>
            <a:ext cx="4260850" cy="300037"/>
          </a:xfrm>
        </p:spPr>
        <p:txBody>
          <a:bodyPr/>
          <a:lstStyle>
            <a:lvl1pPr>
              <a:defRPr/>
            </a:lvl1pPr>
          </a:lstStyle>
          <a:p>
            <a:pPr>
              <a:defRPr/>
            </a:pPr>
            <a:r>
              <a:rPr lang="en-US" dirty="0" smtClean="0"/>
              <a:t>Copyright © 2015 Pearson Education, Inc. Publishing as Prentice Hall</a:t>
            </a:r>
            <a:endParaRPr lang="en-US" dirty="0"/>
          </a:p>
        </p:txBody>
      </p:sp>
      <p:sp>
        <p:nvSpPr>
          <p:cNvPr id="10" name="Slide Number Placeholder 5"/>
          <p:cNvSpPr>
            <a:spLocks noGrp="1"/>
          </p:cNvSpPr>
          <p:nvPr>
            <p:ph type="sldNum" sz="quarter" idx="12"/>
          </p:nvPr>
        </p:nvSpPr>
        <p:spPr>
          <a:xfrm>
            <a:off x="8450263" y="809625"/>
            <a:ext cx="503237" cy="300038"/>
          </a:xfrm>
        </p:spPr>
        <p:txBody>
          <a:bodyPr/>
          <a:lstStyle>
            <a:lvl1pPr>
              <a:defRPr/>
            </a:lvl1pPr>
          </a:lstStyle>
          <a:p>
            <a:pPr>
              <a:defRPr/>
            </a:pPr>
            <a:fld id="{D912DABB-29A1-4AB4-A4A0-5013744A237F}"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type="twoObj" preserve="1">
  <p:cSld name="Two Content">
    <p:spTree>
      <p:nvGrpSpPr>
        <p:cNvPr id="1" name=""/>
        <p:cNvGrpSpPr/>
        <p:nvPr/>
      </p:nvGrpSpPr>
      <p:grpSpPr>
        <a:xfrm>
          <a:off x="0" y="0"/>
          <a:ext cx="0" cy="0"/>
          <a:chOff x="0" y="0"/>
          <a:chExt cx="0" cy="0"/>
        </a:xfrm>
      </p:grpSpPr>
      <p:sp>
        <p:nvSpPr>
          <p:cNvPr id="5"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8"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p:txBody>
          <a:bodyPr/>
          <a:lstStyle>
            <a:lvl1pPr marL="0" algn="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Date Placeholder 4"/>
          <p:cNvSpPr>
            <a:spLocks noGrp="1"/>
          </p:cNvSpPr>
          <p:nvPr>
            <p:ph type="dt" sz="half" idx="10"/>
          </p:nvPr>
        </p:nvSpPr>
        <p:spPr/>
        <p:txBody>
          <a:bodyPr/>
          <a:lstStyle>
            <a:lvl1pPr>
              <a:defRPr/>
            </a:lvl1pPr>
          </a:lstStyle>
          <a:p>
            <a:pPr>
              <a:defRPr/>
            </a:pPr>
            <a:endParaRPr lang="en-US"/>
          </a:p>
        </p:txBody>
      </p:sp>
      <p:sp>
        <p:nvSpPr>
          <p:cNvPr id="10" name="Footer Placeholder 5"/>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11" name="Slide Number Placeholder 6"/>
          <p:cNvSpPr>
            <a:spLocks noGrp="1"/>
          </p:cNvSpPr>
          <p:nvPr>
            <p:ph type="sldNum" sz="quarter" idx="12"/>
          </p:nvPr>
        </p:nvSpPr>
        <p:spPr/>
        <p:txBody>
          <a:bodyPr/>
          <a:lstStyle>
            <a:lvl1pPr>
              <a:defRPr/>
            </a:lvl1pPr>
          </a:lstStyle>
          <a:p>
            <a:pPr>
              <a:defRPr/>
            </a:pPr>
            <a:fld id="{D456A837-19C1-4412-B4C7-58318791EC0F}"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791075" y="6481763"/>
            <a:ext cx="2130425" cy="301625"/>
          </a:xfrm>
        </p:spPr>
        <p:txBody>
          <a:bodyPr/>
          <a:lstStyle>
            <a:lvl1pPr>
              <a:defRPr/>
            </a:lvl1pPr>
          </a:lstStyle>
          <a:p>
            <a:pPr>
              <a:defRPr/>
            </a:pPr>
            <a:endParaRPr lang="en-US"/>
          </a:p>
        </p:txBody>
      </p:sp>
      <p:sp>
        <p:nvSpPr>
          <p:cNvPr id="8" name="Footer Placeholder 7"/>
          <p:cNvSpPr>
            <a:spLocks noGrp="1"/>
          </p:cNvSpPr>
          <p:nvPr>
            <p:ph type="ftr" sz="quarter" idx="11"/>
          </p:nvPr>
        </p:nvSpPr>
        <p:spPr>
          <a:xfrm>
            <a:off x="457200" y="6481763"/>
            <a:ext cx="4260850" cy="301625"/>
          </a:xfrm>
        </p:spPr>
        <p:txBody>
          <a:bodyPr/>
          <a:lstStyle>
            <a:lvl1pPr>
              <a:defRPr/>
            </a:lvl1pPr>
          </a:lstStyle>
          <a:p>
            <a:pPr>
              <a:defRPr/>
            </a:pPr>
            <a:r>
              <a:rPr lang="en-US" dirty="0" smtClean="0"/>
              <a:t>Copyright © 2015 Pearson Education, Inc. Publishing as Prentice Hall</a:t>
            </a:r>
            <a:endParaRPr lang="en-US" dirty="0"/>
          </a:p>
        </p:txBody>
      </p:sp>
      <p:sp>
        <p:nvSpPr>
          <p:cNvPr id="9" name="Slide Number Placeholder 8"/>
          <p:cNvSpPr>
            <a:spLocks noGrp="1"/>
          </p:cNvSpPr>
          <p:nvPr>
            <p:ph type="sldNum" sz="quarter" idx="12"/>
          </p:nvPr>
        </p:nvSpPr>
        <p:spPr>
          <a:xfrm>
            <a:off x="7589838" y="6483350"/>
            <a:ext cx="503237" cy="301625"/>
          </a:xfrm>
        </p:spPr>
        <p:txBody>
          <a:bodyPr/>
          <a:lstStyle>
            <a:lvl1pPr algn="ctr">
              <a:defRPr smtClean="0"/>
            </a:lvl1pPr>
          </a:lstStyle>
          <a:p>
            <a:pPr>
              <a:defRPr/>
            </a:pPr>
            <a:fld id="{546EF071-1E3A-4D18-8EFE-1EEDA13458C7}"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5" name="Slide Number Placeholder 22"/>
          <p:cNvSpPr>
            <a:spLocks noGrp="1"/>
          </p:cNvSpPr>
          <p:nvPr>
            <p:ph type="sldNum" sz="quarter" idx="12"/>
          </p:nvPr>
        </p:nvSpPr>
        <p:spPr/>
        <p:txBody>
          <a:bodyPr/>
          <a:lstStyle>
            <a:lvl1pPr>
              <a:defRPr/>
            </a:lvl1pPr>
          </a:lstStyle>
          <a:p>
            <a:pPr>
              <a:defRPr/>
            </a:pPr>
            <a:fld id="{98BFD71A-E31A-4F22-BFA5-9DEE1A6BA21B}"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4" name="Slide Number Placeholder 22"/>
          <p:cNvSpPr>
            <a:spLocks noGrp="1"/>
          </p:cNvSpPr>
          <p:nvPr>
            <p:ph type="sldNum" sz="quarter" idx="12"/>
          </p:nvPr>
        </p:nvSpPr>
        <p:spPr/>
        <p:txBody>
          <a:bodyPr/>
          <a:lstStyle>
            <a:lvl1pPr>
              <a:defRPr/>
            </a:lvl1pPr>
          </a:lstStyle>
          <a:p>
            <a:pPr>
              <a:defRPr/>
            </a:pPr>
            <a:fld id="{23980F4B-77E1-48DA-8CE0-365E436D9677}"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showMasterPhAnim="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lang="en-US" smtClean="0"/>
              <a:t>Click to edit Master title style</a:t>
            </a:r>
            <a:endParaRPr lang="en-US"/>
          </a:p>
        </p:txBody>
      </p:sp>
      <p:sp>
        <p:nvSpPr>
          <p:cNvPr id="3" name="Text Placeholder 2"/>
          <p:cNvSpPr>
            <a:spLocks noGrp="1"/>
          </p:cNvSpPr>
          <p:nvPr>
            <p:ph type="body" idx="2"/>
          </p:nvPr>
        </p:nvSpPr>
        <p:spPr>
          <a:xfrm>
            <a:off x="1135856" y="367664"/>
            <a:ext cx="2438400" cy="5943600"/>
          </a:xfrm>
        </p:spPr>
        <p:txBody>
          <a:bodyPr/>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278563" y="6556375"/>
            <a:ext cx="213360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35063" y="6556375"/>
            <a:ext cx="5143500" cy="301625"/>
          </a:xfrm>
        </p:spPr>
        <p:txBody>
          <a:bodyPr/>
          <a:lstStyle>
            <a:lvl1pPr>
              <a:defRPr sz="900" smtClean="0"/>
            </a:lvl1pPr>
          </a:lstStyle>
          <a:p>
            <a:pPr>
              <a:defRPr/>
            </a:pPr>
            <a:r>
              <a:rPr lang="en-US" dirty="0" smtClean="0"/>
              <a:t>Copyright © 2015 Pearson Education, Inc. Publishing as Prentice Hall</a:t>
            </a:r>
            <a:endParaRPr lang="en-US" dirty="0"/>
          </a:p>
        </p:txBody>
      </p:sp>
      <p:sp>
        <p:nvSpPr>
          <p:cNvPr id="7" name="Slide Number Placeholder 6"/>
          <p:cNvSpPr>
            <a:spLocks noGrp="1"/>
          </p:cNvSpPr>
          <p:nvPr>
            <p:ph type="sldNum" sz="quarter" idx="12"/>
          </p:nvPr>
        </p:nvSpPr>
        <p:spPr>
          <a:xfrm>
            <a:off x="8410575" y="6556375"/>
            <a:ext cx="503238" cy="301625"/>
          </a:xfrm>
        </p:spPr>
        <p:txBody>
          <a:bodyPr/>
          <a:lstStyle>
            <a:lvl1pPr>
              <a:defRPr sz="900" smtClean="0"/>
            </a:lvl1pPr>
          </a:lstStyle>
          <a:p>
            <a:pPr>
              <a:defRPr/>
            </a:pPr>
            <a:fld id="{3A69DFF7-7F66-4715-8D3B-BF2B082D0426}"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picTx" preserve="1">
  <p:cSld name="Picture with Caption">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lang="en-US" smtClean="0"/>
              <a:t>Click to edit Master title style</a:t>
            </a:r>
            <a:endParaRPr lang="en-US"/>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a:r>
              <a:rPr lang="en-US" smtClean="0"/>
              <a:t>Click to edit Master text styles</a:t>
            </a:r>
          </a:p>
        </p:txBody>
      </p:sp>
      <p:sp>
        <p:nvSpPr>
          <p:cNvPr id="5" name="Date Placeholder 4"/>
          <p:cNvSpPr>
            <a:spLocks noGrp="1"/>
          </p:cNvSpPr>
          <p:nvPr>
            <p:ph type="dt" sz="half" idx="10"/>
          </p:nvPr>
        </p:nvSpPr>
        <p:spPr>
          <a:xfrm>
            <a:off x="6108700" y="6556375"/>
            <a:ext cx="210185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69988" y="6557963"/>
            <a:ext cx="4948237" cy="301625"/>
          </a:xfrm>
        </p:spPr>
        <p:txBody>
          <a:bodyPr/>
          <a:lstStyle>
            <a:lvl1pPr>
              <a:defRPr sz="900" smtClean="0"/>
            </a:lvl1pPr>
          </a:lstStyle>
          <a:p>
            <a:pPr>
              <a:defRPr/>
            </a:pPr>
            <a:r>
              <a:rPr lang="en-US" dirty="0" smtClean="0"/>
              <a:t>Copyright © 2015 Pearson Education, Inc. Publishing as Prentice Hall</a:t>
            </a:r>
            <a:endParaRPr lang="en-US" dirty="0"/>
          </a:p>
        </p:txBody>
      </p:sp>
      <p:sp>
        <p:nvSpPr>
          <p:cNvPr id="7" name="Slide Number Placeholder 6"/>
          <p:cNvSpPr>
            <a:spLocks noGrp="1"/>
          </p:cNvSpPr>
          <p:nvPr>
            <p:ph type="sldNum" sz="quarter" idx="12"/>
          </p:nvPr>
        </p:nvSpPr>
        <p:spPr>
          <a:xfrm>
            <a:off x="8216900" y="6556375"/>
            <a:ext cx="366713" cy="301625"/>
          </a:xfrm>
        </p:spPr>
        <p:txBody>
          <a:bodyPr/>
          <a:lstStyle>
            <a:lvl1pPr algn="ctr">
              <a:defRPr sz="900" smtClean="0"/>
            </a:lvl1pPr>
          </a:lstStyle>
          <a:p>
            <a:pPr>
              <a:defRPr/>
            </a:pPr>
            <a:fld id="{6998DF95-81D8-44E4-B298-B7C3A1E762AD}"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22"/>
          <p:cNvSpPr>
            <a:spLocks noGrp="1"/>
          </p:cNvSpPr>
          <p:nvPr>
            <p:ph type="sldNum" sz="quarter" idx="12"/>
          </p:nvPr>
        </p:nvSpPr>
        <p:spPr/>
        <p:txBody>
          <a:bodyPr/>
          <a:lstStyle>
            <a:lvl1pPr>
              <a:defRPr/>
            </a:lvl1pPr>
          </a:lstStyle>
          <a:p>
            <a:pPr>
              <a:defRPr/>
            </a:pPr>
            <a:fld id="{6BC6C631-A83B-479F-8122-CAFA012D47E6}"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2484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22"/>
          <p:cNvSpPr>
            <a:spLocks noGrp="1"/>
          </p:cNvSpPr>
          <p:nvPr>
            <p:ph type="sldNum" sz="quarter" idx="12"/>
          </p:nvPr>
        </p:nvSpPr>
        <p:spPr/>
        <p:txBody>
          <a:bodyPr/>
          <a:lstStyle>
            <a:lvl1pPr>
              <a:defRPr/>
            </a:lvl1pPr>
          </a:lstStyle>
          <a:p>
            <a:pPr>
              <a:defRPr/>
            </a:pPr>
            <a:fld id="{B16D9484-C20F-4041-80EE-5E13F9BF5E7A}"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clipArtAndTx">
  <p:cSld name="Title, Clip Art and Text">
    <p:spTree>
      <p:nvGrpSpPr>
        <p:cNvPr id="1" name=""/>
        <p:cNvGrpSpPr/>
        <p:nvPr/>
      </p:nvGrpSpPr>
      <p:grpSpPr>
        <a:xfrm>
          <a:off x="0" y="0"/>
          <a:ext cx="0" cy="0"/>
          <a:chOff x="0" y="0"/>
          <a:chExt cx="0" cy="0"/>
        </a:xfrm>
      </p:grpSpPr>
      <p:sp>
        <p:nvSpPr>
          <p:cNvPr id="5"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8"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a:xfrm>
            <a:off x="609600" y="304800"/>
            <a:ext cx="7772400" cy="1143000"/>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838200" y="1905000"/>
            <a:ext cx="3810000" cy="4114800"/>
          </a:xfrm>
        </p:spPr>
        <p:txBody>
          <a:bodyPr>
            <a:normAutofit/>
          </a:bodyPr>
          <a:lstStyle/>
          <a:p>
            <a:pPr lvl="0"/>
            <a:endParaRPr lang="en-US" noProof="0"/>
          </a:p>
        </p:txBody>
      </p:sp>
      <p:sp>
        <p:nvSpPr>
          <p:cNvPr id="4" name="Text Placeholder 3"/>
          <p:cNvSpPr>
            <a:spLocks noGrp="1"/>
          </p:cNvSpPr>
          <p:nvPr>
            <p:ph type="body" sz="half" idx="2"/>
          </p:nvPr>
        </p:nvSpPr>
        <p:spPr>
          <a:xfrm>
            <a:off x="4800600" y="19050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Date Placeholder 4"/>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10" name="Footer Placeholder 5"/>
          <p:cNvSpPr>
            <a:spLocks noGrp="1"/>
          </p:cNvSpPr>
          <p:nvPr>
            <p:ph type="ftr" sz="quarter" idx="11"/>
          </p:nvPr>
        </p:nvSpPr>
        <p:spPr>
          <a:xfrm>
            <a:off x="2133600" y="6324600"/>
            <a:ext cx="4953000" cy="304800"/>
          </a:xfrm>
        </p:spPr>
        <p:txBody>
          <a:bodyPr/>
          <a:lstStyle>
            <a:lvl1pPr>
              <a:defRPr smtClean="0"/>
            </a:lvl1pPr>
          </a:lstStyle>
          <a:p>
            <a:pPr>
              <a:defRPr/>
            </a:pPr>
            <a:r>
              <a:rPr lang="en-US" dirty="0" smtClean="0"/>
              <a:t>Copyright © 2015 Pearson Education, Inc. Publishing as Prentice Hall</a:t>
            </a:r>
            <a:endParaRPr lang="en-US" dirty="0"/>
          </a:p>
        </p:txBody>
      </p:sp>
      <p:sp>
        <p:nvSpPr>
          <p:cNvPr id="11" name="Slide Number Placeholder 6"/>
          <p:cNvSpPr>
            <a:spLocks noGrp="1"/>
          </p:cNvSpPr>
          <p:nvPr>
            <p:ph type="sldNum" sz="quarter" idx="12"/>
          </p:nvPr>
        </p:nvSpPr>
        <p:spPr>
          <a:xfrm>
            <a:off x="6553200" y="6248400"/>
            <a:ext cx="1905000" cy="457200"/>
          </a:xfrm>
        </p:spPr>
        <p:txBody>
          <a:bodyPr/>
          <a:lstStyle>
            <a:lvl1pPr>
              <a:defRPr/>
            </a:lvl1pPr>
          </a:lstStyle>
          <a:p>
            <a:pPr>
              <a:defRPr/>
            </a:pPr>
            <a:fld id="{35795431-07D5-407E-8058-EDD02B582210}"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8288"/>
            <a:ext cx="8229600" cy="1398587"/>
          </a:xfrm>
          <a:prstGeom prst="rect">
            <a:avLst/>
          </a:prstGeom>
        </p:spPr>
        <p:txBody>
          <a:bodyPr vert="horz" anchor="ctr">
            <a:normAutofit/>
          </a:bodyPr>
          <a:lstStyle/>
          <a:p>
            <a:r>
              <a:rPr lang="en-US" smtClean="0"/>
              <a:t>Click to edit Master title style</a:t>
            </a:r>
            <a:endParaRPr lang="en-US"/>
          </a:p>
        </p:txBody>
      </p:sp>
      <p:sp>
        <p:nvSpPr>
          <p:cNvPr id="13" name="Text Placeholder 12"/>
          <p:cNvSpPr>
            <a:spLocks noGrp="1"/>
          </p:cNvSpPr>
          <p:nvPr>
            <p:ph type="body" idx="1"/>
          </p:nvPr>
        </p:nvSpPr>
        <p:spPr bwMode="auto">
          <a:xfrm>
            <a:off x="457200" y="1882775"/>
            <a:ext cx="82296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4791075" y="6481763"/>
            <a:ext cx="2133600" cy="301625"/>
          </a:xfrm>
          <a:prstGeom prst="rect">
            <a:avLst/>
          </a:prstGeom>
        </p:spPr>
        <p:txBody>
          <a:bodyPr vert="horz" anchor="b"/>
          <a:lstStyle>
            <a:lvl1pPr algn="l" eaLnBrk="1" latinLnBrk="0" hangingPunct="1">
              <a:defRPr kumimoji="0" sz="1000" b="0">
                <a:solidFill>
                  <a:schemeClr val="tx1"/>
                </a:solidFill>
                <a:cs typeface="+mn-cs"/>
              </a:defRPr>
            </a:lvl1pPr>
          </a:lstStyle>
          <a:p>
            <a:pPr>
              <a:defRPr/>
            </a:pPr>
            <a:endParaRPr lang="en-US"/>
          </a:p>
        </p:txBody>
      </p:sp>
      <p:sp>
        <p:nvSpPr>
          <p:cNvPr id="3" name="Footer Placeholder 2"/>
          <p:cNvSpPr>
            <a:spLocks noGrp="1"/>
          </p:cNvSpPr>
          <p:nvPr>
            <p:ph type="ftr" sz="quarter" idx="3"/>
          </p:nvPr>
        </p:nvSpPr>
        <p:spPr>
          <a:xfrm>
            <a:off x="457200" y="6481763"/>
            <a:ext cx="4259263" cy="301625"/>
          </a:xfrm>
          <a:prstGeom prst="rect">
            <a:avLst/>
          </a:prstGeom>
        </p:spPr>
        <p:txBody>
          <a:bodyPr vert="horz" anchor="b"/>
          <a:lstStyle>
            <a:lvl1pPr algn="r" eaLnBrk="1" latinLnBrk="0" hangingPunct="1">
              <a:defRPr kumimoji="0" sz="1000" smtClean="0">
                <a:solidFill>
                  <a:schemeClr val="tx1"/>
                </a:solidFill>
                <a:cs typeface="+mn-cs"/>
              </a:defRPr>
            </a:lvl1pPr>
          </a:lstStyle>
          <a:p>
            <a:pPr>
              <a:defRPr/>
            </a:pPr>
            <a:r>
              <a:rPr lang="en-US" dirty="0" smtClean="0"/>
              <a:t>Copyright © 2015 Pearson Education, Inc. Publishing as Prentice Hall</a:t>
            </a:r>
            <a:endParaRPr lang="en-US" dirty="0"/>
          </a:p>
        </p:txBody>
      </p:sp>
      <p:sp>
        <p:nvSpPr>
          <p:cNvPr id="23" name="Slide Number Placeholder 22"/>
          <p:cNvSpPr>
            <a:spLocks noGrp="1"/>
          </p:cNvSpPr>
          <p:nvPr>
            <p:ph type="sldNum" sz="quarter" idx="4"/>
          </p:nvPr>
        </p:nvSpPr>
        <p:spPr>
          <a:xfrm>
            <a:off x="7589838" y="6481763"/>
            <a:ext cx="503237" cy="301625"/>
          </a:xfrm>
          <a:prstGeom prst="rect">
            <a:avLst/>
          </a:prstGeom>
        </p:spPr>
        <p:txBody>
          <a:bodyPr vert="horz" anchor="b"/>
          <a:lstStyle>
            <a:lvl1pPr algn="ctr" eaLnBrk="1" latinLnBrk="0" hangingPunct="1">
              <a:defRPr kumimoji="0" sz="1200" smtClean="0">
                <a:solidFill>
                  <a:schemeClr val="tx1"/>
                </a:solidFill>
                <a:cs typeface="+mn-cs"/>
              </a:defRPr>
            </a:lvl1pPr>
          </a:lstStyle>
          <a:p>
            <a:pPr>
              <a:defRPr/>
            </a:pPr>
            <a:fld id="{2F2F3816-9E4F-41F1-8794-65C2E9C9D510}" type="slidenum">
              <a:rPr lang="en-US"/>
              <a:pPr>
                <a:defRPr/>
              </a:pPr>
              <a:t>‹#›</a:t>
            </a:fld>
            <a:endParaRPr lang="en-US"/>
          </a:p>
        </p:txBody>
      </p:sp>
      <p:sp>
        <p:nvSpPr>
          <p:cNvPr id="15"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57" r:id="rId6"/>
    <p:sldLayoutId id="2147483658" r:id="rId7"/>
    <p:sldLayoutId id="2147483666" r:id="rId8"/>
    <p:sldLayoutId id="2147483667" r:id="rId9"/>
    <p:sldLayoutId id="2147483659" r:id="rId10"/>
    <p:sldLayoutId id="2147483660" r:id="rId11"/>
    <p:sldLayoutId id="2147483668" r:id="rId12"/>
  </p:sldLayoutIdLst>
  <p:transition>
    <p:zoom/>
  </p:transition>
  <p:timing>
    <p:tnLst>
      <p:par>
        <p:cTn id="1" dur="indefinite" restart="never" nodeType="tmRoot"/>
      </p:par>
    </p:tnLst>
  </p:timing>
  <p:hf sldNum="0" hdr="0" dt="0"/>
  <p:txStyles>
    <p:titleStyle>
      <a:lvl1pPr marL="484188" algn="l" rtl="0" fontAlgn="base">
        <a:spcBef>
          <a:spcPct val="0"/>
        </a:spcBef>
        <a:spcAft>
          <a:spcPct val="0"/>
        </a:spcAft>
        <a:defRPr sz="4200" kern="1200">
          <a:ln w="6350">
            <a:solidFill>
              <a:schemeClr val="accent1">
                <a:shade val="43000"/>
              </a:schemeClr>
            </a:solidFill>
          </a:ln>
          <a:solidFill>
            <a:srgbClr val="FF5C9C"/>
          </a:solidFill>
          <a:effectLst>
            <a:outerShdw blurRad="26000" dist="26000" dir="14500000" algn="tl" rotWithShape="0">
              <a:srgbClr val="000000">
                <a:alpha val="40000"/>
              </a:srgbClr>
            </a:outerShdw>
          </a:effectLst>
          <a:latin typeface="+mj-lt"/>
          <a:ea typeface="+mj-ea"/>
          <a:cs typeface="+mj-cs"/>
        </a:defRPr>
      </a:lvl1pPr>
      <a:lvl2pPr marL="484188" algn="l" rtl="0" fontAlgn="base">
        <a:spcBef>
          <a:spcPct val="0"/>
        </a:spcBef>
        <a:spcAft>
          <a:spcPct val="0"/>
        </a:spcAft>
        <a:defRPr sz="4200">
          <a:solidFill>
            <a:srgbClr val="FF5C9C"/>
          </a:solidFill>
          <a:latin typeface="Century Gothic" pitchFamily="34" charset="0"/>
        </a:defRPr>
      </a:lvl2pPr>
      <a:lvl3pPr marL="484188" algn="l" rtl="0" fontAlgn="base">
        <a:spcBef>
          <a:spcPct val="0"/>
        </a:spcBef>
        <a:spcAft>
          <a:spcPct val="0"/>
        </a:spcAft>
        <a:defRPr sz="4200">
          <a:solidFill>
            <a:srgbClr val="FF5C9C"/>
          </a:solidFill>
          <a:latin typeface="Century Gothic" pitchFamily="34" charset="0"/>
        </a:defRPr>
      </a:lvl3pPr>
      <a:lvl4pPr marL="484188" algn="l" rtl="0" fontAlgn="base">
        <a:spcBef>
          <a:spcPct val="0"/>
        </a:spcBef>
        <a:spcAft>
          <a:spcPct val="0"/>
        </a:spcAft>
        <a:defRPr sz="4200">
          <a:solidFill>
            <a:srgbClr val="FF5C9C"/>
          </a:solidFill>
          <a:latin typeface="Century Gothic" pitchFamily="34" charset="0"/>
        </a:defRPr>
      </a:lvl4pPr>
      <a:lvl5pPr marL="484188" algn="l" rtl="0" fontAlgn="base">
        <a:spcBef>
          <a:spcPct val="0"/>
        </a:spcBef>
        <a:spcAft>
          <a:spcPct val="0"/>
        </a:spcAft>
        <a:defRPr sz="4200">
          <a:solidFill>
            <a:srgbClr val="FF5C9C"/>
          </a:solidFill>
          <a:latin typeface="Century Gothic" pitchFamily="34" charset="0"/>
        </a:defRPr>
      </a:lvl5pPr>
      <a:lvl6pPr marL="941388" algn="l" rtl="0" fontAlgn="base">
        <a:spcBef>
          <a:spcPct val="0"/>
        </a:spcBef>
        <a:spcAft>
          <a:spcPct val="0"/>
        </a:spcAft>
        <a:defRPr sz="4200">
          <a:solidFill>
            <a:srgbClr val="FF5C9C"/>
          </a:solidFill>
          <a:latin typeface="Century Gothic" pitchFamily="34" charset="0"/>
        </a:defRPr>
      </a:lvl6pPr>
      <a:lvl7pPr marL="1398588" algn="l" rtl="0" fontAlgn="base">
        <a:spcBef>
          <a:spcPct val="0"/>
        </a:spcBef>
        <a:spcAft>
          <a:spcPct val="0"/>
        </a:spcAft>
        <a:defRPr sz="4200">
          <a:solidFill>
            <a:srgbClr val="FF5C9C"/>
          </a:solidFill>
          <a:latin typeface="Century Gothic" pitchFamily="34" charset="0"/>
        </a:defRPr>
      </a:lvl7pPr>
      <a:lvl8pPr marL="1855788" algn="l" rtl="0" fontAlgn="base">
        <a:spcBef>
          <a:spcPct val="0"/>
        </a:spcBef>
        <a:spcAft>
          <a:spcPct val="0"/>
        </a:spcAft>
        <a:defRPr sz="4200">
          <a:solidFill>
            <a:srgbClr val="FF5C9C"/>
          </a:solidFill>
          <a:latin typeface="Century Gothic" pitchFamily="34" charset="0"/>
        </a:defRPr>
      </a:lvl8pPr>
      <a:lvl9pPr marL="2312988" algn="l" rtl="0" fontAlgn="base">
        <a:spcBef>
          <a:spcPct val="0"/>
        </a:spcBef>
        <a:spcAft>
          <a:spcPct val="0"/>
        </a:spcAft>
        <a:defRPr sz="4200">
          <a:solidFill>
            <a:srgbClr val="FF5C9C"/>
          </a:solidFill>
          <a:latin typeface="Century Gothic" pitchFamily="34" charset="0"/>
        </a:defRPr>
      </a:lvl9pPr>
    </p:titleStyle>
    <p:bodyStyle>
      <a:lvl1pPr marL="447675" indent="-382588" algn="l" rtl="0" fontAlgn="base">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822325" indent="-285750" algn="l" rtl="0" fontAlgn="base">
        <a:spcBef>
          <a:spcPct val="20000"/>
        </a:spcBef>
        <a:spcAft>
          <a:spcPct val="0"/>
        </a:spcAft>
        <a:buClr>
          <a:schemeClr val="accent1"/>
        </a:buClr>
        <a:buSzPct val="95000"/>
        <a:buFont typeface="Verdana" pitchFamily="34" charset="0"/>
        <a:buChar char="›"/>
        <a:defRPr sz="2600" kern="1200">
          <a:solidFill>
            <a:schemeClr val="tx1"/>
          </a:solidFill>
          <a:latin typeface="+mn-lt"/>
          <a:ea typeface="+mn-ea"/>
          <a:cs typeface="+mn-cs"/>
        </a:defRPr>
      </a:lvl2pPr>
      <a:lvl3pPr marL="1104900" indent="-228600" algn="l" rtl="0" fontAlgn="base">
        <a:spcBef>
          <a:spcPct val="20000"/>
        </a:spcBef>
        <a:spcAft>
          <a:spcPct val="0"/>
        </a:spcAft>
        <a:buClr>
          <a:schemeClr val="accent1"/>
        </a:buClr>
        <a:buFont typeface="Wingdings 2" pitchFamily="18" charset="2"/>
        <a:buChar char=""/>
        <a:defRPr sz="2400" kern="1200">
          <a:solidFill>
            <a:schemeClr val="tx1"/>
          </a:solidFill>
          <a:latin typeface="+mn-lt"/>
          <a:ea typeface="+mn-ea"/>
          <a:cs typeface="+mn-cs"/>
        </a:defRPr>
      </a:lvl3pPr>
      <a:lvl4pPr marL="1371600" indent="-209550" algn="l" rtl="0" fontAlgn="base">
        <a:spcBef>
          <a:spcPct val="20000"/>
        </a:spcBef>
        <a:spcAft>
          <a:spcPct val="0"/>
        </a:spcAft>
        <a:buClr>
          <a:schemeClr val="accent1"/>
        </a:buClr>
        <a:buFont typeface="Wingdings 2" pitchFamily="18" charset="2"/>
        <a:buChar char=""/>
        <a:defRPr sz="2000" kern="1200">
          <a:solidFill>
            <a:schemeClr val="tx1"/>
          </a:solidFill>
          <a:latin typeface="+mn-lt"/>
          <a:ea typeface="+mn-ea"/>
          <a:cs typeface="+mn-cs"/>
        </a:defRPr>
      </a:lvl4pPr>
      <a:lvl5pPr marL="1600200" indent="-209550" algn="l" rtl="0" fontAlgn="base">
        <a:spcBef>
          <a:spcPct val="20000"/>
        </a:spcBef>
        <a:spcAft>
          <a:spcPct val="0"/>
        </a:spcAft>
        <a:buClr>
          <a:srgbClr val="FF90B2"/>
        </a:buClr>
        <a:buFont typeface="Wingdings 2" pitchFamily="18" charset="2"/>
        <a:buChar char=""/>
        <a:defRPr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ctrTitle"/>
          </p:nvPr>
        </p:nvSpPr>
        <p:spPr>
          <a:xfrm>
            <a:off x="914400" y="1143000"/>
            <a:ext cx="7772400" cy="1981200"/>
          </a:xfrm>
        </p:spPr>
        <p:txBody>
          <a:bodyPr>
            <a:normAutofit fontScale="90000"/>
          </a:bodyPr>
          <a:lstStyle/>
          <a:p>
            <a:pPr marL="484632" fontAlgn="auto">
              <a:spcAft>
                <a:spcPts val="0"/>
              </a:spcAft>
              <a:defRPr/>
            </a:pPr>
            <a:r>
              <a:rPr lang="en-US" sz="4000" b="1" dirty="0">
                <a:solidFill>
                  <a:schemeClr val="accent1">
                    <a:tint val="83000"/>
                    <a:satMod val="150000"/>
                  </a:schemeClr>
                </a:solidFill>
              </a:rPr>
              <a:t>Essentials of</a:t>
            </a:r>
            <a:br>
              <a:rPr lang="en-US" sz="4000" b="1" dirty="0">
                <a:solidFill>
                  <a:schemeClr val="accent1">
                    <a:tint val="83000"/>
                    <a:satMod val="150000"/>
                  </a:schemeClr>
                </a:solidFill>
              </a:rPr>
            </a:br>
            <a:r>
              <a:rPr lang="en-US" sz="4000" b="1" dirty="0">
                <a:solidFill>
                  <a:schemeClr val="accent1">
                    <a:tint val="83000"/>
                    <a:satMod val="150000"/>
                  </a:schemeClr>
                </a:solidFill>
              </a:rPr>
              <a:t>Systems Analysis and Design</a:t>
            </a:r>
            <a:br>
              <a:rPr lang="en-US" sz="4000" b="1" dirty="0">
                <a:solidFill>
                  <a:schemeClr val="accent1">
                    <a:tint val="83000"/>
                    <a:satMod val="150000"/>
                  </a:schemeClr>
                </a:solidFill>
              </a:rPr>
            </a:br>
            <a:r>
              <a:rPr lang="en-US" sz="3600" b="1" dirty="0" smtClean="0">
                <a:solidFill>
                  <a:schemeClr val="accent1">
                    <a:tint val="83000"/>
                    <a:satMod val="150000"/>
                  </a:schemeClr>
                </a:solidFill>
              </a:rPr>
              <a:t>Sixth </a:t>
            </a:r>
            <a:r>
              <a:rPr lang="en-US" sz="3600" b="1" dirty="0">
                <a:solidFill>
                  <a:schemeClr val="accent1">
                    <a:tint val="83000"/>
                    <a:satMod val="150000"/>
                  </a:schemeClr>
                </a:solidFill>
              </a:rPr>
              <a:t>Edition</a:t>
            </a:r>
            <a:br>
              <a:rPr lang="en-US" sz="3600" b="1" dirty="0">
                <a:solidFill>
                  <a:schemeClr val="accent1">
                    <a:tint val="83000"/>
                    <a:satMod val="150000"/>
                  </a:schemeClr>
                </a:solidFill>
              </a:rPr>
            </a:br>
            <a:r>
              <a:rPr lang="en-US" sz="3600" b="1" dirty="0">
                <a:solidFill>
                  <a:schemeClr val="accent1">
                    <a:tint val="83000"/>
                    <a:satMod val="150000"/>
                  </a:schemeClr>
                </a:solidFill>
              </a:rPr>
              <a:t> </a:t>
            </a:r>
            <a:r>
              <a:rPr lang="en-US" sz="2800" b="1" dirty="0">
                <a:solidFill>
                  <a:schemeClr val="accent1">
                    <a:tint val="83000"/>
                    <a:satMod val="150000"/>
                  </a:schemeClr>
                </a:solidFill>
              </a:rPr>
              <a:t>Joseph S. </a:t>
            </a:r>
            <a:r>
              <a:rPr lang="en-US" sz="2800" b="1" dirty="0" err="1">
                <a:solidFill>
                  <a:schemeClr val="accent1">
                    <a:tint val="83000"/>
                    <a:satMod val="150000"/>
                  </a:schemeClr>
                </a:solidFill>
              </a:rPr>
              <a:t>Valacich</a:t>
            </a:r>
            <a:r>
              <a:rPr lang="en-US" sz="2800" b="1" dirty="0">
                <a:solidFill>
                  <a:schemeClr val="accent1">
                    <a:tint val="83000"/>
                    <a:satMod val="150000"/>
                  </a:schemeClr>
                </a:solidFill>
              </a:rPr>
              <a:t/>
            </a:r>
            <a:br>
              <a:rPr lang="en-US" sz="2800" b="1" dirty="0">
                <a:solidFill>
                  <a:schemeClr val="accent1">
                    <a:tint val="83000"/>
                    <a:satMod val="150000"/>
                  </a:schemeClr>
                </a:solidFill>
              </a:rPr>
            </a:br>
            <a:r>
              <a:rPr lang="en-US" sz="2800" b="1" dirty="0">
                <a:solidFill>
                  <a:schemeClr val="accent1">
                    <a:tint val="83000"/>
                    <a:satMod val="150000"/>
                  </a:schemeClr>
                </a:solidFill>
              </a:rPr>
              <a:t>Joey F. George</a:t>
            </a:r>
            <a:br>
              <a:rPr lang="en-US" sz="2800" b="1" dirty="0">
                <a:solidFill>
                  <a:schemeClr val="accent1">
                    <a:tint val="83000"/>
                    <a:satMod val="150000"/>
                  </a:schemeClr>
                </a:solidFill>
              </a:rPr>
            </a:br>
            <a:r>
              <a:rPr lang="en-US" sz="2800" b="1" dirty="0">
                <a:solidFill>
                  <a:schemeClr val="accent1">
                    <a:tint val="83000"/>
                    <a:satMod val="150000"/>
                  </a:schemeClr>
                </a:solidFill>
              </a:rPr>
              <a:t>Jeffrey A. Hoffer </a:t>
            </a:r>
          </a:p>
        </p:txBody>
      </p:sp>
      <p:sp>
        <p:nvSpPr>
          <p:cNvPr id="259075" name="Rectangle 3" descr="Rectangle: Click to edit Master text styles&#10;Second level&#10;Third level&#10;Fourth level&#10;Fifth level"/>
          <p:cNvSpPr>
            <a:spLocks noGrp="1" noChangeArrowheads="1"/>
          </p:cNvSpPr>
          <p:nvPr>
            <p:ph type="subTitle" idx="1"/>
          </p:nvPr>
        </p:nvSpPr>
        <p:spPr>
          <a:xfrm>
            <a:off x="1066800" y="3505200"/>
            <a:ext cx="7086600" cy="1600200"/>
          </a:xfrm>
        </p:spPr>
        <p:txBody>
          <a:bodyPr>
            <a:normAutofit/>
          </a:bodyPr>
          <a:lstStyle/>
          <a:p>
            <a:pPr algn="ctr" fontAlgn="auto">
              <a:spcAft>
                <a:spcPts val="0"/>
              </a:spcAft>
              <a:buFont typeface="Wingdings 2"/>
              <a:buNone/>
              <a:defRPr/>
            </a:pPr>
            <a:r>
              <a:rPr lang="en-US" sz="3600" b="1"/>
              <a:t>Chapter 6 </a:t>
            </a:r>
          </a:p>
          <a:p>
            <a:pPr algn="ctr" fontAlgn="auto">
              <a:spcAft>
                <a:spcPts val="0"/>
              </a:spcAft>
              <a:buFont typeface="Wingdings 2"/>
              <a:buNone/>
              <a:defRPr/>
            </a:pPr>
            <a:r>
              <a:rPr lang="en-US" b="1"/>
              <a:t>Structuring System Requirements:</a:t>
            </a:r>
          </a:p>
          <a:p>
            <a:pPr algn="ctr" fontAlgn="auto">
              <a:spcAft>
                <a:spcPts val="0"/>
              </a:spcAft>
              <a:buFont typeface="Wingdings 2"/>
              <a:buNone/>
              <a:defRPr/>
            </a:pPr>
            <a:r>
              <a:rPr lang="en-US" b="1"/>
              <a:t>Process Modeling</a:t>
            </a:r>
          </a:p>
        </p:txBody>
      </p:sp>
      <p:sp>
        <p:nvSpPr>
          <p:cNvPr id="16387" name="Rectangle 5"/>
          <p:cNvSpPr>
            <a:spLocks noGrp="1" noChangeArrowheads="1"/>
          </p:cNvSpPr>
          <p:nvPr>
            <p:ph type="ftr" sz="quarter" idx="11"/>
          </p:nvPr>
        </p:nvSpPr>
        <p:spPr bwMode="auto">
          <a:noFill/>
          <a:ln>
            <a:miter lim="800000"/>
            <a:headEnd/>
            <a:tailEnd/>
          </a:ln>
        </p:spPr>
        <p:txBody>
          <a:bodyPr wrap="square" lIns="91440" rIns="9144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907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r>
              <a:rPr lang="en-US" sz="1600">
                <a:solidFill>
                  <a:schemeClr val="tx1"/>
                </a:solidFill>
                <a:cs typeface="+mn-cs"/>
              </a:rPr>
              <a:t>6.1</a:t>
            </a:r>
          </a:p>
        </p:txBody>
      </p:sp>
    </p:spTree>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Learning Objectives</a:t>
            </a:r>
          </a:p>
        </p:txBody>
      </p:sp>
      <p:sp>
        <p:nvSpPr>
          <p:cNvPr id="1843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buClr>
                <a:srgbClr val="BA2212"/>
              </a:buClr>
              <a:buFont typeface="Wingdings" pitchFamily="2" charset="2"/>
              <a:buChar char="ü"/>
            </a:pPr>
            <a:r>
              <a:rPr lang="en-US" smtClean="0"/>
              <a:t>Explain process modeling</a:t>
            </a:r>
          </a:p>
          <a:p>
            <a:pPr>
              <a:lnSpc>
                <a:spcPct val="90000"/>
              </a:lnSpc>
              <a:buClr>
                <a:srgbClr val="BA2212"/>
              </a:buClr>
              <a:buFont typeface="Wingdings" pitchFamily="2" charset="2"/>
              <a:buChar char="ü"/>
            </a:pPr>
            <a:r>
              <a:rPr lang="en-US" smtClean="0"/>
              <a:t>Discuss data-flow diagramming mechanics, definitions, and rules </a:t>
            </a:r>
          </a:p>
          <a:p>
            <a:pPr>
              <a:lnSpc>
                <a:spcPct val="90000"/>
              </a:lnSpc>
              <a:buClr>
                <a:srgbClr val="BA2212"/>
              </a:buClr>
              <a:buFont typeface="Wingdings" pitchFamily="2" charset="2"/>
              <a:buChar char="ü"/>
            </a:pPr>
            <a:r>
              <a:rPr lang="en-US" smtClean="0"/>
              <a:t>Discuss balancing data-flow diagrams</a:t>
            </a:r>
          </a:p>
          <a:p>
            <a:pPr>
              <a:lnSpc>
                <a:spcPct val="90000"/>
              </a:lnSpc>
              <a:buClr>
                <a:srgbClr val="BA2212"/>
              </a:buClr>
              <a:buFont typeface="Wingdings" pitchFamily="2" charset="2"/>
              <a:buChar char="ü"/>
            </a:pPr>
            <a:r>
              <a:rPr lang="en-US" smtClean="0"/>
              <a:t>Discuss the use of data-flow diagrams as analysis tools </a:t>
            </a:r>
          </a:p>
          <a:p>
            <a:pPr>
              <a:lnSpc>
                <a:spcPct val="90000"/>
              </a:lnSpc>
              <a:buClr>
                <a:srgbClr val="BA2212"/>
              </a:buClr>
              <a:buFont typeface="Wingdings" pitchFamily="2" charset="2"/>
              <a:buChar char="ü"/>
            </a:pPr>
            <a:r>
              <a:rPr lang="en-US" smtClean="0"/>
              <a:t>Examine decision tables used to represent process logic</a:t>
            </a:r>
          </a:p>
        </p:txBody>
      </p:sp>
      <p:sp>
        <p:nvSpPr>
          <p:cNvPr id="1843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02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6.2</a:t>
            </a:r>
          </a:p>
        </p:txBody>
      </p:sp>
    </p:spTree>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Process Modeling</a:t>
            </a:r>
          </a:p>
        </p:txBody>
      </p:sp>
      <p:sp>
        <p:nvSpPr>
          <p:cNvPr id="1945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mtClean="0"/>
              <a:t>Graphically represents the processes that capture, manipulate, store, and distribute data between a system and its environment and among system components</a:t>
            </a:r>
          </a:p>
          <a:p>
            <a:pPr>
              <a:lnSpc>
                <a:spcPct val="90000"/>
              </a:lnSpc>
            </a:pPr>
            <a:r>
              <a:rPr lang="en-US" smtClean="0"/>
              <a:t>Data-flow Diagrams (DFD)</a:t>
            </a:r>
          </a:p>
          <a:p>
            <a:pPr lvl="1">
              <a:lnSpc>
                <a:spcPct val="90000"/>
              </a:lnSpc>
            </a:pPr>
            <a:r>
              <a:rPr lang="en-US" smtClean="0"/>
              <a:t>Graphically illustrate movement of data between external entities and the processes and data stores within a system</a:t>
            </a:r>
          </a:p>
        </p:txBody>
      </p:sp>
      <p:sp>
        <p:nvSpPr>
          <p:cNvPr id="194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89445"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A71C123B-AF6D-479E-9CBA-88B1D3405BC8}" type="slidenum">
              <a:rPr lang="en-US" sz="1600">
                <a:solidFill>
                  <a:schemeClr val="tx1"/>
                </a:solidFill>
                <a:cs typeface="+mn-cs"/>
              </a:rPr>
              <a:pPr algn="ctr" eaLnBrk="0" hangingPunct="0">
                <a:defRPr/>
              </a:pPr>
              <a:t>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Process Modeling (continued)</a:t>
            </a:r>
          </a:p>
        </p:txBody>
      </p:sp>
      <p:sp>
        <p:nvSpPr>
          <p:cNvPr id="2048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Modeling a System’s Process</a:t>
            </a:r>
          </a:p>
          <a:p>
            <a:pPr lvl="1"/>
            <a:r>
              <a:rPr lang="en-US" smtClean="0"/>
              <a:t>Utilize information gathered during requirements determination</a:t>
            </a:r>
          </a:p>
          <a:p>
            <a:pPr lvl="1"/>
            <a:r>
              <a:rPr lang="en-US" smtClean="0"/>
              <a:t>Structure of the data is also modeled in addition to the processes</a:t>
            </a:r>
          </a:p>
          <a:p>
            <a:r>
              <a:rPr lang="en-US" smtClean="0"/>
              <a:t>Deliverables and Outcomes</a:t>
            </a:r>
          </a:p>
          <a:p>
            <a:pPr lvl="1"/>
            <a:r>
              <a:rPr lang="en-US" smtClean="0"/>
              <a:t>Set of coherent, interrelated data-flow diagrams</a:t>
            </a:r>
          </a:p>
        </p:txBody>
      </p:sp>
      <p:sp>
        <p:nvSpPr>
          <p:cNvPr id="2048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0469"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01781206-0CFF-4DC5-8BCE-B80E0670EBDC}" type="slidenum">
              <a:rPr lang="en-US" sz="1600">
                <a:solidFill>
                  <a:schemeClr val="tx1"/>
                </a:solidFill>
                <a:cs typeface="+mn-cs"/>
              </a:rPr>
              <a:pPr algn="ctr" eaLnBrk="0" hangingPunct="0">
                <a:defRPr/>
              </a:pPr>
              <a:t>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Process Modeling (continued)</a:t>
            </a:r>
          </a:p>
        </p:txBody>
      </p:sp>
      <p:sp>
        <p:nvSpPr>
          <p:cNvPr id="2150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mtClean="0"/>
              <a:t>Deliverables and Outcomes (continued)</a:t>
            </a:r>
          </a:p>
          <a:p>
            <a:pPr lvl="1">
              <a:lnSpc>
                <a:spcPct val="90000"/>
              </a:lnSpc>
            </a:pPr>
            <a:r>
              <a:rPr lang="en-US" smtClean="0"/>
              <a:t>Context data-flow diagram (DFD)</a:t>
            </a:r>
          </a:p>
          <a:p>
            <a:pPr lvl="2">
              <a:lnSpc>
                <a:spcPct val="90000"/>
              </a:lnSpc>
            </a:pPr>
            <a:r>
              <a:rPr lang="en-US" smtClean="0"/>
              <a:t>Scope of system</a:t>
            </a:r>
          </a:p>
          <a:p>
            <a:pPr lvl="1">
              <a:lnSpc>
                <a:spcPct val="90000"/>
              </a:lnSpc>
            </a:pPr>
            <a:r>
              <a:rPr lang="en-US" smtClean="0"/>
              <a:t>DFDs of current system</a:t>
            </a:r>
          </a:p>
          <a:p>
            <a:pPr lvl="2">
              <a:lnSpc>
                <a:spcPct val="90000"/>
              </a:lnSpc>
            </a:pPr>
            <a:r>
              <a:rPr lang="en-US" smtClean="0"/>
              <a:t>Enable analysts to understand current system</a:t>
            </a:r>
          </a:p>
          <a:p>
            <a:pPr lvl="1">
              <a:lnSpc>
                <a:spcPct val="90000"/>
              </a:lnSpc>
            </a:pPr>
            <a:r>
              <a:rPr lang="en-US" smtClean="0"/>
              <a:t>DFDs of new logical system</a:t>
            </a:r>
          </a:p>
          <a:p>
            <a:pPr lvl="2">
              <a:lnSpc>
                <a:spcPct val="90000"/>
              </a:lnSpc>
            </a:pPr>
            <a:r>
              <a:rPr lang="en-US" smtClean="0"/>
              <a:t>Technology independent</a:t>
            </a:r>
          </a:p>
          <a:p>
            <a:pPr lvl="2">
              <a:lnSpc>
                <a:spcPct val="90000"/>
              </a:lnSpc>
            </a:pPr>
            <a:r>
              <a:rPr lang="en-US" smtClean="0"/>
              <a:t>Show data flows, structure and functional requirements of new system</a:t>
            </a:r>
          </a:p>
        </p:txBody>
      </p:sp>
      <p:sp>
        <p:nvSpPr>
          <p:cNvPr id="2150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149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E3CD98D5-A519-43BF-84B5-AD49384116EF}" type="slidenum">
              <a:rPr lang="en-US" sz="1600">
                <a:solidFill>
                  <a:schemeClr val="tx1"/>
                </a:solidFill>
                <a:cs typeface="+mn-cs"/>
              </a:rPr>
              <a:pPr algn="ctr" eaLnBrk="0" hangingPunct="0">
                <a:defRPr/>
              </a:pPr>
              <a:t>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Process Modeling (continued)</a:t>
            </a:r>
          </a:p>
        </p:txBody>
      </p:sp>
      <p:sp>
        <p:nvSpPr>
          <p:cNvPr id="2253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dirty="0" smtClean="0"/>
              <a:t>Deliverables and Outcomes (continued)</a:t>
            </a:r>
          </a:p>
          <a:p>
            <a:pPr lvl="1"/>
            <a:r>
              <a:rPr lang="en-US" dirty="0" smtClean="0"/>
              <a:t>Project dictionary and CASE repository</a:t>
            </a:r>
          </a:p>
          <a:p>
            <a:r>
              <a:rPr lang="en-US" dirty="0" smtClean="0"/>
              <a:t>Data-flow Diagramming Mechanics</a:t>
            </a:r>
          </a:p>
          <a:p>
            <a:pPr lvl="1"/>
            <a:r>
              <a:rPr lang="en-US" dirty="0" smtClean="0"/>
              <a:t>Four symbols are used</a:t>
            </a:r>
          </a:p>
          <a:p>
            <a:pPr lvl="2"/>
            <a:r>
              <a:rPr lang="en-US" dirty="0" smtClean="0"/>
              <a:t>See Figure 6-3</a:t>
            </a:r>
          </a:p>
          <a:p>
            <a:pPr lvl="1"/>
            <a:r>
              <a:rPr lang="en-US" dirty="0" smtClean="0"/>
              <a:t>Developed by </a:t>
            </a:r>
            <a:r>
              <a:rPr lang="en-US" dirty="0" err="1" smtClean="0"/>
              <a:t>Gane</a:t>
            </a:r>
            <a:r>
              <a:rPr lang="en-US" dirty="0" smtClean="0"/>
              <a:t> and </a:t>
            </a:r>
            <a:r>
              <a:rPr lang="en-US" dirty="0" err="1" smtClean="0"/>
              <a:t>Sarson</a:t>
            </a:r>
            <a:endParaRPr lang="en-US" dirty="0" smtClean="0"/>
          </a:p>
          <a:p>
            <a:pPr lvl="1">
              <a:buFont typeface="Wingdings" pitchFamily="2" charset="2"/>
              <a:buNone/>
            </a:pPr>
            <a:endParaRPr lang="en-US" dirty="0" smtClean="0"/>
          </a:p>
          <a:p>
            <a:pPr lvl="1">
              <a:buFont typeface="Wingdings" pitchFamily="2" charset="2"/>
              <a:buNone/>
            </a:pPr>
            <a:endParaRPr lang="en-US" dirty="0" smtClean="0"/>
          </a:p>
        </p:txBody>
      </p:sp>
      <p:sp>
        <p:nvSpPr>
          <p:cNvPr id="2253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251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A543175F-3216-4671-BC54-6C7B58155147}" type="slidenum">
              <a:rPr lang="en-US" sz="1600">
                <a:solidFill>
                  <a:schemeClr val="tx1"/>
                </a:solidFill>
                <a:cs typeface="+mn-cs"/>
              </a:rPr>
              <a:pPr algn="ctr" eaLnBrk="0" hangingPunct="0">
                <a:defRPr/>
              </a:pPr>
              <a:t>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45763" name="Text Box 3"/>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F62DFA80-A143-4BDA-905F-29554EBC25D3}" type="slidenum">
              <a:rPr lang="en-US" sz="1600">
                <a:solidFill>
                  <a:schemeClr val="tx1"/>
                </a:solidFill>
                <a:cs typeface="+mn-cs"/>
              </a:rPr>
              <a:pPr algn="ctr" eaLnBrk="0" hangingPunct="0">
                <a:defRPr/>
              </a:pPr>
              <a:t>7</a:t>
            </a:fld>
            <a:endParaRPr lang="en-US" sz="1600">
              <a:solidFill>
                <a:schemeClr val="tx1"/>
              </a:solidFill>
              <a:cs typeface="+mn-cs"/>
            </a:endParaRPr>
          </a:p>
        </p:txBody>
      </p:sp>
      <p:pic>
        <p:nvPicPr>
          <p:cNvPr id="2" name="Picture 1"/>
          <p:cNvPicPr>
            <a:picLocks noChangeAspect="1"/>
          </p:cNvPicPr>
          <p:nvPr/>
        </p:nvPicPr>
        <p:blipFill>
          <a:blip r:embed="rId2"/>
          <a:stretch>
            <a:fillRect/>
          </a:stretch>
        </p:blipFill>
        <p:spPr>
          <a:xfrm>
            <a:off x="847725" y="1343025"/>
            <a:ext cx="7448550" cy="4171950"/>
          </a:xfrm>
          <a:prstGeom prst="rect">
            <a:avLst/>
          </a:prstGeom>
        </p:spPr>
      </p:pic>
    </p:spTree>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Data-Flow Diagramming Mechanics</a:t>
            </a:r>
          </a:p>
        </p:txBody>
      </p:sp>
      <p:sp>
        <p:nvSpPr>
          <p:cNvPr id="2457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Data Flow</a:t>
            </a:r>
          </a:p>
          <a:p>
            <a:pPr lvl="1"/>
            <a:r>
              <a:rPr lang="en-US" smtClean="0"/>
              <a:t>Depicts data that are in motion and moving as a unit from one place to another in the system</a:t>
            </a:r>
          </a:p>
          <a:p>
            <a:pPr lvl="1"/>
            <a:r>
              <a:rPr lang="en-US" smtClean="0"/>
              <a:t>Drawn as an arrow</a:t>
            </a:r>
          </a:p>
          <a:p>
            <a:pPr lvl="1"/>
            <a:r>
              <a:rPr lang="en-US" smtClean="0"/>
              <a:t>Select a meaningful name to represent the data</a:t>
            </a:r>
          </a:p>
          <a:p>
            <a:pPr lvl="1">
              <a:buFont typeface="Wingdings" pitchFamily="2" charset="2"/>
              <a:buNone/>
            </a:pPr>
            <a:endParaRPr lang="en-US" smtClean="0"/>
          </a:p>
        </p:txBody>
      </p:sp>
      <p:sp>
        <p:nvSpPr>
          <p:cNvPr id="2457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456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C026ACB1-EA25-4F2B-8613-BBE43458C54C}" type="slidenum">
              <a:rPr lang="en-US" sz="1600">
                <a:solidFill>
                  <a:schemeClr val="tx1"/>
                </a:solidFill>
                <a:cs typeface="+mn-cs"/>
              </a:rPr>
              <a:pPr algn="ctr" eaLnBrk="0" hangingPunct="0">
                <a:defRPr/>
              </a:pPr>
              <a:t>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Data-Flow Diagramming Mechanics (continued)</a:t>
            </a:r>
          </a:p>
        </p:txBody>
      </p:sp>
      <p:sp>
        <p:nvSpPr>
          <p:cNvPr id="2560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z="2800" smtClean="0"/>
              <a:t>Data Store</a:t>
            </a:r>
          </a:p>
          <a:p>
            <a:pPr lvl="1"/>
            <a:r>
              <a:rPr lang="en-US" sz="2400" smtClean="0"/>
              <a:t>Depicts data at rest</a:t>
            </a:r>
          </a:p>
          <a:p>
            <a:pPr lvl="1"/>
            <a:r>
              <a:rPr lang="en-US" sz="2400" smtClean="0"/>
              <a:t>May represent data in</a:t>
            </a:r>
          </a:p>
          <a:p>
            <a:pPr lvl="2"/>
            <a:r>
              <a:rPr lang="en-US" sz="2000" smtClean="0"/>
              <a:t>File folder</a:t>
            </a:r>
          </a:p>
          <a:p>
            <a:pPr lvl="2"/>
            <a:r>
              <a:rPr lang="en-US" sz="2000" smtClean="0"/>
              <a:t>Computer-based file</a:t>
            </a:r>
          </a:p>
          <a:p>
            <a:pPr lvl="2"/>
            <a:r>
              <a:rPr lang="en-US" sz="2000" smtClean="0"/>
              <a:t>Notebook</a:t>
            </a:r>
          </a:p>
          <a:p>
            <a:pPr lvl="1"/>
            <a:r>
              <a:rPr lang="en-US" sz="2400" smtClean="0"/>
              <a:t>Drawn as a rectangle with the right vertical line missing</a:t>
            </a:r>
          </a:p>
          <a:p>
            <a:pPr lvl="1"/>
            <a:r>
              <a:rPr lang="en-US" sz="2400" smtClean="0"/>
              <a:t>Label includes name of the store as well as the number</a:t>
            </a:r>
          </a:p>
          <a:p>
            <a:pPr>
              <a:buFont typeface="Wingdings" pitchFamily="2" charset="2"/>
              <a:buNone/>
            </a:pPr>
            <a:endParaRPr lang="en-US" sz="2800" smtClean="0"/>
          </a:p>
        </p:txBody>
      </p:sp>
      <p:sp>
        <p:nvSpPr>
          <p:cNvPr id="2560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1914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2BEA9056-D9A0-4894-8748-3D037F11D204}" type="slidenum">
              <a:rPr lang="en-US" sz="1600">
                <a:solidFill>
                  <a:schemeClr val="tx1"/>
                </a:solidFill>
                <a:cs typeface="+mn-cs"/>
              </a:rPr>
              <a:pPr algn="ctr" eaLnBrk="0" hangingPunct="0">
                <a:defRPr/>
              </a:pPr>
              <a:t>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Data-Flow Diagramming Mechanics (continued)</a:t>
            </a:r>
          </a:p>
        </p:txBody>
      </p:sp>
      <p:sp>
        <p:nvSpPr>
          <p:cNvPr id="2662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Process</a:t>
            </a:r>
          </a:p>
          <a:p>
            <a:pPr lvl="1"/>
            <a:r>
              <a:rPr lang="en-US" smtClean="0"/>
              <a:t>Depicts work or actions performed on data so that they are transformed, stored, or distributed</a:t>
            </a:r>
          </a:p>
          <a:p>
            <a:pPr lvl="1"/>
            <a:r>
              <a:rPr lang="en-US" smtClean="0"/>
              <a:t>Drawn as a rectangle with rounded corners</a:t>
            </a:r>
          </a:p>
          <a:p>
            <a:pPr lvl="1"/>
            <a:r>
              <a:rPr lang="en-US" smtClean="0"/>
              <a:t>Number of process as well as names are recorded</a:t>
            </a:r>
          </a:p>
        </p:txBody>
      </p:sp>
      <p:sp>
        <p:nvSpPr>
          <p:cNvPr id="2662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558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FAA1F5C3-2B76-453D-90DB-0C3B51AA71B5}" type="slidenum">
              <a:rPr lang="en-US" sz="1600">
                <a:solidFill>
                  <a:schemeClr val="tx1"/>
                </a:solidFill>
                <a:cs typeface="+mn-cs"/>
              </a:rPr>
              <a:pPr algn="ctr" eaLnBrk="0" hangingPunct="0">
                <a:defRPr/>
              </a:pPr>
              <a:t>10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Data-Flow Diagramming Mechanics (continued)</a:t>
            </a:r>
          </a:p>
        </p:txBody>
      </p:sp>
      <p:sp>
        <p:nvSpPr>
          <p:cNvPr id="2765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Source/Sink</a:t>
            </a:r>
          </a:p>
          <a:p>
            <a:pPr lvl="1"/>
            <a:r>
              <a:rPr lang="en-US" smtClean="0"/>
              <a:t>Depicts the origin and/or destination of the data</a:t>
            </a:r>
          </a:p>
          <a:p>
            <a:pPr lvl="1"/>
            <a:r>
              <a:rPr lang="en-US" smtClean="0"/>
              <a:t>Sometimes referred to as an external entity</a:t>
            </a:r>
          </a:p>
          <a:p>
            <a:pPr lvl="1"/>
            <a:r>
              <a:rPr lang="en-US" smtClean="0"/>
              <a:t>Drawn as a square symbol</a:t>
            </a:r>
          </a:p>
          <a:p>
            <a:pPr lvl="1"/>
            <a:r>
              <a:rPr lang="en-US" smtClean="0"/>
              <a:t>Name states what the external agent is</a:t>
            </a:r>
          </a:p>
          <a:p>
            <a:pPr lvl="1"/>
            <a:r>
              <a:rPr lang="en-US" smtClean="0"/>
              <a:t>Because they are external, many characteristics are not of interest to us</a:t>
            </a:r>
          </a:p>
          <a:p>
            <a:pPr>
              <a:buFont typeface="Wingdings" pitchFamily="2" charset="2"/>
              <a:buNone/>
            </a:pPr>
            <a:endParaRPr lang="en-US" smtClean="0"/>
          </a:p>
        </p:txBody>
      </p:sp>
      <p:sp>
        <p:nvSpPr>
          <p:cNvPr id="2765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661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A03421F3-19BE-404C-B5EF-3DAF48A758D5}" type="slidenum">
              <a:rPr lang="en-US" sz="1600">
                <a:solidFill>
                  <a:schemeClr val="tx1"/>
                </a:solidFill>
                <a:cs typeface="+mn-cs"/>
              </a:rPr>
              <a:pPr algn="ctr" eaLnBrk="0" hangingPunct="0">
                <a:defRPr/>
              </a:pPr>
              <a:t>11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46787" name="Text Box 3"/>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0BF3C7B2-F59C-4DDE-8F04-E336DE652D86}" type="slidenum">
              <a:rPr lang="en-US" sz="1600">
                <a:solidFill>
                  <a:schemeClr val="tx1"/>
                </a:solidFill>
                <a:cs typeface="+mn-cs"/>
              </a:rPr>
              <a:pPr algn="ctr" eaLnBrk="0" hangingPunct="0">
                <a:defRPr/>
              </a:pPr>
              <a:t>12</a:t>
            </a:fld>
            <a:endParaRPr lang="en-US" sz="1600">
              <a:solidFill>
                <a:schemeClr val="tx1"/>
              </a:solidFill>
              <a:cs typeface="+mn-cs"/>
            </a:endParaRPr>
          </a:p>
        </p:txBody>
      </p:sp>
      <p:pic>
        <p:nvPicPr>
          <p:cNvPr id="5" name="Picture 4"/>
          <p:cNvPicPr>
            <a:picLocks noChangeAspect="1"/>
          </p:cNvPicPr>
          <p:nvPr/>
        </p:nvPicPr>
        <p:blipFill>
          <a:blip r:embed="rId2"/>
          <a:stretch>
            <a:fillRect/>
          </a:stretch>
        </p:blipFill>
        <p:spPr>
          <a:xfrm>
            <a:off x="990600" y="457200"/>
            <a:ext cx="7164420" cy="5548493"/>
          </a:xfrm>
          <a:prstGeom prst="rect">
            <a:avLst/>
          </a:prstGeom>
        </p:spPr>
      </p:pic>
    </p:spTree>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1026"/>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Data-Flow Diagramming Definitions</a:t>
            </a:r>
          </a:p>
        </p:txBody>
      </p:sp>
      <p:sp>
        <p:nvSpPr>
          <p:cNvPr id="29698" name="Rectangle 1027"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z="2800" smtClean="0"/>
              <a:t>Context Diagram</a:t>
            </a:r>
          </a:p>
          <a:p>
            <a:pPr lvl="1"/>
            <a:r>
              <a:rPr lang="en-US" sz="2400" smtClean="0"/>
              <a:t>A data-flow diagram of the scope of an organizational system that shows the system boundaries, external entities that interact with the system and the major information flows between the entities and the system</a:t>
            </a:r>
          </a:p>
          <a:p>
            <a:r>
              <a:rPr lang="en-US" sz="2800" smtClean="0"/>
              <a:t>Level-O Diagram</a:t>
            </a:r>
          </a:p>
          <a:p>
            <a:pPr lvl="1"/>
            <a:r>
              <a:rPr lang="en-US" sz="2400" smtClean="0"/>
              <a:t>A data-flow diagram that represents a system’s major processes, data flows, and data stores at a higher level</a:t>
            </a:r>
          </a:p>
        </p:txBody>
      </p:sp>
      <p:sp>
        <p:nvSpPr>
          <p:cNvPr id="2969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40644" name="Text Box 1028"/>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E30FD6C8-3045-42FB-A3F2-8F10931FDEC2}" type="slidenum">
              <a:rPr lang="en-US" sz="1600">
                <a:solidFill>
                  <a:schemeClr val="tx1"/>
                </a:solidFill>
                <a:cs typeface="+mn-cs"/>
              </a:rPr>
              <a:pPr algn="ctr" eaLnBrk="0" hangingPunct="0">
                <a:defRPr/>
              </a:pPr>
              <a:t>13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Developing DFDs: </a:t>
            </a:r>
            <a:br>
              <a:rPr lang="en-US">
                <a:solidFill>
                  <a:schemeClr val="accent1">
                    <a:tint val="83000"/>
                    <a:satMod val="150000"/>
                  </a:schemeClr>
                </a:solidFill>
              </a:rPr>
            </a:br>
            <a:r>
              <a:rPr lang="en-US">
                <a:solidFill>
                  <a:schemeClr val="accent1">
                    <a:tint val="83000"/>
                    <a:satMod val="150000"/>
                  </a:schemeClr>
                </a:solidFill>
              </a:rPr>
              <a:t>An Example</a:t>
            </a:r>
          </a:p>
        </p:txBody>
      </p:sp>
      <p:sp>
        <p:nvSpPr>
          <p:cNvPr id="3072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dirty="0" smtClean="0"/>
              <a:t>Hoosier Burger’s Automated Food Ordering System</a:t>
            </a:r>
          </a:p>
          <a:p>
            <a:r>
              <a:rPr lang="en-US" dirty="0" smtClean="0"/>
              <a:t>Context Diagram (Figure 6-5) contains no data stores</a:t>
            </a:r>
          </a:p>
        </p:txBody>
      </p:sp>
      <p:sp>
        <p:nvSpPr>
          <p:cNvPr id="3072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763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3D8BCD67-1BE6-4C86-8A05-3FC109E8F866}" type="slidenum">
              <a:rPr lang="en-US" sz="1600">
                <a:solidFill>
                  <a:schemeClr val="tx1"/>
                </a:solidFill>
                <a:cs typeface="+mn-cs"/>
              </a:rPr>
              <a:pPr algn="ctr" eaLnBrk="0" hangingPunct="0">
                <a:defRPr/>
              </a:pPr>
              <a:t>14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48835" name="Text Box 3"/>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dirty="0">
                <a:solidFill>
                  <a:schemeClr val="tx1"/>
                </a:solidFill>
                <a:cs typeface="+mn-cs"/>
              </a:rPr>
              <a:t>6.</a:t>
            </a:r>
            <a:fld id="{3B22F067-561A-44CC-BCC6-6B586C17AB54}" type="slidenum">
              <a:rPr lang="en-US" sz="1600">
                <a:solidFill>
                  <a:schemeClr val="tx1"/>
                </a:solidFill>
                <a:cs typeface="+mn-cs"/>
              </a:rPr>
              <a:pPr algn="ctr" eaLnBrk="0" hangingPunct="0">
                <a:defRPr/>
              </a:pPr>
              <a:t>15</a:t>
            </a:fld>
            <a:endParaRPr lang="en-US" sz="1600" dirty="0">
              <a:solidFill>
                <a:schemeClr val="tx1"/>
              </a:solidFill>
              <a:cs typeface="+mn-cs"/>
            </a:endParaRPr>
          </a:p>
        </p:txBody>
      </p:sp>
      <p:pic>
        <p:nvPicPr>
          <p:cNvPr id="2" name="Picture 1"/>
          <p:cNvPicPr>
            <a:picLocks noChangeAspect="1"/>
          </p:cNvPicPr>
          <p:nvPr/>
        </p:nvPicPr>
        <p:blipFill>
          <a:blip r:embed="rId2"/>
          <a:stretch>
            <a:fillRect/>
          </a:stretch>
        </p:blipFill>
        <p:spPr>
          <a:xfrm>
            <a:off x="333375" y="1223962"/>
            <a:ext cx="8477250" cy="4410075"/>
          </a:xfrm>
          <a:prstGeom prst="rect">
            <a:avLst/>
          </a:prstGeom>
        </p:spPr>
      </p:pic>
    </p:spTree>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Developing DFDs: </a:t>
            </a:r>
            <a:br>
              <a:rPr lang="en-US">
                <a:solidFill>
                  <a:schemeClr val="accent1">
                    <a:tint val="83000"/>
                    <a:satMod val="150000"/>
                  </a:schemeClr>
                </a:solidFill>
              </a:rPr>
            </a:br>
            <a:r>
              <a:rPr lang="en-US">
                <a:solidFill>
                  <a:schemeClr val="accent1">
                    <a:tint val="83000"/>
                    <a:satMod val="150000"/>
                  </a:schemeClr>
                </a:solidFill>
              </a:rPr>
              <a:t>An Example (continued)</a:t>
            </a:r>
          </a:p>
        </p:txBody>
      </p:sp>
      <p:sp>
        <p:nvSpPr>
          <p:cNvPr id="3277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dirty="0" smtClean="0"/>
              <a:t>Next step is to expand the context diagram to show the breakdown of processes (Figure 6-6)</a:t>
            </a:r>
          </a:p>
          <a:p>
            <a:pPr>
              <a:buFont typeface="Wingdings" pitchFamily="2" charset="2"/>
              <a:buNone/>
            </a:pPr>
            <a:endParaRPr lang="en-US" dirty="0" smtClean="0"/>
          </a:p>
        </p:txBody>
      </p:sp>
      <p:sp>
        <p:nvSpPr>
          <p:cNvPr id="3277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5" name="Text Box 3"/>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dirty="0">
                <a:solidFill>
                  <a:schemeClr val="tx1"/>
                </a:solidFill>
                <a:cs typeface="+mn-cs"/>
              </a:rPr>
              <a:t>6.</a:t>
            </a:r>
            <a:fld id="{E79EFD51-8A74-4B87-9708-1DA2682E7A80}" type="slidenum">
              <a:rPr lang="en-US" sz="1600">
                <a:solidFill>
                  <a:schemeClr val="tx1"/>
                </a:solidFill>
                <a:cs typeface="+mn-cs"/>
              </a:rPr>
              <a:pPr algn="ctr" eaLnBrk="0" hangingPunct="0">
                <a:defRPr/>
              </a:pPr>
              <a:t>16</a:t>
            </a:fld>
            <a:endParaRPr lang="en-US" sz="1600" dirty="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49858"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16D51486-9879-430E-85DE-9C7C9ED21371}" type="slidenum">
              <a:rPr lang="en-US" sz="1600">
                <a:solidFill>
                  <a:schemeClr val="tx1"/>
                </a:solidFill>
                <a:cs typeface="+mn-cs"/>
              </a:rPr>
              <a:pPr algn="ctr" eaLnBrk="0" hangingPunct="0">
                <a:defRPr/>
              </a:pPr>
              <a:t>17</a:t>
            </a:fld>
            <a:endParaRPr lang="en-US" sz="1600">
              <a:solidFill>
                <a:schemeClr val="tx1"/>
              </a:solidFill>
              <a:cs typeface="+mn-cs"/>
            </a:endParaRPr>
          </a:p>
        </p:txBody>
      </p:sp>
      <p:pic>
        <p:nvPicPr>
          <p:cNvPr id="2" name="Picture 1"/>
          <p:cNvPicPr>
            <a:picLocks noChangeAspect="1"/>
          </p:cNvPicPr>
          <p:nvPr/>
        </p:nvPicPr>
        <p:blipFill>
          <a:blip r:embed="rId2"/>
          <a:stretch>
            <a:fillRect/>
          </a:stretch>
        </p:blipFill>
        <p:spPr>
          <a:xfrm>
            <a:off x="609600" y="488538"/>
            <a:ext cx="7800975" cy="5402539"/>
          </a:xfrm>
          <a:prstGeom prst="rect">
            <a:avLst/>
          </a:prstGeom>
        </p:spPr>
      </p:pic>
    </p:spTree>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marL="484632" fontAlgn="auto">
              <a:spcAft>
                <a:spcPts val="0"/>
              </a:spcAft>
              <a:defRPr/>
            </a:pPr>
            <a:r>
              <a:rPr lang="en-US" sz="4000">
                <a:solidFill>
                  <a:schemeClr val="accent1">
                    <a:tint val="83000"/>
                    <a:satMod val="150000"/>
                  </a:schemeClr>
                </a:solidFill>
              </a:rPr>
              <a:t>Data-Flow Diagramming Rules</a:t>
            </a:r>
          </a:p>
        </p:txBody>
      </p:sp>
      <p:sp>
        <p:nvSpPr>
          <p:cNvPr id="3481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Basic rules that apply to all DFDs:</a:t>
            </a:r>
          </a:p>
          <a:p>
            <a:pPr lvl="1"/>
            <a:r>
              <a:rPr lang="en-US" smtClean="0"/>
              <a:t>Inputs to a process are always different than outputs</a:t>
            </a:r>
          </a:p>
          <a:p>
            <a:pPr lvl="1"/>
            <a:r>
              <a:rPr lang="en-US" smtClean="0"/>
              <a:t>Objects always have a unique name</a:t>
            </a:r>
          </a:p>
          <a:p>
            <a:pPr lvl="2"/>
            <a:r>
              <a:rPr lang="en-US" smtClean="0"/>
              <a:t>In order to keep the diagram uncluttered, you can repeat data stores and data flows on a diagram</a:t>
            </a:r>
          </a:p>
        </p:txBody>
      </p:sp>
      <p:sp>
        <p:nvSpPr>
          <p:cNvPr id="3481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070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31545898-FA07-4FA7-BA44-6B0C2D9C09D4}" type="slidenum">
              <a:rPr lang="en-US" sz="1600">
                <a:solidFill>
                  <a:schemeClr val="tx1"/>
                </a:solidFill>
                <a:cs typeface="+mn-cs"/>
              </a:rPr>
              <a:pPr algn="ctr" eaLnBrk="0" hangingPunct="0">
                <a:defRPr/>
              </a:pPr>
              <a:t>18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a:xfrm>
            <a:off x="457200" y="267494"/>
            <a:ext cx="8229600" cy="1399032"/>
          </a:xfrm>
        </p:spPr>
        <p:txBody>
          <a:bodyPr/>
          <a:lstStyle/>
          <a:p>
            <a:pPr fontAlgn="auto">
              <a:spcAft>
                <a:spcPts val="0"/>
              </a:spcAft>
              <a:defRPr/>
            </a:pPr>
            <a:r>
              <a:rPr lang="en-US" sz="4000" dirty="0">
                <a:solidFill>
                  <a:schemeClr val="accent1">
                    <a:tint val="83000"/>
                    <a:satMod val="150000"/>
                  </a:schemeClr>
                </a:solidFill>
              </a:rPr>
              <a:t>Data-Flow Diagramming Rules (continued)</a:t>
            </a:r>
          </a:p>
        </p:txBody>
      </p:sp>
      <p:sp>
        <p:nvSpPr>
          <p:cNvPr id="201731" name="Rectangle 3" descr="Rectangle: Click to edit Master text styles&#10;Second level&#10;Third level&#10;Fourth level&#10;Fifth level"/>
          <p:cNvSpPr>
            <a:spLocks noGrp="1" noChangeArrowheads="1"/>
          </p:cNvSpPr>
          <p:nvPr>
            <p:ph sz="half" idx="1"/>
          </p:nvPr>
        </p:nvSpPr>
        <p:spPr>
          <a:xfrm>
            <a:off x="533400" y="1676400"/>
            <a:ext cx="2819400" cy="4267200"/>
          </a:xfrm>
        </p:spPr>
        <p:txBody>
          <a:bodyPr>
            <a:normAutofit lnSpcReduction="10000"/>
          </a:bodyPr>
          <a:lstStyle/>
          <a:p>
            <a:pPr marL="533400" indent="-533400" fontAlgn="auto">
              <a:lnSpc>
                <a:spcPct val="80000"/>
              </a:lnSpc>
              <a:spcAft>
                <a:spcPts val="0"/>
              </a:spcAft>
              <a:buFont typeface="Wingdings 2"/>
              <a:buChar char=""/>
              <a:defRPr/>
            </a:pPr>
            <a:r>
              <a:rPr lang="en-US" sz="2400" dirty="0"/>
              <a:t>Process</a:t>
            </a:r>
          </a:p>
          <a:p>
            <a:pPr marL="914400" lvl="1" indent="-457200" fontAlgn="auto">
              <a:lnSpc>
                <a:spcPct val="80000"/>
              </a:lnSpc>
              <a:spcAft>
                <a:spcPts val="0"/>
              </a:spcAft>
              <a:buSzPct val="110000"/>
              <a:buFont typeface="Wingdings" pitchFamily="2" charset="2"/>
              <a:buAutoNum type="alphaUcPeriod"/>
              <a:defRPr/>
            </a:pPr>
            <a:r>
              <a:rPr lang="en-US" sz="1800" dirty="0"/>
              <a:t>No process can have only outputs (a miracle)</a:t>
            </a:r>
          </a:p>
          <a:p>
            <a:pPr marL="914400" lvl="1" indent="-457200" fontAlgn="auto">
              <a:lnSpc>
                <a:spcPct val="80000"/>
              </a:lnSpc>
              <a:spcAft>
                <a:spcPts val="0"/>
              </a:spcAft>
              <a:buSzPct val="110000"/>
              <a:buFont typeface="Wingdings" pitchFamily="2" charset="2"/>
              <a:buAutoNum type="alphaUcPeriod"/>
              <a:defRPr/>
            </a:pPr>
            <a:r>
              <a:rPr lang="en-US" sz="1800" dirty="0"/>
              <a:t>No process can have only inputs (black hole)</a:t>
            </a:r>
          </a:p>
          <a:p>
            <a:pPr marL="914400" lvl="1" indent="-457200" fontAlgn="auto">
              <a:lnSpc>
                <a:spcPct val="80000"/>
              </a:lnSpc>
              <a:spcAft>
                <a:spcPts val="0"/>
              </a:spcAft>
              <a:buSzPct val="110000"/>
              <a:buFont typeface="Wingdings" pitchFamily="2" charset="2"/>
              <a:buAutoNum type="alphaUcPeriod"/>
              <a:defRPr/>
            </a:pPr>
            <a:r>
              <a:rPr lang="en-US" sz="1800" dirty="0"/>
              <a:t>A process has a verb phrase label</a:t>
            </a:r>
          </a:p>
        </p:txBody>
      </p:sp>
      <p:sp>
        <p:nvSpPr>
          <p:cNvPr id="201733" name="Rectangle 5" descr="Rectangle: Click to edit Master text styles&#10;Second level&#10;Third level&#10;Fourth level&#10;Fifth level"/>
          <p:cNvSpPr>
            <a:spLocks noGrp="1" noChangeArrowheads="1"/>
          </p:cNvSpPr>
          <p:nvPr>
            <p:ph sz="half" idx="2"/>
          </p:nvPr>
        </p:nvSpPr>
        <p:spPr>
          <a:xfrm>
            <a:off x="3352800" y="1676400"/>
            <a:ext cx="2667000" cy="4114800"/>
          </a:xfrm>
        </p:spPr>
        <p:txBody>
          <a:bodyPr>
            <a:normAutofit lnSpcReduction="10000"/>
          </a:bodyPr>
          <a:lstStyle/>
          <a:p>
            <a:pPr marL="457200" indent="-457200" fontAlgn="auto">
              <a:lnSpc>
                <a:spcPct val="80000"/>
              </a:lnSpc>
              <a:spcAft>
                <a:spcPts val="0"/>
              </a:spcAft>
              <a:buFont typeface="Wingdings 2"/>
              <a:buChar char=""/>
              <a:defRPr/>
            </a:pPr>
            <a:r>
              <a:rPr lang="en-US" sz="2400" dirty="0"/>
              <a:t>Data Store</a:t>
            </a:r>
          </a:p>
          <a:p>
            <a:pPr marL="838200" lvl="1" indent="-381000" fontAlgn="auto">
              <a:lnSpc>
                <a:spcPct val="80000"/>
              </a:lnSpc>
              <a:spcAft>
                <a:spcPts val="0"/>
              </a:spcAft>
              <a:buSzPct val="110000"/>
              <a:buFont typeface="Wingdings" pitchFamily="2" charset="2"/>
              <a:buAutoNum type="alphaUcPeriod" startAt="4"/>
              <a:defRPr/>
            </a:pPr>
            <a:r>
              <a:rPr lang="en-US" sz="1800" dirty="0"/>
              <a:t>Data cannot be moved from one store to another</a:t>
            </a:r>
          </a:p>
          <a:p>
            <a:pPr marL="838200" lvl="1" indent="-381000" fontAlgn="auto">
              <a:lnSpc>
                <a:spcPct val="80000"/>
              </a:lnSpc>
              <a:spcAft>
                <a:spcPts val="0"/>
              </a:spcAft>
              <a:buSzPct val="110000"/>
              <a:buFont typeface="Wingdings" pitchFamily="2" charset="2"/>
              <a:buAutoNum type="alphaUcPeriod" startAt="4"/>
              <a:defRPr/>
            </a:pPr>
            <a:r>
              <a:rPr lang="en-US" sz="1800" dirty="0"/>
              <a:t>Data cannot move from an outside source to a data store</a:t>
            </a:r>
          </a:p>
          <a:p>
            <a:pPr marL="838200" lvl="1" indent="-381000" fontAlgn="auto">
              <a:lnSpc>
                <a:spcPct val="80000"/>
              </a:lnSpc>
              <a:spcAft>
                <a:spcPts val="0"/>
              </a:spcAft>
              <a:buSzPct val="110000"/>
              <a:buFont typeface="Wingdings" pitchFamily="2" charset="2"/>
              <a:buAutoNum type="alphaUcPeriod" startAt="4"/>
              <a:defRPr/>
            </a:pPr>
            <a:r>
              <a:rPr lang="en-US" sz="1800" dirty="0"/>
              <a:t>Data cannot move directly from a data store to a data sink</a:t>
            </a:r>
          </a:p>
          <a:p>
            <a:pPr marL="838200" lvl="1" indent="-381000" fontAlgn="auto">
              <a:lnSpc>
                <a:spcPct val="80000"/>
              </a:lnSpc>
              <a:spcAft>
                <a:spcPts val="0"/>
              </a:spcAft>
              <a:buSzPct val="110000"/>
              <a:buFont typeface="Wingdings" pitchFamily="2" charset="2"/>
              <a:buAutoNum type="alphaUcPeriod" startAt="4"/>
              <a:defRPr/>
            </a:pPr>
            <a:r>
              <a:rPr lang="en-US" sz="1800" dirty="0"/>
              <a:t>Data store has a noun phrase label</a:t>
            </a:r>
          </a:p>
        </p:txBody>
      </p:sp>
      <p:sp>
        <p:nvSpPr>
          <p:cNvPr id="35844" name="Footer Placeholder 5"/>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173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A9CE838A-15DA-48FD-9019-A60E197F4F3B}" type="slidenum">
              <a:rPr lang="en-US" sz="1600">
                <a:solidFill>
                  <a:schemeClr val="tx1"/>
                </a:solidFill>
                <a:cs typeface="+mn-cs"/>
              </a:rPr>
              <a:pPr algn="ctr" eaLnBrk="0" hangingPunct="0">
                <a:defRPr/>
              </a:pPr>
              <a:t>19</a:t>
            </a:fld>
            <a:endParaRPr lang="en-US" sz="1600">
              <a:solidFill>
                <a:schemeClr val="tx1"/>
              </a:solidFill>
              <a:cs typeface="+mn-cs"/>
            </a:endParaRPr>
          </a:p>
        </p:txBody>
      </p:sp>
      <p:sp>
        <p:nvSpPr>
          <p:cNvPr id="201734" name="Rectangle 6" descr="Rectangle: Click to edit Master text styles&#10;Second level&#10;Third level&#10;Fourth level&#10;Fifth level"/>
          <p:cNvSpPr>
            <a:spLocks noChangeArrowheads="1"/>
          </p:cNvSpPr>
          <p:nvPr/>
        </p:nvSpPr>
        <p:spPr bwMode="auto">
          <a:xfrm>
            <a:off x="6096000" y="1600200"/>
            <a:ext cx="2590800" cy="4114800"/>
          </a:xfrm>
          <a:prstGeom prst="rect">
            <a:avLst/>
          </a:prstGeom>
          <a:noFill/>
          <a:ln>
            <a:noFill/>
          </a:ln>
          <a:effectLst/>
          <a:extLst/>
        </p:spPr>
        <p:txBody>
          <a:bodyPr/>
          <a:lstStyle/>
          <a:p>
            <a:pPr marL="533400" indent="-533400">
              <a:spcBef>
                <a:spcPct val="20000"/>
              </a:spcBef>
              <a:buClr>
                <a:schemeClr val="accent1"/>
              </a:buClr>
              <a:buSzPct val="100000"/>
              <a:buFont typeface="Wingdings" charset="2"/>
              <a:buChar char=""/>
              <a:defRPr/>
            </a:pPr>
            <a:r>
              <a:rPr lang="en-US" sz="2400" dirty="0">
                <a:solidFill>
                  <a:schemeClr val="tx1"/>
                </a:solidFill>
                <a:latin typeface="+mj-lt"/>
                <a:cs typeface="+mn-cs"/>
              </a:rPr>
              <a:t>Source/Sink</a:t>
            </a:r>
          </a:p>
          <a:p>
            <a:pPr marL="990600" lvl="1" indent="-533400">
              <a:spcBef>
                <a:spcPct val="20000"/>
              </a:spcBef>
              <a:buClr>
                <a:schemeClr val="accent1"/>
              </a:buClr>
              <a:buSzPct val="100000"/>
              <a:defRPr/>
            </a:pPr>
            <a:r>
              <a:rPr lang="en-US" sz="1800" dirty="0">
                <a:solidFill>
                  <a:srgbClr val="FF388C"/>
                </a:solidFill>
                <a:latin typeface="+mj-lt"/>
                <a:cs typeface="+mn-cs"/>
              </a:rPr>
              <a:t>H.    </a:t>
            </a:r>
            <a:r>
              <a:rPr lang="en-US" sz="1800" dirty="0">
                <a:solidFill>
                  <a:schemeClr val="tx1"/>
                </a:solidFill>
                <a:latin typeface="+mj-lt"/>
                <a:cs typeface="+mn-cs"/>
              </a:rPr>
              <a:t>Data cannot move directly from a source to a sink</a:t>
            </a:r>
          </a:p>
          <a:p>
            <a:pPr marL="914400" lvl="1" indent="-457200">
              <a:spcBef>
                <a:spcPct val="20000"/>
              </a:spcBef>
              <a:buClr>
                <a:schemeClr val="tx1"/>
              </a:buClr>
              <a:buSzPct val="110000"/>
              <a:defRPr/>
            </a:pPr>
            <a:r>
              <a:rPr lang="en-US" sz="1800" dirty="0">
                <a:solidFill>
                  <a:srgbClr val="FF388C"/>
                </a:solidFill>
                <a:latin typeface="+mj-lt"/>
                <a:cs typeface="+mn-cs"/>
              </a:rPr>
              <a:t>I.   </a:t>
            </a:r>
            <a:r>
              <a:rPr lang="en-US" sz="1800" dirty="0">
                <a:solidFill>
                  <a:schemeClr val="tx1"/>
                </a:solidFill>
                <a:latin typeface="+mj-lt"/>
                <a:cs typeface="+mn-cs"/>
              </a:rPr>
              <a:t>   A source/sink has a noun phrase label</a:t>
            </a:r>
          </a:p>
        </p:txBody>
      </p:sp>
    </p:spTree>
  </p:cSld>
  <p:clrMapOvr>
    <a:masterClrMapping/>
  </p:clrMapOvr>
  <p:transition>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a:xfrm>
            <a:off x="457200" y="267494"/>
            <a:ext cx="8229600" cy="1399032"/>
          </a:xfrm>
        </p:spPr>
        <p:txBody>
          <a:bodyPr/>
          <a:lstStyle/>
          <a:p>
            <a:pPr fontAlgn="auto">
              <a:spcAft>
                <a:spcPts val="0"/>
              </a:spcAft>
              <a:defRPr/>
            </a:pPr>
            <a:r>
              <a:rPr lang="en-US" sz="4000">
                <a:solidFill>
                  <a:schemeClr val="accent1">
                    <a:tint val="83000"/>
                    <a:satMod val="150000"/>
                  </a:schemeClr>
                </a:solidFill>
              </a:rPr>
              <a:t>Data-Flow Diagramming Rules (continued)</a:t>
            </a:r>
          </a:p>
        </p:txBody>
      </p:sp>
      <p:sp>
        <p:nvSpPr>
          <p:cNvPr id="202757" name="Rectangle 5" descr="Rectangle: Click to edit Master text styles&#10;Second level&#10;Third level&#10;Fourth level&#10;Fifth level"/>
          <p:cNvSpPr>
            <a:spLocks noGrp="1" noChangeArrowheads="1"/>
          </p:cNvSpPr>
          <p:nvPr>
            <p:ph sz="half" idx="1"/>
          </p:nvPr>
        </p:nvSpPr>
        <p:spPr>
          <a:xfrm>
            <a:off x="762000" y="1600200"/>
            <a:ext cx="7848600" cy="4419600"/>
          </a:xfrm>
        </p:spPr>
        <p:txBody>
          <a:bodyPr>
            <a:normAutofit lnSpcReduction="10000"/>
          </a:bodyPr>
          <a:lstStyle/>
          <a:p>
            <a:pPr marL="533400" indent="-533400" fontAlgn="auto">
              <a:lnSpc>
                <a:spcPct val="90000"/>
              </a:lnSpc>
              <a:spcAft>
                <a:spcPts val="0"/>
              </a:spcAft>
              <a:buFont typeface="Wingdings 2"/>
              <a:buChar char=""/>
              <a:defRPr/>
            </a:pPr>
            <a:r>
              <a:rPr lang="en-US"/>
              <a:t>Data Flow</a:t>
            </a:r>
          </a:p>
          <a:p>
            <a:pPr marL="914400" lvl="1" indent="-457200" fontAlgn="auto">
              <a:lnSpc>
                <a:spcPct val="90000"/>
              </a:lnSpc>
              <a:spcAft>
                <a:spcPts val="0"/>
              </a:spcAft>
              <a:buSzPct val="110000"/>
              <a:buFont typeface="Wingdings" pitchFamily="2" charset="2"/>
              <a:buAutoNum type="alphaUcPeriod" startAt="10"/>
              <a:defRPr/>
            </a:pPr>
            <a:r>
              <a:rPr lang="en-US" sz="2000"/>
              <a:t>A data flow has only one direction of flow between symbols</a:t>
            </a:r>
          </a:p>
          <a:p>
            <a:pPr marL="914400" lvl="1" indent="-457200" fontAlgn="auto">
              <a:lnSpc>
                <a:spcPct val="90000"/>
              </a:lnSpc>
              <a:spcAft>
                <a:spcPts val="0"/>
              </a:spcAft>
              <a:buSzPct val="110000"/>
              <a:buFont typeface="Wingdings" pitchFamily="2" charset="2"/>
              <a:buAutoNum type="alphaUcPeriod" startAt="10"/>
              <a:defRPr/>
            </a:pPr>
            <a:r>
              <a:rPr lang="en-US" sz="2000"/>
              <a:t>A fork means that exactly the same data go from a common location to two or more processes, data stores, or sources/sinks</a:t>
            </a:r>
          </a:p>
          <a:p>
            <a:pPr marL="914400" lvl="1" indent="-457200" fontAlgn="auto">
              <a:lnSpc>
                <a:spcPct val="90000"/>
              </a:lnSpc>
              <a:spcAft>
                <a:spcPts val="0"/>
              </a:spcAft>
              <a:buSzPct val="110000"/>
              <a:buFont typeface="Wingdings" pitchFamily="2" charset="2"/>
              <a:buAutoNum type="alphaUcPeriod" startAt="10"/>
              <a:defRPr/>
            </a:pPr>
            <a:r>
              <a:rPr lang="en-US" sz="2000"/>
              <a:t>A join means that exactly the same data come from any two or more different processes, data stores or sources/sinks to a common location</a:t>
            </a:r>
          </a:p>
          <a:p>
            <a:pPr marL="914400" lvl="1" indent="-457200" fontAlgn="auto">
              <a:lnSpc>
                <a:spcPct val="90000"/>
              </a:lnSpc>
              <a:spcAft>
                <a:spcPts val="0"/>
              </a:spcAft>
              <a:buSzPct val="110000"/>
              <a:buFont typeface="Wingdings" pitchFamily="2" charset="2"/>
              <a:buAutoNum type="alphaUcPeriod" startAt="10"/>
              <a:defRPr/>
            </a:pPr>
            <a:r>
              <a:rPr lang="en-US" sz="2000"/>
              <a:t>A data flow cannot go directly back to the same process it leaves</a:t>
            </a:r>
          </a:p>
          <a:p>
            <a:pPr marL="914400" lvl="1" indent="-457200" fontAlgn="auto">
              <a:lnSpc>
                <a:spcPct val="90000"/>
              </a:lnSpc>
              <a:spcAft>
                <a:spcPts val="0"/>
              </a:spcAft>
              <a:buSzPct val="110000"/>
              <a:buFont typeface="Wingdings" pitchFamily="2" charset="2"/>
              <a:buAutoNum type="alphaUcPeriod" startAt="10"/>
              <a:defRPr/>
            </a:pPr>
            <a:r>
              <a:rPr lang="en-US" sz="2000"/>
              <a:t>A data flow to a data store means update</a:t>
            </a:r>
          </a:p>
          <a:p>
            <a:pPr marL="914400" lvl="1" indent="-457200" fontAlgn="auto">
              <a:lnSpc>
                <a:spcPct val="90000"/>
              </a:lnSpc>
              <a:spcAft>
                <a:spcPts val="0"/>
              </a:spcAft>
              <a:buSzPct val="110000"/>
              <a:buFont typeface="Wingdings" pitchFamily="2" charset="2"/>
              <a:buAutoNum type="alphaUcPeriod" startAt="10"/>
              <a:defRPr/>
            </a:pPr>
            <a:r>
              <a:rPr lang="en-US" sz="2000"/>
              <a:t>A data flow from a data store means retrieve or use</a:t>
            </a:r>
          </a:p>
          <a:p>
            <a:pPr marL="914400" lvl="1" indent="-457200" fontAlgn="auto">
              <a:lnSpc>
                <a:spcPct val="90000"/>
              </a:lnSpc>
              <a:spcAft>
                <a:spcPts val="0"/>
              </a:spcAft>
              <a:buSzPct val="110000"/>
              <a:buFont typeface="Wingdings" pitchFamily="2" charset="2"/>
              <a:buAutoNum type="alphaUcPeriod" startAt="10"/>
              <a:defRPr/>
            </a:pPr>
            <a:r>
              <a:rPr lang="en-US" sz="2000"/>
              <a:t>A data flow has a noun phrase label</a:t>
            </a:r>
          </a:p>
        </p:txBody>
      </p:sp>
      <p:sp>
        <p:nvSpPr>
          <p:cNvPr id="36867" name="Footer Placeholder 5"/>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275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E95A2491-139F-4AE1-988C-D5634C855E28}" type="slidenum">
              <a:rPr lang="en-US" sz="1600">
                <a:solidFill>
                  <a:schemeClr val="tx1"/>
                </a:solidFill>
                <a:cs typeface="+mn-cs"/>
              </a:rPr>
              <a:pPr algn="ctr" eaLnBrk="0" hangingPunct="0">
                <a:defRPr/>
              </a:pPr>
              <a:t>20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Decomposition of DFDs</a:t>
            </a:r>
          </a:p>
        </p:txBody>
      </p:sp>
      <p:sp>
        <p:nvSpPr>
          <p:cNvPr id="3789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z="2800" smtClean="0"/>
              <a:t>Functional Decomposition</a:t>
            </a:r>
          </a:p>
          <a:p>
            <a:pPr lvl="1"/>
            <a:r>
              <a:rPr lang="en-US" sz="2400" smtClean="0"/>
              <a:t>Act of going from one single system to many component processes</a:t>
            </a:r>
          </a:p>
          <a:p>
            <a:pPr lvl="1"/>
            <a:r>
              <a:rPr lang="en-US" sz="2400" smtClean="0"/>
              <a:t>Repetitive procedure</a:t>
            </a:r>
          </a:p>
          <a:p>
            <a:pPr lvl="1"/>
            <a:r>
              <a:rPr lang="en-US" sz="2400" smtClean="0"/>
              <a:t>Lowest level is called a primitive DFD</a:t>
            </a:r>
          </a:p>
          <a:p>
            <a:r>
              <a:rPr lang="en-US" sz="2800" smtClean="0"/>
              <a:t>Level-n Diagrams</a:t>
            </a:r>
          </a:p>
          <a:p>
            <a:pPr lvl="1"/>
            <a:r>
              <a:rPr lang="en-US" sz="2400" smtClean="0"/>
              <a:t>A DFD that is the result of </a:t>
            </a:r>
            <a:r>
              <a:rPr lang="en-US" sz="2400" i="1" smtClean="0"/>
              <a:t>n</a:t>
            </a:r>
            <a:r>
              <a:rPr lang="en-US" sz="2400" smtClean="0"/>
              <a:t> nested decompositions of a series of subprocesses from a process on a level-0 diagram</a:t>
            </a:r>
          </a:p>
          <a:p>
            <a:pPr lvl="1">
              <a:buFont typeface="Wingdings" pitchFamily="2" charset="2"/>
              <a:buNone/>
            </a:pPr>
            <a:endParaRPr lang="en-US" sz="2400" smtClean="0"/>
          </a:p>
        </p:txBody>
      </p:sp>
      <p:sp>
        <p:nvSpPr>
          <p:cNvPr id="3789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480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0440127A-A2FD-414D-85A9-C4BB76D30C50}" type="slidenum">
              <a:rPr lang="en-US" sz="1600">
                <a:solidFill>
                  <a:schemeClr val="tx1"/>
                </a:solidFill>
                <a:cs typeface="+mn-cs"/>
              </a:rPr>
              <a:pPr algn="ctr" eaLnBrk="0" hangingPunct="0">
                <a:defRPr/>
              </a:pPr>
              <a:t>21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Balancing DFDs</a:t>
            </a:r>
          </a:p>
        </p:txBody>
      </p:sp>
      <p:sp>
        <p:nvSpPr>
          <p:cNvPr id="3891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z="2800" dirty="0" smtClean="0"/>
              <a:t>When decomposing a DFD, you must conserve inputs to and outputs from a process at the next level of decomposition</a:t>
            </a:r>
          </a:p>
          <a:p>
            <a:pPr lvl="1">
              <a:lnSpc>
                <a:spcPct val="90000"/>
              </a:lnSpc>
            </a:pPr>
            <a:r>
              <a:rPr lang="en-US" sz="2400" dirty="0" smtClean="0"/>
              <a:t>This is called balancing</a:t>
            </a:r>
          </a:p>
          <a:p>
            <a:pPr>
              <a:lnSpc>
                <a:spcPct val="90000"/>
              </a:lnSpc>
            </a:pPr>
            <a:r>
              <a:rPr lang="en-US" sz="2800" dirty="0" smtClean="0"/>
              <a:t>Example: Hoosier Burgers</a:t>
            </a:r>
          </a:p>
          <a:p>
            <a:pPr lvl="1">
              <a:lnSpc>
                <a:spcPct val="90000"/>
              </a:lnSpc>
            </a:pPr>
            <a:r>
              <a:rPr lang="en-US" sz="2400" dirty="0" smtClean="0"/>
              <a:t>In Figure 6-5, notice that there is one input to the system; the customer order</a:t>
            </a:r>
          </a:p>
          <a:p>
            <a:pPr lvl="1">
              <a:lnSpc>
                <a:spcPct val="90000"/>
              </a:lnSpc>
            </a:pPr>
            <a:r>
              <a:rPr lang="en-US" sz="2400" dirty="0" smtClean="0"/>
              <a:t>Three outputs: </a:t>
            </a:r>
          </a:p>
          <a:p>
            <a:pPr lvl="2">
              <a:lnSpc>
                <a:spcPct val="90000"/>
              </a:lnSpc>
            </a:pPr>
            <a:r>
              <a:rPr lang="en-US" sz="2000" dirty="0" smtClean="0"/>
              <a:t>Customer receipt</a:t>
            </a:r>
          </a:p>
          <a:p>
            <a:pPr lvl="2">
              <a:lnSpc>
                <a:spcPct val="90000"/>
              </a:lnSpc>
            </a:pPr>
            <a:r>
              <a:rPr lang="en-US" sz="2000" dirty="0" smtClean="0"/>
              <a:t>Food order</a:t>
            </a:r>
          </a:p>
          <a:p>
            <a:pPr lvl="2">
              <a:lnSpc>
                <a:spcPct val="90000"/>
              </a:lnSpc>
            </a:pPr>
            <a:r>
              <a:rPr lang="en-US" sz="2000" dirty="0" smtClean="0"/>
              <a:t>Management reports</a:t>
            </a:r>
          </a:p>
        </p:txBody>
      </p:sp>
      <p:sp>
        <p:nvSpPr>
          <p:cNvPr id="3891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582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AE990085-2DB1-433F-B614-B3DED6B16D74}" type="slidenum">
              <a:rPr lang="en-US" sz="1600">
                <a:solidFill>
                  <a:schemeClr val="tx1"/>
                </a:solidFill>
                <a:cs typeface="+mn-cs"/>
              </a:rPr>
              <a:pPr algn="ctr" eaLnBrk="0" hangingPunct="0">
                <a:defRPr/>
              </a:pPr>
              <a:t>22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Balancing DFDs (continued)</a:t>
            </a:r>
          </a:p>
        </p:txBody>
      </p:sp>
      <p:sp>
        <p:nvSpPr>
          <p:cNvPr id="3993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dirty="0" smtClean="0"/>
              <a:t>Example (Continued)</a:t>
            </a:r>
          </a:p>
          <a:p>
            <a:pPr lvl="1"/>
            <a:r>
              <a:rPr lang="en-US" dirty="0" smtClean="0"/>
              <a:t>Notice Figure 6-6.  We have the same inputs and outputs</a:t>
            </a:r>
          </a:p>
          <a:p>
            <a:pPr lvl="1"/>
            <a:r>
              <a:rPr lang="en-US" dirty="0" smtClean="0"/>
              <a:t>No new inputs or outputs have been introduced</a:t>
            </a:r>
          </a:p>
          <a:p>
            <a:pPr lvl="1"/>
            <a:r>
              <a:rPr lang="en-US" dirty="0" smtClean="0"/>
              <a:t>We can say that the context diagram and level-0 DFD are balanced</a:t>
            </a:r>
          </a:p>
        </p:txBody>
      </p:sp>
      <p:sp>
        <p:nvSpPr>
          <p:cNvPr id="3993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685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8092888B-F3FD-4B75-8565-711AE4EB654C}" type="slidenum">
              <a:rPr lang="en-US" sz="1600">
                <a:solidFill>
                  <a:schemeClr val="tx1"/>
                </a:solidFill>
                <a:cs typeface="+mn-cs"/>
              </a:rPr>
              <a:pPr algn="ctr" eaLnBrk="0" hangingPunct="0">
                <a:defRPr/>
              </a:pPr>
              <a:t>23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1026"/>
          <p:cNvSpPr>
            <a:spLocks noGrp="1" noChangeArrowheads="1"/>
          </p:cNvSpPr>
          <p:nvPr>
            <p:ph type="title"/>
          </p:nvPr>
        </p:nvSpPr>
        <p:spPr/>
        <p:txBody>
          <a:bodyPr>
            <a:normAutofit fontScale="90000"/>
          </a:bodyPr>
          <a:lstStyle/>
          <a:p>
            <a:pPr marL="484632" fontAlgn="auto">
              <a:spcAft>
                <a:spcPts val="0"/>
              </a:spcAft>
              <a:defRPr/>
            </a:pPr>
            <a:r>
              <a:rPr lang="en-US">
                <a:solidFill>
                  <a:schemeClr val="accent1">
                    <a:tint val="83000"/>
                    <a:satMod val="150000"/>
                  </a:schemeClr>
                </a:solidFill>
              </a:rPr>
              <a:t>Balancing DFDs</a:t>
            </a:r>
            <a:br>
              <a:rPr lang="en-US">
                <a:solidFill>
                  <a:schemeClr val="accent1">
                    <a:tint val="83000"/>
                    <a:satMod val="150000"/>
                  </a:schemeClr>
                </a:solidFill>
              </a:rPr>
            </a:br>
            <a:r>
              <a:rPr lang="en-US">
                <a:solidFill>
                  <a:schemeClr val="accent1">
                    <a:tint val="83000"/>
                    <a:satMod val="150000"/>
                  </a:schemeClr>
                </a:solidFill>
              </a:rPr>
              <a:t>An Unbalanced Example</a:t>
            </a:r>
          </a:p>
        </p:txBody>
      </p:sp>
      <p:sp>
        <p:nvSpPr>
          <p:cNvPr id="40962" name="Rectangle 1028" descr="Rectangle: Click to edit Master text styles&#10;Second level&#10;Third level&#10;Fourth level&#10;Fifth level"/>
          <p:cNvSpPr>
            <a:spLocks noGrp="1" noChangeArrowheads="1"/>
          </p:cNvSpPr>
          <p:nvPr>
            <p:ph type="body" sz="half" idx="2"/>
          </p:nvPr>
        </p:nvSpPr>
        <p:spPr/>
        <p:txBody>
          <a:bodyPr/>
          <a:lstStyle/>
          <a:p>
            <a:pPr lvl="1"/>
            <a:r>
              <a:rPr lang="en-US" sz="2400" smtClean="0"/>
              <a:t>In context diagram, we have one input to the system, A and one output, B</a:t>
            </a:r>
          </a:p>
          <a:p>
            <a:pPr lvl="1"/>
            <a:r>
              <a:rPr lang="en-US" sz="2400" smtClean="0"/>
              <a:t>Level-0 diagram has one additional data flow, C</a:t>
            </a:r>
          </a:p>
          <a:p>
            <a:pPr lvl="1"/>
            <a:r>
              <a:rPr lang="en-US" sz="2400" smtClean="0"/>
              <a:t>These DFDs are not balanced</a:t>
            </a:r>
          </a:p>
          <a:p>
            <a:pPr>
              <a:buFont typeface="Wingdings" pitchFamily="2" charset="2"/>
              <a:buNone/>
            </a:pPr>
            <a:endParaRPr lang="en-US" sz="2800" smtClean="0"/>
          </a:p>
        </p:txBody>
      </p:sp>
      <p:sp>
        <p:nvSpPr>
          <p:cNvPr id="40963" name="Footer Placeholder 5"/>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0888" name="Text Box 103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4E85C93B-0E23-4600-A3FE-B5FC6517C150}" type="slidenum">
              <a:rPr lang="en-US" sz="1600">
                <a:solidFill>
                  <a:schemeClr val="tx1"/>
                </a:solidFill>
                <a:cs typeface="+mn-cs"/>
              </a:rPr>
              <a:pPr algn="ctr" eaLnBrk="0" hangingPunct="0">
                <a:defRPr/>
              </a:pPr>
              <a:t>24</a:t>
            </a:fld>
            <a:endParaRPr lang="en-US" sz="1600">
              <a:solidFill>
                <a:schemeClr val="tx1"/>
              </a:solidFill>
              <a:cs typeface="+mn-cs"/>
            </a:endParaRPr>
          </a:p>
        </p:txBody>
      </p:sp>
      <p:pic>
        <p:nvPicPr>
          <p:cNvPr id="40965" name="Picture 1034"/>
          <p:cNvPicPr>
            <a:picLocks noChangeAspect="1" noChangeArrowheads="1"/>
          </p:cNvPicPr>
          <p:nvPr/>
        </p:nvPicPr>
        <p:blipFill>
          <a:blip r:embed="rId2"/>
          <a:srcRect/>
          <a:stretch>
            <a:fillRect/>
          </a:stretch>
        </p:blipFill>
        <p:spPr bwMode="auto">
          <a:xfrm>
            <a:off x="762000" y="1905000"/>
            <a:ext cx="4495800" cy="3632200"/>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Balancing DFDs</a:t>
            </a:r>
          </a:p>
        </p:txBody>
      </p:sp>
      <p:sp>
        <p:nvSpPr>
          <p:cNvPr id="4198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We can split a data flow into separate data flows on a lower level diagram</a:t>
            </a:r>
          </a:p>
        </p:txBody>
      </p:sp>
      <p:sp>
        <p:nvSpPr>
          <p:cNvPr id="4198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992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8F14FB51-FB5A-4C0C-81D7-55C26EB05457}" type="slidenum">
              <a:rPr lang="en-US" sz="1600">
                <a:solidFill>
                  <a:schemeClr val="tx1"/>
                </a:solidFill>
                <a:cs typeface="+mn-cs"/>
              </a:rPr>
              <a:pPr algn="ctr" eaLnBrk="0" hangingPunct="0">
                <a:defRPr/>
              </a:pPr>
              <a:t>25</a:t>
            </a:fld>
            <a:endParaRPr lang="en-US" sz="1600">
              <a:solidFill>
                <a:schemeClr val="tx1"/>
              </a:solidFill>
              <a:cs typeface="+mn-cs"/>
            </a:endParaRPr>
          </a:p>
        </p:txBody>
      </p:sp>
      <p:pic>
        <p:nvPicPr>
          <p:cNvPr id="2" name="Picture 1"/>
          <p:cNvPicPr>
            <a:picLocks noChangeAspect="1"/>
          </p:cNvPicPr>
          <p:nvPr/>
        </p:nvPicPr>
        <p:blipFill>
          <a:blip r:embed="rId2"/>
          <a:stretch>
            <a:fillRect/>
          </a:stretch>
        </p:blipFill>
        <p:spPr>
          <a:xfrm>
            <a:off x="628009" y="3096475"/>
            <a:ext cx="8096250" cy="2847125"/>
          </a:xfrm>
          <a:prstGeom prst="rect">
            <a:avLst/>
          </a:prstGeom>
        </p:spPr>
      </p:pic>
    </p:spTree>
  </p:cSld>
  <p:clrMapOvr>
    <a:masterClrMapping/>
  </p:clrMapOvr>
  <p:transition>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050"/>
          <p:cNvSpPr>
            <a:spLocks noGrp="1" noChangeArrowheads="1"/>
          </p:cNvSpPr>
          <p:nvPr>
            <p:ph type="title"/>
          </p:nvPr>
        </p:nvSpPr>
        <p:spPr/>
        <p:txBody>
          <a:bodyPr/>
          <a:lstStyle/>
          <a:p>
            <a:pPr marL="484632" fontAlgn="auto">
              <a:spcAft>
                <a:spcPts val="0"/>
              </a:spcAft>
              <a:defRPr/>
            </a:pPr>
            <a:r>
              <a:rPr lang="en-US" sz="3600">
                <a:solidFill>
                  <a:schemeClr val="accent1">
                    <a:tint val="83000"/>
                    <a:satMod val="150000"/>
                  </a:schemeClr>
                </a:solidFill>
              </a:rPr>
              <a:t>Balancing DFDs</a:t>
            </a:r>
            <a:br>
              <a:rPr lang="en-US" sz="3600">
                <a:solidFill>
                  <a:schemeClr val="accent1">
                    <a:tint val="83000"/>
                    <a:satMod val="150000"/>
                  </a:schemeClr>
                </a:solidFill>
              </a:rPr>
            </a:br>
            <a:r>
              <a:rPr lang="en-US" sz="3600">
                <a:solidFill>
                  <a:schemeClr val="accent1">
                    <a:tint val="83000"/>
                    <a:satMod val="150000"/>
                  </a:schemeClr>
                </a:solidFill>
              </a:rPr>
              <a:t>Four Additional Advanced Rules</a:t>
            </a:r>
          </a:p>
        </p:txBody>
      </p:sp>
      <p:pic>
        <p:nvPicPr>
          <p:cNvPr id="43010" name="Picture 2054"/>
          <p:cNvPicPr>
            <a:picLocks noGrp="1" noChangeAspect="1" noChangeArrowheads="1"/>
          </p:cNvPicPr>
          <p:nvPr>
            <p:ph idx="1"/>
          </p:nvPr>
        </p:nvPicPr>
        <p:blipFill>
          <a:blip r:embed="rId2"/>
          <a:srcRect/>
          <a:stretch>
            <a:fillRect/>
          </a:stretch>
        </p:blipFill>
        <p:spPr>
          <a:xfrm>
            <a:off x="838200" y="1752600"/>
            <a:ext cx="7772400" cy="3776663"/>
          </a:xfrm>
        </p:spPr>
      </p:pic>
      <p:sp>
        <p:nvSpPr>
          <p:cNvPr id="4301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1909" name="Text Box 2053"/>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3F67BD3E-1580-49D0-8A8A-C322BA34AE75}" type="slidenum">
              <a:rPr lang="en-US" sz="1600">
                <a:solidFill>
                  <a:schemeClr val="tx1"/>
                </a:solidFill>
                <a:cs typeface="+mn-cs"/>
              </a:rPr>
              <a:pPr algn="ctr" eaLnBrk="0" hangingPunct="0">
                <a:defRPr/>
              </a:pPr>
              <a:t>26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Guidelines for Drawing DFDs</a:t>
            </a:r>
          </a:p>
        </p:txBody>
      </p:sp>
      <p:sp>
        <p:nvSpPr>
          <p:cNvPr id="4403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a:lnSpc>
                <a:spcPct val="80000"/>
              </a:lnSpc>
              <a:buFont typeface="Wingdings" pitchFamily="2" charset="2"/>
              <a:buAutoNum type="arabicPeriod"/>
            </a:pPr>
            <a:r>
              <a:rPr lang="en-US" smtClean="0"/>
              <a:t>Completeness</a:t>
            </a:r>
          </a:p>
          <a:p>
            <a:pPr marL="990600" lvl="1" indent="-533400">
              <a:lnSpc>
                <a:spcPct val="80000"/>
              </a:lnSpc>
            </a:pPr>
            <a:r>
              <a:rPr lang="en-US" smtClean="0"/>
              <a:t>DFD must include all components necessary for the system</a:t>
            </a:r>
          </a:p>
          <a:p>
            <a:pPr marL="990600" lvl="1" indent="-533400">
              <a:lnSpc>
                <a:spcPct val="80000"/>
              </a:lnSpc>
            </a:pPr>
            <a:r>
              <a:rPr lang="en-US" smtClean="0"/>
              <a:t>Each component must be fully described in the project dictionary or CASE repository</a:t>
            </a:r>
          </a:p>
          <a:p>
            <a:pPr marL="609600" indent="-609600">
              <a:lnSpc>
                <a:spcPct val="80000"/>
              </a:lnSpc>
              <a:buFont typeface="Wingdings" pitchFamily="2" charset="2"/>
              <a:buAutoNum type="arabicPeriod"/>
            </a:pPr>
            <a:r>
              <a:rPr lang="en-US" smtClean="0"/>
              <a:t>Consistency</a:t>
            </a:r>
          </a:p>
          <a:p>
            <a:pPr marL="990600" lvl="1" indent="-533400">
              <a:lnSpc>
                <a:spcPct val="80000"/>
              </a:lnSpc>
            </a:pPr>
            <a:r>
              <a:rPr lang="en-US" smtClean="0"/>
              <a:t>The extent to which information contained on one level of a set of nested DFDs is also included on other levels</a:t>
            </a:r>
          </a:p>
        </p:txBody>
      </p:sp>
      <p:sp>
        <p:nvSpPr>
          <p:cNvPr id="4403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1094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17146A6D-B990-42D9-9887-7B0CAD117A57}" type="slidenum">
              <a:rPr lang="en-US" sz="1600">
                <a:solidFill>
                  <a:schemeClr val="tx1"/>
                </a:solidFill>
                <a:cs typeface="+mn-cs"/>
              </a:rPr>
              <a:pPr algn="ctr" eaLnBrk="0" hangingPunct="0">
                <a:defRPr/>
              </a:pPr>
              <a:t>27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pPr marL="484632" fontAlgn="auto">
              <a:spcAft>
                <a:spcPts val="0"/>
              </a:spcAft>
              <a:defRPr/>
            </a:pPr>
            <a:r>
              <a:rPr lang="en-US" sz="4000">
                <a:solidFill>
                  <a:schemeClr val="accent1">
                    <a:tint val="83000"/>
                    <a:satMod val="150000"/>
                  </a:schemeClr>
                </a:solidFill>
              </a:rPr>
              <a:t>Guidelines for Drawing DFDs (continued)</a:t>
            </a:r>
          </a:p>
        </p:txBody>
      </p:sp>
      <p:sp>
        <p:nvSpPr>
          <p:cNvPr id="4505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a:lnSpc>
                <a:spcPct val="80000"/>
              </a:lnSpc>
              <a:buFont typeface="Wingdings" pitchFamily="2" charset="2"/>
              <a:buAutoNum type="arabicPeriod" startAt="3"/>
            </a:pPr>
            <a:r>
              <a:rPr lang="en-US" smtClean="0"/>
              <a:t>Timing</a:t>
            </a:r>
          </a:p>
          <a:p>
            <a:pPr marL="990600" lvl="1" indent="-533400">
              <a:lnSpc>
                <a:spcPct val="80000"/>
              </a:lnSpc>
            </a:pPr>
            <a:r>
              <a:rPr lang="en-US" smtClean="0"/>
              <a:t>Time is not represented well on DFDs</a:t>
            </a:r>
          </a:p>
          <a:p>
            <a:pPr marL="990600" lvl="1" indent="-533400">
              <a:lnSpc>
                <a:spcPct val="80000"/>
              </a:lnSpc>
            </a:pPr>
            <a:r>
              <a:rPr lang="en-US" smtClean="0"/>
              <a:t>Best to draw DFDs as if the system has never started and will never stop</a:t>
            </a:r>
          </a:p>
          <a:p>
            <a:pPr marL="609600" indent="-609600">
              <a:lnSpc>
                <a:spcPct val="80000"/>
              </a:lnSpc>
              <a:buFont typeface="Wingdings" pitchFamily="2" charset="2"/>
              <a:buAutoNum type="arabicPeriod" startAt="3"/>
            </a:pPr>
            <a:r>
              <a:rPr lang="en-US" smtClean="0"/>
              <a:t>Iterative Development</a:t>
            </a:r>
          </a:p>
          <a:p>
            <a:pPr marL="990600" lvl="1" indent="-533400">
              <a:lnSpc>
                <a:spcPct val="80000"/>
              </a:lnSpc>
            </a:pPr>
            <a:r>
              <a:rPr lang="en-US" smtClean="0"/>
              <a:t>Analyst should expect to redraw diagram several times before reaching the closest approximation to the system being modeled</a:t>
            </a:r>
          </a:p>
        </p:txBody>
      </p:sp>
      <p:sp>
        <p:nvSpPr>
          <p:cNvPr id="450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1197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EDF54CF5-9E8C-4A9F-A1A8-D6E5FC05FF75}" type="slidenum">
              <a:rPr lang="en-US" sz="1600">
                <a:solidFill>
                  <a:schemeClr val="tx1"/>
                </a:solidFill>
                <a:cs typeface="+mn-cs"/>
              </a:rPr>
              <a:pPr algn="ctr" eaLnBrk="0" hangingPunct="0">
                <a:defRPr/>
              </a:pPr>
              <a:t>28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p:txBody>
          <a:bodyPr/>
          <a:lstStyle/>
          <a:p>
            <a:pPr marL="484632" fontAlgn="auto">
              <a:spcAft>
                <a:spcPts val="0"/>
              </a:spcAft>
              <a:defRPr/>
            </a:pPr>
            <a:r>
              <a:rPr lang="en-US" sz="4000">
                <a:solidFill>
                  <a:schemeClr val="accent1">
                    <a:tint val="83000"/>
                    <a:satMod val="150000"/>
                  </a:schemeClr>
                </a:solidFill>
              </a:rPr>
              <a:t>Guidelines for Drawing DFDs (continued)</a:t>
            </a:r>
          </a:p>
        </p:txBody>
      </p:sp>
      <p:sp>
        <p:nvSpPr>
          <p:cNvPr id="4608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a:lnSpc>
                <a:spcPct val="80000"/>
              </a:lnSpc>
              <a:buFont typeface="Wingdings" pitchFamily="2" charset="2"/>
              <a:buAutoNum type="arabicPeriod" startAt="5"/>
            </a:pPr>
            <a:r>
              <a:rPr lang="en-US" smtClean="0"/>
              <a:t>Primitive DFDs</a:t>
            </a:r>
          </a:p>
          <a:p>
            <a:pPr marL="990600" lvl="1" indent="-533400">
              <a:lnSpc>
                <a:spcPct val="80000"/>
              </a:lnSpc>
            </a:pPr>
            <a:r>
              <a:rPr lang="en-US" smtClean="0"/>
              <a:t>Lowest logical level of decomposition</a:t>
            </a:r>
          </a:p>
          <a:p>
            <a:pPr marL="990600" lvl="1" indent="-533400">
              <a:lnSpc>
                <a:spcPct val="80000"/>
              </a:lnSpc>
            </a:pPr>
            <a:r>
              <a:rPr lang="en-US" smtClean="0"/>
              <a:t>Decision has to be made when to stop decomposition</a:t>
            </a:r>
          </a:p>
        </p:txBody>
      </p:sp>
      <p:sp>
        <p:nvSpPr>
          <p:cNvPr id="4608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1299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FE0A9A9A-44F0-431B-9D92-677A815B159C}" type="slidenum">
              <a:rPr lang="en-US" sz="1600">
                <a:solidFill>
                  <a:schemeClr val="tx1"/>
                </a:solidFill>
                <a:cs typeface="+mn-cs"/>
              </a:rPr>
              <a:pPr algn="ctr" eaLnBrk="0" hangingPunct="0">
                <a:defRPr/>
              </a:pPr>
              <a:t>29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p:txBody>
          <a:bodyPr/>
          <a:lstStyle/>
          <a:p>
            <a:pPr marL="484632" fontAlgn="auto">
              <a:spcAft>
                <a:spcPts val="0"/>
              </a:spcAft>
              <a:defRPr/>
            </a:pPr>
            <a:r>
              <a:rPr lang="en-US" sz="4000">
                <a:solidFill>
                  <a:schemeClr val="accent1">
                    <a:tint val="83000"/>
                    <a:satMod val="150000"/>
                  </a:schemeClr>
                </a:solidFill>
              </a:rPr>
              <a:t>Guidelines for Drawing DFDs (continued)</a:t>
            </a:r>
          </a:p>
        </p:txBody>
      </p:sp>
      <p:sp>
        <p:nvSpPr>
          <p:cNvPr id="4710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Rules for stopping decomposition:</a:t>
            </a:r>
          </a:p>
          <a:p>
            <a:pPr lvl="1"/>
            <a:r>
              <a:rPr lang="en-US" smtClean="0"/>
              <a:t>When each process has been reduced to a single decision, calculation or database operation</a:t>
            </a:r>
          </a:p>
          <a:p>
            <a:pPr lvl="1"/>
            <a:r>
              <a:rPr lang="en-US" smtClean="0"/>
              <a:t>When each data store represents data about a single entity</a:t>
            </a:r>
          </a:p>
          <a:p>
            <a:pPr lvl="1"/>
            <a:r>
              <a:rPr lang="en-US" smtClean="0"/>
              <a:t>When the system user does not care to see any more detail</a:t>
            </a:r>
          </a:p>
        </p:txBody>
      </p:sp>
      <p:sp>
        <p:nvSpPr>
          <p:cNvPr id="4710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1402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AC80C522-140C-479C-8442-15456ED54115}" type="slidenum">
              <a:rPr lang="en-US" sz="1600">
                <a:solidFill>
                  <a:schemeClr val="tx1"/>
                </a:solidFill>
                <a:cs typeface="+mn-cs"/>
              </a:rPr>
              <a:pPr algn="ctr" eaLnBrk="0" hangingPunct="0">
                <a:defRPr/>
              </a:pPr>
              <a:t>30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pPr marL="484632" fontAlgn="auto">
              <a:spcAft>
                <a:spcPts val="0"/>
              </a:spcAft>
              <a:defRPr/>
            </a:pPr>
            <a:r>
              <a:rPr lang="en-US" sz="4000">
                <a:solidFill>
                  <a:schemeClr val="accent1">
                    <a:tint val="83000"/>
                    <a:satMod val="150000"/>
                  </a:schemeClr>
                </a:solidFill>
              </a:rPr>
              <a:t>Guidelines for Drawing DFDs (continued)</a:t>
            </a:r>
          </a:p>
        </p:txBody>
      </p:sp>
      <p:sp>
        <p:nvSpPr>
          <p:cNvPr id="4813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z="2800" smtClean="0"/>
              <a:t>Rules for stopping decomposition: (continued)</a:t>
            </a:r>
          </a:p>
          <a:p>
            <a:pPr lvl="1"/>
            <a:r>
              <a:rPr lang="en-US" sz="2400" smtClean="0"/>
              <a:t>When every data flow does not need to be split further to show that data are handled in various ways</a:t>
            </a:r>
          </a:p>
          <a:p>
            <a:pPr lvl="1"/>
            <a:r>
              <a:rPr lang="en-US" sz="2400" smtClean="0"/>
              <a:t>When you believe that you have shown each business form or transaction, online display and report as a single data flow</a:t>
            </a:r>
          </a:p>
          <a:p>
            <a:pPr lvl="1"/>
            <a:r>
              <a:rPr lang="en-US" sz="2400" smtClean="0"/>
              <a:t>When you believe that there is a separate process for each choice on all lowest-level menu options</a:t>
            </a:r>
          </a:p>
        </p:txBody>
      </p:sp>
      <p:sp>
        <p:nvSpPr>
          <p:cNvPr id="4813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1504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504897BC-2996-45C2-B2D0-171F3AD7FCAC}" type="slidenum">
              <a:rPr lang="en-US" sz="1600">
                <a:solidFill>
                  <a:schemeClr val="tx1"/>
                </a:solidFill>
                <a:cs typeface="+mn-cs"/>
              </a:rPr>
              <a:pPr algn="ctr" eaLnBrk="0" hangingPunct="0">
                <a:defRPr/>
              </a:pPr>
              <a:t>31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Using DFDs as Analysis Tools</a:t>
            </a:r>
          </a:p>
        </p:txBody>
      </p:sp>
      <p:sp>
        <p:nvSpPr>
          <p:cNvPr id="4915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Gap Analysis</a:t>
            </a:r>
          </a:p>
          <a:p>
            <a:pPr lvl="1"/>
            <a:r>
              <a:rPr lang="en-US" smtClean="0"/>
              <a:t>The process of discovering discrepancies between two or more sets of data-flow diagrams or discrepancies within a single DFD</a:t>
            </a:r>
          </a:p>
          <a:p>
            <a:r>
              <a:rPr lang="en-US" smtClean="0"/>
              <a:t>Inefficiencies in a system can often be identified through DFDs</a:t>
            </a:r>
          </a:p>
        </p:txBody>
      </p:sp>
      <p:sp>
        <p:nvSpPr>
          <p:cNvPr id="4915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1606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FE21A4E9-95D8-4D67-AB95-876E548B2BED}" type="slidenum">
              <a:rPr lang="en-US" sz="1600">
                <a:solidFill>
                  <a:schemeClr val="tx1"/>
                </a:solidFill>
                <a:cs typeface="+mn-cs"/>
              </a:rPr>
              <a:pPr algn="ctr" eaLnBrk="0" hangingPunct="0">
                <a:defRPr/>
              </a:pPr>
              <a:t>32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p:txBody>
          <a:bodyPr>
            <a:normAutofit fontScale="90000"/>
          </a:bodyPr>
          <a:lstStyle/>
          <a:p>
            <a:pPr marL="484632" fontAlgn="auto">
              <a:spcAft>
                <a:spcPts val="0"/>
              </a:spcAft>
              <a:defRPr/>
            </a:pPr>
            <a:r>
              <a:rPr lang="en-US" dirty="0">
                <a:solidFill>
                  <a:schemeClr val="accent1">
                    <a:tint val="83000"/>
                    <a:satMod val="150000"/>
                  </a:schemeClr>
                </a:solidFill>
              </a:rPr>
              <a:t>Using DFDs in Business Process Reengineering</a:t>
            </a:r>
          </a:p>
        </p:txBody>
      </p:sp>
      <p:sp>
        <p:nvSpPr>
          <p:cNvPr id="50179" name="Rectangle 4" descr="Rectangle: Click to edit Master text styles&#10;Second level&#10;Third level&#10;Fourth level&#10;Fifth level"/>
          <p:cNvSpPr>
            <a:spLocks noGrp="1" noChangeArrowheads="1"/>
          </p:cNvSpPr>
          <p:nvPr>
            <p:ph type="body" sz="half" idx="2"/>
          </p:nvPr>
        </p:nvSpPr>
        <p:spPr/>
        <p:txBody>
          <a:bodyPr/>
          <a:lstStyle/>
          <a:p>
            <a:r>
              <a:rPr lang="en-US" sz="2800" dirty="0" smtClean="0"/>
              <a:t>Example: IBM Credit</a:t>
            </a:r>
          </a:p>
          <a:p>
            <a:r>
              <a:rPr lang="en-US" sz="2800" dirty="0" smtClean="0"/>
              <a:t>Credit approval process is required six days before Business Process Reengineering (see Fig 6-13)</a:t>
            </a:r>
          </a:p>
          <a:p>
            <a:endParaRPr lang="en-US" sz="2800" dirty="0" smtClean="0"/>
          </a:p>
          <a:p>
            <a:endParaRPr lang="en-US" sz="2800" dirty="0" smtClean="0"/>
          </a:p>
        </p:txBody>
      </p:sp>
      <p:sp>
        <p:nvSpPr>
          <p:cNvPr id="50180" name="Footer Placeholder 5"/>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2935" name="Text Box 7"/>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14EBAF7C-09FF-436A-9013-DD5C19287312}" type="slidenum">
              <a:rPr lang="en-US" sz="1600">
                <a:solidFill>
                  <a:schemeClr val="tx1"/>
                </a:solidFill>
                <a:cs typeface="+mn-cs"/>
              </a:rPr>
              <a:pPr algn="ctr" eaLnBrk="0" hangingPunct="0">
                <a:defRPr/>
              </a:pPr>
              <a:t>33</a:t>
            </a:fld>
            <a:endParaRPr lang="en-US" sz="1600">
              <a:solidFill>
                <a:schemeClr val="tx1"/>
              </a:solidFill>
              <a:cs typeface="+mn-cs"/>
            </a:endParaRPr>
          </a:p>
        </p:txBody>
      </p:sp>
      <p:pic>
        <p:nvPicPr>
          <p:cNvPr id="3" name="Online Image Placeholder 2"/>
          <p:cNvPicPr>
            <a:picLocks noGrp="1" noChangeAspect="1"/>
          </p:cNvPicPr>
          <p:nvPr>
            <p:ph type="clipArt" sz="half" idx="1"/>
          </p:nvPr>
        </p:nvPicPr>
        <p:blipFill>
          <a:blip r:embed="rId2"/>
          <a:stretch>
            <a:fillRect/>
          </a:stretch>
        </p:blipFill>
        <p:spPr>
          <a:xfrm>
            <a:off x="849549" y="1828800"/>
            <a:ext cx="3599253" cy="4383932"/>
          </a:xfrm>
          <a:prstGeom prst="rect">
            <a:avLst/>
          </a:prstGeom>
        </p:spPr>
      </p:pic>
    </p:spTree>
  </p:cSld>
  <p:clrMapOvr>
    <a:masterClrMapping/>
  </p:clrMapOvr>
  <p:transition>
    <p:zo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normAutofit fontScale="90000"/>
          </a:bodyPr>
          <a:lstStyle/>
          <a:p>
            <a:pPr marL="484632" fontAlgn="auto">
              <a:spcAft>
                <a:spcPts val="0"/>
              </a:spcAft>
              <a:defRPr/>
            </a:pPr>
            <a:r>
              <a:rPr lang="en-US" sz="4000">
                <a:solidFill>
                  <a:schemeClr val="accent1">
                    <a:tint val="83000"/>
                    <a:satMod val="150000"/>
                  </a:schemeClr>
                </a:solidFill>
              </a:rPr>
              <a:t>Using DFDs in Business Process Reengineering (continued</a:t>
            </a:r>
            <a:r>
              <a:rPr lang="en-US">
                <a:solidFill>
                  <a:schemeClr val="accent1">
                    <a:tint val="83000"/>
                    <a:satMod val="150000"/>
                  </a:schemeClr>
                </a:solidFill>
              </a:rPr>
              <a:t>)</a:t>
            </a:r>
          </a:p>
        </p:txBody>
      </p:sp>
      <p:sp>
        <p:nvSpPr>
          <p:cNvPr id="51203" name="Rectangle 4" descr="Rectangle: Click to edit Master text styles&#10;Second level&#10;Third level&#10;Fourth level&#10;Fifth level"/>
          <p:cNvSpPr>
            <a:spLocks noGrp="1" noChangeArrowheads="1"/>
          </p:cNvSpPr>
          <p:nvPr>
            <p:ph type="body" sz="half" idx="2"/>
          </p:nvPr>
        </p:nvSpPr>
        <p:spPr/>
        <p:txBody>
          <a:bodyPr/>
          <a:lstStyle/>
          <a:p>
            <a:r>
              <a:rPr lang="en-US" sz="2800" smtClean="0"/>
              <a:t>After Business Reprocess Engineering, IBM was able to process 100 times the number of transactions in the same amount of time</a:t>
            </a:r>
          </a:p>
          <a:p>
            <a:endParaRPr lang="en-US" sz="2800" smtClean="0"/>
          </a:p>
        </p:txBody>
      </p:sp>
      <p:sp>
        <p:nvSpPr>
          <p:cNvPr id="51204" name="Footer Placeholder 5"/>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3959" name="Text Box 7"/>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422C14CD-1D2E-49A9-8EDD-044E45254113}" type="slidenum">
              <a:rPr lang="en-US" sz="1600">
                <a:solidFill>
                  <a:schemeClr val="tx1"/>
                </a:solidFill>
                <a:cs typeface="+mn-cs"/>
              </a:rPr>
              <a:pPr algn="ctr" eaLnBrk="0" hangingPunct="0">
                <a:defRPr/>
              </a:pPr>
              <a:t>34</a:t>
            </a:fld>
            <a:endParaRPr lang="en-US" sz="1600">
              <a:solidFill>
                <a:schemeClr val="tx1"/>
              </a:solidFill>
              <a:cs typeface="+mn-cs"/>
            </a:endParaRPr>
          </a:p>
        </p:txBody>
      </p:sp>
      <p:pic>
        <p:nvPicPr>
          <p:cNvPr id="3" name="Online Image Placeholder 2"/>
          <p:cNvPicPr>
            <a:picLocks noGrp="1" noChangeAspect="1"/>
          </p:cNvPicPr>
          <p:nvPr>
            <p:ph type="clipArt" sz="half" idx="1"/>
          </p:nvPr>
        </p:nvPicPr>
        <p:blipFill>
          <a:blip r:embed="rId2"/>
          <a:stretch>
            <a:fillRect/>
          </a:stretch>
        </p:blipFill>
        <p:spPr>
          <a:xfrm>
            <a:off x="825230" y="1930940"/>
            <a:ext cx="3810000" cy="3860260"/>
          </a:xfrm>
          <a:prstGeom prst="rect">
            <a:avLst/>
          </a:prstGeom>
        </p:spPr>
      </p:pic>
    </p:spTree>
  </p:cSld>
  <p:clrMapOvr>
    <a:masterClrMapping/>
  </p:clrMapOvr>
  <p:transition>
    <p:zo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Logic Modeling</a:t>
            </a:r>
          </a:p>
        </p:txBody>
      </p:sp>
      <p:sp>
        <p:nvSpPr>
          <p:cNvPr id="5222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Data-flow diagrams do not show the logic inside the processes</a:t>
            </a:r>
          </a:p>
          <a:p>
            <a:r>
              <a:rPr lang="en-US" smtClean="0"/>
              <a:t>Logic modeling involves representing internal structure and functionality of processes depicted on a DFD</a:t>
            </a:r>
          </a:p>
          <a:p>
            <a:r>
              <a:rPr lang="en-US" smtClean="0"/>
              <a:t>Utilizes Decision Tables</a:t>
            </a:r>
          </a:p>
        </p:txBody>
      </p:sp>
      <p:sp>
        <p:nvSpPr>
          <p:cNvPr id="5222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2528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FC388247-2CAC-4E54-AFFF-667361AC73BE}" type="slidenum">
              <a:rPr lang="en-US" sz="1600">
                <a:solidFill>
                  <a:schemeClr val="tx1"/>
                </a:solidFill>
                <a:cs typeface="+mn-cs"/>
              </a:rPr>
              <a:pPr algn="ctr" eaLnBrk="0" hangingPunct="0">
                <a:defRPr/>
              </a:pPr>
              <a:t>35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Modeling Logic with</a:t>
            </a:r>
            <a:br>
              <a:rPr lang="en-US">
                <a:solidFill>
                  <a:schemeClr val="accent1">
                    <a:tint val="83000"/>
                    <a:satMod val="150000"/>
                  </a:schemeClr>
                </a:solidFill>
              </a:rPr>
            </a:br>
            <a:r>
              <a:rPr lang="en-US">
                <a:solidFill>
                  <a:schemeClr val="accent1">
                    <a:tint val="83000"/>
                    <a:satMod val="150000"/>
                  </a:schemeClr>
                </a:solidFill>
              </a:rPr>
              <a:t> Decision Tables</a:t>
            </a:r>
          </a:p>
        </p:txBody>
      </p:sp>
      <p:sp>
        <p:nvSpPr>
          <p:cNvPr id="5325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A matrix representation of the logic of a decision</a:t>
            </a:r>
          </a:p>
          <a:p>
            <a:r>
              <a:rPr lang="en-US" smtClean="0"/>
              <a:t>Specifies the possible conditions and the resulting actions</a:t>
            </a:r>
          </a:p>
          <a:p>
            <a:r>
              <a:rPr lang="en-US" smtClean="0"/>
              <a:t>Best used for complicated decision logic</a:t>
            </a:r>
          </a:p>
          <a:p>
            <a:pPr>
              <a:buFont typeface="Wingdings" pitchFamily="2" charset="2"/>
              <a:buNone/>
            </a:pPr>
            <a:endParaRPr lang="en-US" smtClean="0"/>
          </a:p>
        </p:txBody>
      </p:sp>
      <p:sp>
        <p:nvSpPr>
          <p:cNvPr id="5325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2835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9362B88B-81A9-4BAA-932A-97A3B2450346}" type="slidenum">
              <a:rPr lang="en-US" sz="1600">
                <a:solidFill>
                  <a:schemeClr val="tx1"/>
                </a:solidFill>
                <a:cs typeface="+mn-cs"/>
              </a:rPr>
              <a:pPr algn="ctr" eaLnBrk="0" hangingPunct="0">
                <a:defRPr/>
              </a:pPr>
              <a:t>36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1026"/>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Modeling Logic with</a:t>
            </a:r>
            <a:br>
              <a:rPr lang="en-US">
                <a:solidFill>
                  <a:schemeClr val="accent1">
                    <a:tint val="83000"/>
                    <a:satMod val="150000"/>
                  </a:schemeClr>
                </a:solidFill>
              </a:rPr>
            </a:br>
            <a:r>
              <a:rPr lang="en-US">
                <a:solidFill>
                  <a:schemeClr val="accent1">
                    <a:tint val="83000"/>
                    <a:satMod val="150000"/>
                  </a:schemeClr>
                </a:solidFill>
              </a:rPr>
              <a:t>Decision Tables (continued)</a:t>
            </a:r>
          </a:p>
        </p:txBody>
      </p:sp>
      <p:sp>
        <p:nvSpPr>
          <p:cNvPr id="54274" name="Rectangle 1027"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Consists of three parts:</a:t>
            </a:r>
          </a:p>
          <a:p>
            <a:pPr lvl="1"/>
            <a:r>
              <a:rPr lang="en-US" smtClean="0"/>
              <a:t>Condition stubs</a:t>
            </a:r>
          </a:p>
          <a:p>
            <a:pPr lvl="2"/>
            <a:r>
              <a:rPr lang="en-US" smtClean="0"/>
              <a:t>Lists condition relevant to decision</a:t>
            </a:r>
          </a:p>
          <a:p>
            <a:pPr lvl="1"/>
            <a:r>
              <a:rPr lang="en-US" smtClean="0"/>
              <a:t>Action stubs</a:t>
            </a:r>
          </a:p>
          <a:p>
            <a:pPr lvl="2"/>
            <a:r>
              <a:rPr lang="en-US" smtClean="0"/>
              <a:t>Actions that result for a given set of conditions</a:t>
            </a:r>
          </a:p>
          <a:p>
            <a:pPr lvl="1"/>
            <a:r>
              <a:rPr lang="en-US" smtClean="0"/>
              <a:t>Rules</a:t>
            </a:r>
          </a:p>
          <a:p>
            <a:pPr lvl="2"/>
            <a:r>
              <a:rPr lang="en-US" smtClean="0"/>
              <a:t>Specify which actions are to be followed for a given set of conditions</a:t>
            </a:r>
          </a:p>
          <a:p>
            <a:pPr>
              <a:buFont typeface="Wingdings" pitchFamily="2" charset="2"/>
              <a:buNone/>
            </a:pPr>
            <a:endParaRPr lang="en-US" smtClean="0"/>
          </a:p>
        </p:txBody>
      </p:sp>
      <p:sp>
        <p:nvSpPr>
          <p:cNvPr id="5427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29380" name="Text Box 1028"/>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E2490404-6425-4A2D-AE70-2AA6B27F0CEA}" type="slidenum">
              <a:rPr lang="en-US" sz="1600">
                <a:solidFill>
                  <a:schemeClr val="tx1"/>
                </a:solidFill>
                <a:cs typeface="+mn-cs"/>
              </a:rPr>
              <a:pPr algn="ctr" eaLnBrk="0" hangingPunct="0">
                <a:defRPr/>
              </a:pPr>
              <a:t>37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lstStyle/>
          <a:p>
            <a:pPr marL="484632" fontAlgn="auto">
              <a:spcAft>
                <a:spcPts val="0"/>
              </a:spcAft>
              <a:defRPr/>
            </a:pPr>
            <a:r>
              <a:rPr lang="en-US" dirty="0">
                <a:solidFill>
                  <a:schemeClr val="accent1">
                    <a:tint val="83000"/>
                    <a:satMod val="150000"/>
                  </a:schemeClr>
                </a:solidFill>
              </a:rPr>
              <a:t>Modeling Logic with</a:t>
            </a:r>
            <a:br>
              <a:rPr lang="en-US" dirty="0">
                <a:solidFill>
                  <a:schemeClr val="accent1">
                    <a:tint val="83000"/>
                    <a:satMod val="150000"/>
                  </a:schemeClr>
                </a:solidFill>
              </a:rPr>
            </a:br>
            <a:r>
              <a:rPr lang="en-US" dirty="0">
                <a:solidFill>
                  <a:schemeClr val="accent1">
                    <a:tint val="83000"/>
                    <a:satMod val="150000"/>
                  </a:schemeClr>
                </a:solidFill>
              </a:rPr>
              <a:t>Decision Tables (continued)</a:t>
            </a:r>
          </a:p>
        </p:txBody>
      </p:sp>
      <p:sp>
        <p:nvSpPr>
          <p:cNvPr id="230403"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normAutofit lnSpcReduction="10000"/>
          </a:bodyPr>
          <a:lstStyle/>
          <a:p>
            <a:pPr marL="448056" indent="-384048" fontAlgn="auto">
              <a:lnSpc>
                <a:spcPct val="90000"/>
              </a:lnSpc>
              <a:spcAft>
                <a:spcPts val="0"/>
              </a:spcAft>
              <a:buFont typeface="Wingdings 2"/>
              <a:buChar char=""/>
              <a:defRPr/>
            </a:pPr>
            <a:r>
              <a:rPr lang="en-US" sz="2800" dirty="0"/>
              <a:t>Indifferent Condition</a:t>
            </a:r>
          </a:p>
          <a:p>
            <a:pPr marL="822960" lvl="1" fontAlgn="auto">
              <a:lnSpc>
                <a:spcPct val="90000"/>
              </a:lnSpc>
              <a:spcAft>
                <a:spcPts val="0"/>
              </a:spcAft>
              <a:buFont typeface="Verdana"/>
              <a:buChar char="›"/>
              <a:defRPr/>
            </a:pPr>
            <a:r>
              <a:rPr lang="en-US" sz="2400" dirty="0"/>
              <a:t>Condition whose value does not affect which action is taken for two or more rules</a:t>
            </a:r>
          </a:p>
          <a:p>
            <a:pPr marL="448056" indent="-384048" fontAlgn="auto">
              <a:lnSpc>
                <a:spcPct val="90000"/>
              </a:lnSpc>
              <a:spcAft>
                <a:spcPts val="0"/>
              </a:spcAft>
              <a:buFont typeface="Wingdings 2"/>
              <a:buChar char=""/>
              <a:defRPr/>
            </a:pPr>
            <a:r>
              <a:rPr lang="en-US" sz="2800" dirty="0"/>
              <a:t>Standard procedure for creating decision tables:</a:t>
            </a:r>
          </a:p>
          <a:p>
            <a:pPr marL="822960" lvl="1" fontAlgn="auto">
              <a:lnSpc>
                <a:spcPct val="90000"/>
              </a:lnSpc>
              <a:spcAft>
                <a:spcPts val="0"/>
              </a:spcAft>
              <a:buFont typeface="Verdana"/>
              <a:buChar char="›"/>
              <a:defRPr/>
            </a:pPr>
            <a:r>
              <a:rPr lang="en-US" sz="2400" dirty="0"/>
              <a:t>Name the conditions and values each condition can assume</a:t>
            </a:r>
          </a:p>
          <a:p>
            <a:pPr marL="822960" lvl="1" fontAlgn="auto">
              <a:lnSpc>
                <a:spcPct val="90000"/>
              </a:lnSpc>
              <a:spcAft>
                <a:spcPts val="0"/>
              </a:spcAft>
              <a:buFont typeface="Verdana"/>
              <a:buChar char="›"/>
              <a:defRPr/>
            </a:pPr>
            <a:r>
              <a:rPr lang="en-US" sz="2400" dirty="0"/>
              <a:t>Name all possible actions that can occur</a:t>
            </a:r>
          </a:p>
          <a:p>
            <a:pPr marL="822960" lvl="1" fontAlgn="auto">
              <a:lnSpc>
                <a:spcPct val="90000"/>
              </a:lnSpc>
              <a:spcAft>
                <a:spcPts val="0"/>
              </a:spcAft>
              <a:buFont typeface="Verdana"/>
              <a:buChar char="›"/>
              <a:defRPr/>
            </a:pPr>
            <a:r>
              <a:rPr lang="en-US" sz="2400" dirty="0"/>
              <a:t>List all possible rules</a:t>
            </a:r>
          </a:p>
          <a:p>
            <a:pPr marL="822960" lvl="1" fontAlgn="auto">
              <a:lnSpc>
                <a:spcPct val="90000"/>
              </a:lnSpc>
              <a:spcAft>
                <a:spcPts val="0"/>
              </a:spcAft>
              <a:buFont typeface="Verdana"/>
              <a:buChar char="›"/>
              <a:defRPr/>
            </a:pPr>
            <a:r>
              <a:rPr lang="en-US" sz="2400" dirty="0"/>
              <a:t>Define the actions for each rule (See Figure </a:t>
            </a:r>
            <a:r>
              <a:rPr lang="en-US" sz="2400" dirty="0" smtClean="0"/>
              <a:t>6-17)</a:t>
            </a:r>
            <a:endParaRPr lang="en-US" sz="2400" dirty="0"/>
          </a:p>
          <a:p>
            <a:pPr marL="822960" lvl="1" fontAlgn="auto">
              <a:lnSpc>
                <a:spcPct val="90000"/>
              </a:lnSpc>
              <a:spcAft>
                <a:spcPts val="0"/>
              </a:spcAft>
              <a:buFont typeface="Verdana"/>
              <a:buChar char="›"/>
              <a:defRPr/>
            </a:pPr>
            <a:r>
              <a:rPr lang="en-US" sz="2400" dirty="0"/>
              <a:t>Simplify the decision table (See Figure </a:t>
            </a:r>
            <a:r>
              <a:rPr lang="en-US" sz="2400" dirty="0" smtClean="0"/>
              <a:t>6-18)</a:t>
            </a:r>
            <a:endParaRPr lang="en-US" sz="2400" dirty="0"/>
          </a:p>
        </p:txBody>
      </p:sp>
      <p:sp>
        <p:nvSpPr>
          <p:cNvPr id="5529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3040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872EB422-B273-43AF-8EAC-ED56547675D4}" type="slidenum">
              <a:rPr lang="en-US" sz="1600">
                <a:solidFill>
                  <a:schemeClr val="tx1"/>
                </a:solidFill>
                <a:cs typeface="+mn-cs"/>
              </a:rPr>
              <a:pPr algn="ctr" eaLnBrk="0" hangingPunct="0">
                <a:defRPr/>
              </a:pPr>
              <a:t>38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6003" name="Text Box 3"/>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2D40C396-E55F-4565-B02A-D93B8CB4BBF2}" type="slidenum">
              <a:rPr lang="en-US" sz="1600">
                <a:solidFill>
                  <a:schemeClr val="tx1"/>
                </a:solidFill>
                <a:cs typeface="+mn-cs"/>
              </a:rPr>
              <a:pPr algn="ctr" eaLnBrk="0" hangingPunct="0">
                <a:defRPr/>
              </a:pPr>
              <a:t>39</a:t>
            </a:fld>
            <a:endParaRPr lang="en-US" sz="1600">
              <a:solidFill>
                <a:schemeClr val="tx1"/>
              </a:solidFill>
              <a:cs typeface="+mn-cs"/>
            </a:endParaRPr>
          </a:p>
        </p:txBody>
      </p:sp>
      <p:pic>
        <p:nvPicPr>
          <p:cNvPr id="2" name="Picture 1"/>
          <p:cNvPicPr>
            <a:picLocks noChangeAspect="1"/>
          </p:cNvPicPr>
          <p:nvPr/>
        </p:nvPicPr>
        <p:blipFill>
          <a:blip r:embed="rId2"/>
          <a:stretch>
            <a:fillRect/>
          </a:stretch>
        </p:blipFill>
        <p:spPr>
          <a:xfrm>
            <a:off x="304800" y="914400"/>
            <a:ext cx="8486775" cy="5486400"/>
          </a:xfrm>
          <a:prstGeom prst="rect">
            <a:avLst/>
          </a:prstGeom>
        </p:spPr>
      </p:pic>
    </p:spTree>
  </p:cSld>
  <p:clrMapOvr>
    <a:masterClrMapping/>
  </p:clrMapOvr>
  <p:transition>
    <p:zo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7026"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D79C8D9D-042A-4CE2-BEE9-23FF5D8D2933}" type="slidenum">
              <a:rPr lang="en-US" sz="1600">
                <a:solidFill>
                  <a:schemeClr val="tx1"/>
                </a:solidFill>
                <a:cs typeface="+mn-cs"/>
              </a:rPr>
              <a:pPr algn="ctr" eaLnBrk="0" hangingPunct="0">
                <a:defRPr/>
              </a:pPr>
              <a:t>40</a:t>
            </a:fld>
            <a:endParaRPr lang="en-US" sz="1600">
              <a:solidFill>
                <a:schemeClr val="tx1"/>
              </a:solidFill>
              <a:cs typeface="+mn-cs"/>
            </a:endParaRPr>
          </a:p>
        </p:txBody>
      </p:sp>
      <p:pic>
        <p:nvPicPr>
          <p:cNvPr id="3" name="Picture 2"/>
          <p:cNvPicPr>
            <a:picLocks noChangeAspect="1"/>
          </p:cNvPicPr>
          <p:nvPr/>
        </p:nvPicPr>
        <p:blipFill>
          <a:blip r:embed="rId2"/>
          <a:stretch>
            <a:fillRect/>
          </a:stretch>
        </p:blipFill>
        <p:spPr>
          <a:xfrm>
            <a:off x="90487" y="1066800"/>
            <a:ext cx="8963025" cy="4830762"/>
          </a:xfrm>
          <a:prstGeom prst="rect">
            <a:avLst/>
          </a:prstGeom>
        </p:spPr>
      </p:pic>
    </p:spTree>
  </p:cSld>
  <p:clrMapOvr>
    <a:masterClrMapping/>
  </p:clrMapOvr>
  <p:transition>
    <p:zo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a:xfrm>
            <a:off x="228600" y="457200"/>
            <a:ext cx="8686800" cy="1399032"/>
          </a:xfrm>
        </p:spPr>
        <p:txBody>
          <a:bodyPr>
            <a:noAutofit/>
          </a:bodyPr>
          <a:lstStyle/>
          <a:p>
            <a:pPr marL="484632" fontAlgn="auto">
              <a:spcAft>
                <a:spcPts val="0"/>
              </a:spcAft>
              <a:defRPr/>
            </a:pPr>
            <a:r>
              <a:rPr lang="en-US" sz="4000" dirty="0">
                <a:solidFill>
                  <a:schemeClr val="accent1">
                    <a:tint val="83000"/>
                    <a:satMod val="150000"/>
                  </a:schemeClr>
                </a:solidFill>
              </a:rPr>
              <a:t>Process Modeling for</a:t>
            </a:r>
            <a:r>
              <a:rPr lang="en-US" sz="4000" dirty="0" smtClean="0">
                <a:solidFill>
                  <a:schemeClr val="accent1">
                    <a:tint val="83000"/>
                    <a:satMod val="150000"/>
                  </a:schemeClr>
                </a:solidFill>
              </a:rPr>
              <a:t/>
            </a:r>
            <a:br>
              <a:rPr lang="en-US" sz="4000" dirty="0" smtClean="0">
                <a:solidFill>
                  <a:schemeClr val="accent1">
                    <a:tint val="83000"/>
                    <a:satMod val="150000"/>
                  </a:schemeClr>
                </a:solidFill>
              </a:rPr>
            </a:br>
            <a:r>
              <a:rPr lang="en-US" sz="4000" dirty="0" smtClean="0">
                <a:solidFill>
                  <a:schemeClr val="accent1">
                    <a:tint val="83000"/>
                    <a:satMod val="150000"/>
                  </a:schemeClr>
                </a:solidFill>
              </a:rPr>
              <a:t>Electronic </a:t>
            </a:r>
            <a:r>
              <a:rPr lang="en-US" sz="4000" dirty="0">
                <a:solidFill>
                  <a:schemeClr val="accent1">
                    <a:tint val="83000"/>
                    <a:satMod val="150000"/>
                  </a:schemeClr>
                </a:solidFill>
              </a:rPr>
              <a:t>Commerce Application</a:t>
            </a:r>
          </a:p>
        </p:txBody>
      </p:sp>
      <p:sp>
        <p:nvSpPr>
          <p:cNvPr id="58370" name="Rectangle 3" descr="Rectangle: Click to edit Master text styles&#10;Second level&#10;Third level&#10;Fourth level&#10;Fifth level"/>
          <p:cNvSpPr>
            <a:spLocks noGrp="1" noChangeArrowheads="1"/>
          </p:cNvSpPr>
          <p:nvPr>
            <p:ph idx="1"/>
          </p:nvPr>
        </p:nvSpPr>
        <p:spPr>
          <a:xfrm>
            <a:off x="457200" y="2133600"/>
            <a:ext cx="8229600" cy="4572000"/>
          </a:xfrm>
        </p:spPr>
        <p:txBody>
          <a:bodyPr/>
          <a:lstStyle/>
          <a:p>
            <a:r>
              <a:rPr lang="en-US" smtClean="0"/>
              <a:t>Process modeling for electronic commerce projects is no different than other projects</a:t>
            </a:r>
          </a:p>
          <a:p>
            <a:r>
              <a:rPr lang="en-US" smtClean="0"/>
              <a:t>See Pine Valley Furniture example; Table 6-4</a:t>
            </a:r>
          </a:p>
        </p:txBody>
      </p:sp>
      <p:sp>
        <p:nvSpPr>
          <p:cNvPr id="5837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3142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FB84FDEA-02D1-4EA3-99C0-943FBE2E3A19}" type="slidenum">
              <a:rPr lang="en-US" sz="1600">
                <a:solidFill>
                  <a:schemeClr val="tx1"/>
                </a:solidFill>
                <a:cs typeface="+mn-cs"/>
              </a:rPr>
              <a:pPr algn="ctr" eaLnBrk="0" hangingPunct="0">
                <a:defRPr/>
              </a:pPr>
              <a:t>41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8050"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7F86F573-FC94-4CB5-85BA-75A8B3FB3D08}" type="slidenum">
              <a:rPr lang="en-US" sz="1600">
                <a:solidFill>
                  <a:schemeClr val="tx1"/>
                </a:solidFill>
                <a:cs typeface="+mn-cs"/>
              </a:rPr>
              <a:pPr algn="ctr" eaLnBrk="0" hangingPunct="0">
                <a:defRPr/>
              </a:pPr>
              <a:t>42</a:t>
            </a:fld>
            <a:endParaRPr lang="en-US" sz="1600">
              <a:solidFill>
                <a:schemeClr val="tx1"/>
              </a:solidFill>
              <a:cs typeface="+mn-cs"/>
            </a:endParaRPr>
          </a:p>
        </p:txBody>
      </p:sp>
      <p:pic>
        <p:nvPicPr>
          <p:cNvPr id="59395" name="Picture 4"/>
          <p:cNvPicPr>
            <a:picLocks noChangeAspect="1" noChangeArrowheads="1"/>
          </p:cNvPicPr>
          <p:nvPr/>
        </p:nvPicPr>
        <p:blipFill>
          <a:blip r:embed="rId2"/>
          <a:srcRect/>
          <a:stretch>
            <a:fillRect/>
          </a:stretch>
        </p:blipFill>
        <p:spPr bwMode="auto">
          <a:xfrm>
            <a:off x="676275" y="492125"/>
            <a:ext cx="7789863" cy="5603875"/>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p:txBody>
          <a:bodyPr/>
          <a:lstStyle/>
          <a:p>
            <a:pPr marL="484632" fontAlgn="auto">
              <a:spcAft>
                <a:spcPts val="0"/>
              </a:spcAft>
              <a:defRPr/>
            </a:pPr>
            <a:r>
              <a:rPr lang="en-US" dirty="0">
                <a:solidFill>
                  <a:schemeClr val="accent1">
                    <a:tint val="83000"/>
                    <a:satMod val="150000"/>
                  </a:schemeClr>
                </a:solidFill>
              </a:rPr>
              <a:t>Summary</a:t>
            </a:r>
          </a:p>
        </p:txBody>
      </p:sp>
      <p:sp>
        <p:nvSpPr>
          <p:cNvPr id="6041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z="2400" smtClean="0"/>
              <a:t>Data-flow Diagrams (DFD)</a:t>
            </a:r>
          </a:p>
          <a:p>
            <a:pPr lvl="1">
              <a:lnSpc>
                <a:spcPct val="90000"/>
              </a:lnSpc>
            </a:pPr>
            <a:r>
              <a:rPr lang="en-US" sz="2000" smtClean="0"/>
              <a:t>Symbols</a:t>
            </a:r>
          </a:p>
          <a:p>
            <a:pPr lvl="1">
              <a:lnSpc>
                <a:spcPct val="90000"/>
              </a:lnSpc>
            </a:pPr>
            <a:r>
              <a:rPr lang="en-US" sz="2000" smtClean="0"/>
              <a:t>Rules for creating</a:t>
            </a:r>
          </a:p>
          <a:p>
            <a:pPr lvl="1">
              <a:lnSpc>
                <a:spcPct val="90000"/>
              </a:lnSpc>
            </a:pPr>
            <a:r>
              <a:rPr lang="en-US" sz="2000" smtClean="0"/>
              <a:t>Decomposition</a:t>
            </a:r>
          </a:p>
          <a:p>
            <a:pPr lvl="1">
              <a:lnSpc>
                <a:spcPct val="90000"/>
              </a:lnSpc>
            </a:pPr>
            <a:r>
              <a:rPr lang="en-US" sz="2000" smtClean="0"/>
              <a:t>Balancing</a:t>
            </a:r>
          </a:p>
          <a:p>
            <a:pPr>
              <a:lnSpc>
                <a:spcPct val="90000"/>
              </a:lnSpc>
            </a:pPr>
            <a:r>
              <a:rPr lang="en-US" sz="2400" smtClean="0"/>
              <a:t>DFDs for Analysis</a:t>
            </a:r>
          </a:p>
          <a:p>
            <a:pPr>
              <a:lnSpc>
                <a:spcPct val="90000"/>
              </a:lnSpc>
            </a:pPr>
            <a:r>
              <a:rPr lang="en-US" sz="2400" smtClean="0"/>
              <a:t>DFDs for Business Process Reengineering (BPR)</a:t>
            </a:r>
          </a:p>
          <a:p>
            <a:pPr>
              <a:lnSpc>
                <a:spcPct val="90000"/>
              </a:lnSpc>
            </a:pPr>
            <a:r>
              <a:rPr lang="en-US" sz="2400" smtClean="0"/>
              <a:t>Logic Modeling</a:t>
            </a:r>
          </a:p>
          <a:p>
            <a:pPr lvl="1">
              <a:lnSpc>
                <a:spcPct val="90000"/>
              </a:lnSpc>
            </a:pPr>
            <a:r>
              <a:rPr lang="en-US" sz="2000" smtClean="0"/>
              <a:t>Decision Tables</a:t>
            </a:r>
          </a:p>
          <a:p>
            <a:pPr>
              <a:lnSpc>
                <a:spcPct val="90000"/>
              </a:lnSpc>
            </a:pPr>
            <a:r>
              <a:rPr lang="en-US" sz="2400" smtClean="0"/>
              <a:t>Process Modeling for the Internet</a:t>
            </a:r>
          </a:p>
        </p:txBody>
      </p:sp>
      <p:sp>
        <p:nvSpPr>
          <p:cNvPr id="6041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3245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6.</a:t>
            </a:r>
            <a:fld id="{A77CAB99-E88D-4F8E-984C-8A836B213EFA}" type="slidenum">
              <a:rPr lang="en-US" sz="1600">
                <a:solidFill>
                  <a:schemeClr val="tx1"/>
                </a:solidFill>
                <a:cs typeface="+mn-cs"/>
              </a:rPr>
              <a:pPr algn="ctr" eaLnBrk="0" hangingPunct="0">
                <a:defRPr/>
              </a:pPr>
              <a:t>43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6"/>
          <p:cNvSpPr txBox="1">
            <a:spLocks noGrp="1" noChangeArrowheads="1"/>
          </p:cNvSpPr>
          <p:nvPr/>
        </p:nvSpPr>
        <p:spPr bwMode="auto">
          <a:xfrm>
            <a:off x="6553200" y="6245225"/>
            <a:ext cx="2133600" cy="476250"/>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endParaRPr lang="en-US" sz="1400" smtClean="0">
              <a:solidFill>
                <a:srgbClr val="000000"/>
              </a:solidFill>
              <a:effectLst>
                <a:outerShdw blurRad="38100" dist="38100" dir="2700000" algn="tl">
                  <a:srgbClr val="C0C0C0"/>
                </a:outerShdw>
              </a:effectLst>
            </a:endParaRPr>
          </a:p>
        </p:txBody>
      </p:sp>
      <p:pic>
        <p:nvPicPr>
          <p:cNvPr id="69635" name="Picture 3" descr="cid:3287383400_2177562"/>
          <p:cNvPicPr>
            <a:picLocks noChangeAspect="1" noChangeArrowheads="1"/>
          </p:cNvPicPr>
          <p:nvPr/>
        </p:nvPicPr>
        <p:blipFill>
          <a:blip r:embed="rId3" r:link="rId4"/>
          <a:srcRect/>
          <a:stretch>
            <a:fillRect/>
          </a:stretch>
        </p:blipFill>
        <p:spPr bwMode="auto">
          <a:xfrm>
            <a:off x="838200" y="1446213"/>
            <a:ext cx="7242175" cy="2363787"/>
          </a:xfrm>
          <a:prstGeom prst="rect">
            <a:avLst/>
          </a:prstGeom>
          <a:solidFill>
            <a:schemeClr val="hlink"/>
          </a:solidFill>
          <a:ln w="9525">
            <a:solidFill>
              <a:schemeClr val="bg1"/>
            </a:solidFill>
            <a:miter lim="800000"/>
            <a:headEnd/>
            <a:tailEnd/>
          </a:ln>
        </p:spPr>
      </p:pic>
      <p:sp>
        <p:nvSpPr>
          <p:cNvPr id="69636" name="Rectangle 4"/>
          <p:cNvSpPr>
            <a:spLocks noChangeArrowheads="1"/>
          </p:cNvSpPr>
          <p:nvPr/>
        </p:nvSpPr>
        <p:spPr bwMode="auto">
          <a:xfrm>
            <a:off x="685800" y="4187825"/>
            <a:ext cx="7589838" cy="1069975"/>
          </a:xfrm>
          <a:prstGeom prst="rect">
            <a:avLst/>
          </a:prstGeom>
          <a:noFill/>
          <a:ln w="25400">
            <a:noFill/>
            <a:miter lim="800000"/>
            <a:headEnd/>
            <a:tailEnd/>
          </a:ln>
        </p:spPr>
        <p:txBody>
          <a:bodyPr anchor="ctr">
            <a:spAutoFit/>
          </a:bodyPr>
          <a:lstStyle/>
          <a:p>
            <a:pPr algn="ctr"/>
            <a:r>
              <a:rPr lang="en-US" sz="160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62000" y="6069013"/>
            <a:ext cx="7845425" cy="636587"/>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US" sz="1800" dirty="0" smtClean="0">
                <a:solidFill>
                  <a:srgbClr val="000000"/>
                </a:solidFill>
                <a:effectLst>
                  <a:outerShdw blurRad="38100" dist="38100" dir="2700000" algn="tl">
                    <a:srgbClr val="C0C0C0"/>
                  </a:outerShdw>
                </a:effectLst>
                <a:latin typeface="Tahoma" charset="0"/>
              </a:rPr>
              <a:t>Copyright © 2015 Pearson Education, Inc.  </a:t>
            </a:r>
          </a:p>
          <a:p>
            <a:pPr algn="ctr" eaLnBrk="1" hangingPunct="1">
              <a:defRPr/>
            </a:pPr>
            <a:r>
              <a:rPr lang="en-US" sz="1800" dirty="0" smtClean="0">
                <a:solidFill>
                  <a:srgbClr val="000000"/>
                </a:solidFill>
                <a:effectLst>
                  <a:outerShdw blurRad="38100" dist="38100" dir="2700000" algn="tl">
                    <a:srgbClr val="C0C0C0"/>
                  </a:outerShdw>
                </a:effectLst>
                <a:latin typeface="Tahoma" charset="0"/>
              </a:rPr>
              <a:t>Publishing as Prentice Hall</a:t>
            </a:r>
            <a:endParaRPr lang="en-US" sz="1800" dirty="0" smtClean="0">
              <a:solidFill>
                <a:srgbClr val="000000"/>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2653</TotalTime>
  <Words>2106</Words>
  <Application>Microsoft Office PowerPoint</Application>
  <PresentationFormat>On-screen Show (4:3)</PresentationFormat>
  <Paragraphs>291</Paragraphs>
  <Slides>44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Arial</vt:lpstr>
      <vt:lpstr>Century Gothic</vt:lpstr>
      <vt:lpstr>Tahoma</vt:lpstr>
      <vt:lpstr>Times New Roman</vt:lpstr>
      <vt:lpstr>Verdana</vt:lpstr>
      <vt:lpstr>Wingdings</vt:lpstr>
      <vt:lpstr>Wingdings 2</vt:lpstr>
      <vt:lpstr>Verve</vt:lpstr>
      <vt:lpstr>Essentials of Systems Analysis and Design Sixth Edition  Joseph S. Valacich Joey F. George Jeffrey A. Hoffer </vt:lpstr>
      <vt:lpstr>Learning Objectives</vt:lpstr>
      <vt:lpstr>Process Modeling</vt:lpstr>
      <vt:lpstr>Process Modeling (continued)</vt:lpstr>
      <vt:lpstr>Process Modeling (continued)</vt:lpstr>
      <vt:lpstr>Process Modeling (continued)</vt:lpstr>
      <vt:lpstr>PowerPoint Presentation</vt:lpstr>
      <vt:lpstr>Data-Flow Diagramming Mechanics</vt:lpstr>
      <vt:lpstr>Data-Flow Diagramming Mechanics (continued)</vt:lpstr>
      <vt:lpstr>Data-Flow Diagramming Mechanics (continued)</vt:lpstr>
      <vt:lpstr>Data-Flow Diagramming Mechanics (continued)</vt:lpstr>
      <vt:lpstr>PowerPoint Presentation</vt:lpstr>
      <vt:lpstr>Data-Flow Diagramming Definitions</vt:lpstr>
      <vt:lpstr>Developing DFDs:  An Example</vt:lpstr>
      <vt:lpstr>PowerPoint Presentation</vt:lpstr>
      <vt:lpstr>Developing DFDs:  An Example (continued)</vt:lpstr>
      <vt:lpstr>PowerPoint Presentation</vt:lpstr>
      <vt:lpstr>Data-Flow Diagramming Rules</vt:lpstr>
      <vt:lpstr>Data-Flow Diagramming Rules (continued)</vt:lpstr>
      <vt:lpstr>Data-Flow Diagramming Rules (continued)</vt:lpstr>
      <vt:lpstr>Decomposition of DFDs</vt:lpstr>
      <vt:lpstr>Balancing DFDs</vt:lpstr>
      <vt:lpstr>Balancing DFDs (continued)</vt:lpstr>
      <vt:lpstr>Balancing DFDs An Unbalanced Example</vt:lpstr>
      <vt:lpstr>Balancing DFDs</vt:lpstr>
      <vt:lpstr>Balancing DFDs Four Additional Advanced Rules</vt:lpstr>
      <vt:lpstr>Guidelines for Drawing DFDs</vt:lpstr>
      <vt:lpstr>Guidelines for Drawing DFDs (continued)</vt:lpstr>
      <vt:lpstr>Guidelines for Drawing DFDs (continued)</vt:lpstr>
      <vt:lpstr>Guidelines for Drawing DFDs (continued)</vt:lpstr>
      <vt:lpstr>Guidelines for Drawing DFDs (continued)</vt:lpstr>
      <vt:lpstr>Using DFDs as Analysis Tools</vt:lpstr>
      <vt:lpstr>Using DFDs in Business Process Reengineering</vt:lpstr>
      <vt:lpstr>Using DFDs in Business Process Reengineering (continued)</vt:lpstr>
      <vt:lpstr>Logic Modeling</vt:lpstr>
      <vt:lpstr>Modeling Logic with  Decision Tables</vt:lpstr>
      <vt:lpstr>Modeling Logic with Decision Tables (continued)</vt:lpstr>
      <vt:lpstr>Modeling Logic with Decision Tables (continued)</vt:lpstr>
      <vt:lpstr>PowerPoint Presentation</vt:lpstr>
      <vt:lpstr>PowerPoint Presentation</vt:lpstr>
      <vt:lpstr>Process Modeling for Electronic Commerce Application</vt:lpstr>
      <vt:lpstr>PowerPoint Presentation</vt:lpstr>
      <vt:lpstr>Summary</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dc:title>
  <dc:creator>John Russo</dc:creator>
  <cp:lastModifiedBy>Kim Norbuta</cp:lastModifiedBy>
  <cp:revision>95</cp:revision>
  <cp:lastPrinted>1601-01-01T00:00:00Z</cp:lastPrinted>
  <dcterms:created xsi:type="dcterms:W3CDTF">2011-07-26T15:53:33Z</dcterms:created>
  <dcterms:modified xsi:type="dcterms:W3CDTF">2014-10-24T14:19:18Z</dcterms:modified>
</cp:coreProperties>
</file>