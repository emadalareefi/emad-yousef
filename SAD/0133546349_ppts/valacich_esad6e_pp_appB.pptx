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0"/>
  </p:notesMasterIdLst>
  <p:handoutMasterIdLst>
    <p:handoutMasterId r:id="rId21"/>
  </p:handoutMasterIdLst>
  <p:sldIdLst>
    <p:sldId id="359" r:id="rId3"/>
    <p:sldId id="257" r:id="rId4"/>
    <p:sldId id="259" r:id="rId5"/>
    <p:sldId id="260" r:id="rId6"/>
    <p:sldId id="347" r:id="rId7"/>
    <p:sldId id="360" r:id="rId8"/>
    <p:sldId id="348" r:id="rId9"/>
    <p:sldId id="361" r:id="rId10"/>
    <p:sldId id="317" r:id="rId11"/>
    <p:sldId id="328" r:id="rId12"/>
    <p:sldId id="362" r:id="rId13"/>
    <p:sldId id="262" r:id="rId14"/>
    <p:sldId id="316" r:id="rId15"/>
    <p:sldId id="349" r:id="rId16"/>
    <p:sldId id="329" r:id="rId17"/>
    <p:sldId id="295" r:id="rId18"/>
    <p:sldId id="363" r:id="rId19"/>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p:restoredLeft sz="15620" autoAdjust="0"/>
    <p:restoredTop sz="94660"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196B1AC0-B646-4F74-922A-4393740D6083}" type="slidenum">
              <a:rPr lang="en-US"/>
              <a:pPr>
                <a:defRPr/>
              </a:pPr>
              <a:t>‹#›</a:t>
            </a:fld>
            <a:endParaRPr lang="en-US"/>
          </a:p>
        </p:txBody>
      </p:sp>
    </p:spTree>
    <p:extLst>
      <p:ext uri="{BB962C8B-B14F-4D97-AF65-F5344CB8AC3E}">
        <p14:creationId xmlns:p14="http://schemas.microsoft.com/office/powerpoint/2010/main" val="2520472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256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31020EFA-DA6D-412C-927B-BFC9BC5B822F}" type="slidenum">
              <a:rPr lang="en-US"/>
              <a:pPr>
                <a:defRPr/>
              </a:pPr>
              <a:t>‹#›</a:t>
            </a:fld>
            <a:endParaRPr lang="en-US"/>
          </a:p>
        </p:txBody>
      </p:sp>
    </p:spTree>
    <p:extLst>
      <p:ext uri="{BB962C8B-B14F-4D97-AF65-F5344CB8AC3E}">
        <p14:creationId xmlns:p14="http://schemas.microsoft.com/office/powerpoint/2010/main" val="42325149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miter lim="800000"/>
            <a:headEnd/>
            <a:tailEnd/>
          </a:ln>
        </p:spPr>
        <p:txBody>
          <a:bodyPr/>
          <a:lstStyle/>
          <a:p>
            <a:fld id="{C84DCDEC-D516-4F65-9C65-AA5922312D6D}" type="slidenum">
              <a:rPr lang="en-US" smtClean="0">
                <a:latin typeface="Tahoma" charset="0"/>
                <a:cs typeface="Arial" charset="0"/>
              </a:rPr>
              <a:pPr/>
              <a:t>1</a:t>
            </a:fld>
            <a:endParaRPr lang="en-US" smtClean="0">
              <a:latin typeface="Tahoma" charset="0"/>
              <a:cs typeface="Arial" charset="0"/>
            </a:endParaRPr>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1779492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152525" y="692150"/>
            <a:ext cx="4554538" cy="3416300"/>
          </a:xfrm>
          <a:ln/>
        </p:spPr>
      </p:sp>
      <p:sp>
        <p:nvSpPr>
          <p:cNvPr id="54275"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364435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4" name="Group 6"/>
          <p:cNvGrpSpPr>
            <a:grpSpLocks/>
          </p:cNvGrpSpPr>
          <p:nvPr/>
        </p:nvGrpSpPr>
        <p:grpSpPr bwMode="auto">
          <a:xfrm>
            <a:off x="0" y="2057400"/>
            <a:ext cx="6654800" cy="2851150"/>
            <a:chOff x="3" y="559"/>
            <a:chExt cx="4192" cy="1796"/>
          </a:xfrm>
        </p:grpSpPr>
        <p:sp>
          <p:nvSpPr>
            <p:cNvPr id="5" name="Line 7"/>
            <p:cNvSpPr>
              <a:spLocks noChangeShapeType="1"/>
            </p:cNvSpPr>
            <p:nvPr/>
          </p:nvSpPr>
          <p:spPr bwMode="ltGray">
            <a:xfrm>
              <a:off x="506" y="559"/>
              <a:ext cx="0" cy="1796"/>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6" name="Line 8"/>
            <p:cNvSpPr>
              <a:spLocks noChangeShapeType="1"/>
            </p:cNvSpPr>
            <p:nvPr/>
          </p:nvSpPr>
          <p:spPr bwMode="ltGray">
            <a:xfrm flipH="1" flipV="1">
              <a:off x="3" y="1924"/>
              <a:ext cx="3211" cy="1"/>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7" name="Line 9"/>
            <p:cNvSpPr>
              <a:spLocks noChangeShapeType="1"/>
            </p:cNvSpPr>
            <p:nvPr/>
          </p:nvSpPr>
          <p:spPr bwMode="ltGray">
            <a:xfrm flipH="1" flipV="1">
              <a:off x="384" y="938"/>
              <a:ext cx="3811" cy="1"/>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8" name="Arc 10"/>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grpSp>
        <p:nvGrpSpPr>
          <p:cNvPr id="9" name="Group 11"/>
          <p:cNvGrpSpPr>
            <a:grpSpLocks/>
          </p:cNvGrpSpPr>
          <p:nvPr/>
        </p:nvGrpSpPr>
        <p:grpSpPr bwMode="auto">
          <a:xfrm>
            <a:off x="2349500" y="3098800"/>
            <a:ext cx="6045200" cy="2876550"/>
            <a:chOff x="1480" y="1952"/>
            <a:chExt cx="3808" cy="1812"/>
          </a:xfrm>
        </p:grpSpPr>
        <p:sp>
          <p:nvSpPr>
            <p:cNvPr id="10" name="Line 12"/>
            <p:cNvSpPr>
              <a:spLocks noChangeShapeType="1"/>
            </p:cNvSpPr>
            <p:nvPr/>
          </p:nvSpPr>
          <p:spPr bwMode="ltGray">
            <a:xfrm flipV="1">
              <a:off x="1480" y="3442"/>
              <a:ext cx="3808" cy="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1" name="Line 13"/>
            <p:cNvSpPr>
              <a:spLocks noChangeShapeType="1"/>
            </p:cNvSpPr>
            <p:nvPr/>
          </p:nvSpPr>
          <p:spPr bwMode="ltGray">
            <a:xfrm flipH="1">
              <a:off x="5172" y="1952"/>
              <a:ext cx="0" cy="1812"/>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2" name="Arc 14"/>
            <p:cNvSpPr>
              <a:spLocks/>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sp>
        <p:nvSpPr>
          <p:cNvPr id="342018" name="Rectangle 2"/>
          <p:cNvSpPr>
            <a:spLocks noGrp="1" noChangeArrowheads="1"/>
          </p:cNvSpPr>
          <p:nvPr>
            <p:ph type="ctrTitle"/>
          </p:nvPr>
        </p:nvSpPr>
        <p:spPr>
          <a:xfrm>
            <a:off x="685800" y="228600"/>
            <a:ext cx="7772400" cy="1905000"/>
          </a:xfrm>
        </p:spPr>
        <p:txBody>
          <a:bodyPr/>
          <a:lstStyle>
            <a:lvl1pPr>
              <a:defRPr/>
            </a:lvl1pPr>
          </a:lstStyle>
          <a:p>
            <a:pPr lvl="0"/>
            <a:r>
              <a:rPr lang="en-US" noProof="0" smtClean="0"/>
              <a:t>Essentials of</a:t>
            </a:r>
            <a:br>
              <a:rPr lang="en-US" noProof="0" smtClean="0"/>
            </a:br>
            <a:r>
              <a:rPr lang="en-US" noProof="0" smtClean="0"/>
              <a:t> Systems Analysis and Design</a:t>
            </a:r>
            <a:br>
              <a:rPr lang="en-US" noProof="0" smtClean="0"/>
            </a:br>
            <a:r>
              <a:rPr lang="en-US" noProof="0" smtClean="0"/>
              <a:t>Second Edition</a:t>
            </a:r>
          </a:p>
        </p:txBody>
      </p:sp>
      <p:sp>
        <p:nvSpPr>
          <p:cNvPr id="342019" name="Rectangle 3" descr="Rectangle: Click to edit Master text styles&#10;Second level&#10;Third level&#10;Fourth level&#10;Fifth level"/>
          <p:cNvSpPr>
            <a:spLocks noGrp="1" noChangeArrowheads="1"/>
          </p:cNvSpPr>
          <p:nvPr>
            <p:ph type="subTitle" idx="1"/>
          </p:nvPr>
        </p:nvSpPr>
        <p:spPr>
          <a:xfrm>
            <a:off x="914400" y="2590800"/>
            <a:ext cx="6400800" cy="762000"/>
          </a:xfrm>
        </p:spPr>
        <p:txBody>
          <a:bodyPr/>
          <a:lstStyle>
            <a:lvl1pPr marL="0" indent="0">
              <a:buFont typeface="Wingdings" pitchFamily="2" charset="2"/>
              <a:buNone/>
              <a:defRPr/>
            </a:lvl1pPr>
          </a:lstStyle>
          <a:p>
            <a:pPr lvl="0"/>
            <a:r>
              <a:rPr lang="en-US" noProof="0" smtClean="0"/>
              <a:t>Joseph S. Valicich</a:t>
            </a:r>
          </a:p>
          <a:p>
            <a:pPr lvl="0"/>
            <a:r>
              <a:rPr lang="en-US" noProof="0" smtClean="0"/>
              <a:t>Joey F. George</a:t>
            </a:r>
          </a:p>
          <a:p>
            <a:pPr lvl="0"/>
            <a:r>
              <a:rPr lang="en-US" noProof="0" smtClean="0"/>
              <a:t>Jeffrey A. Hoffer</a:t>
            </a:r>
          </a:p>
        </p:txBody>
      </p:sp>
      <p:sp>
        <p:nvSpPr>
          <p:cNvPr id="13" name="Rectangle 4"/>
          <p:cNvSpPr>
            <a:spLocks noGrp="1" noChangeArrowheads="1"/>
          </p:cNvSpPr>
          <p:nvPr>
            <p:ph type="dt" sz="quarter" idx="10"/>
          </p:nvPr>
        </p:nvSpPr>
        <p:spPr/>
        <p:txBody>
          <a:bodyPr/>
          <a:lstStyle>
            <a:lvl1pPr>
              <a:defRPr/>
            </a:lvl1pPr>
          </a:lstStyle>
          <a:p>
            <a:pPr>
              <a:defRPr/>
            </a:pPr>
            <a:endParaRPr lang="en-US"/>
          </a:p>
        </p:txBody>
      </p:sp>
      <p:sp>
        <p:nvSpPr>
          <p:cNvPr id="14" name="Rectangle 5"/>
          <p:cNvSpPr>
            <a:spLocks noGrp="1" noChangeArrowheads="1"/>
          </p:cNvSpPr>
          <p:nvPr>
            <p:ph type="ftr" sz="quarter" idx="11"/>
          </p:nvPr>
        </p:nvSpPr>
        <p:spPr>
          <a:xfrm>
            <a:off x="1981200" y="6172200"/>
            <a:ext cx="5257800" cy="457200"/>
          </a:xfrm>
        </p:spPr>
        <p:txBody>
          <a:bodyPr/>
          <a:lstStyle>
            <a:lvl1pPr>
              <a:defRPr smtClean="0"/>
            </a:lvl1pPr>
          </a:lstStyle>
          <a:p>
            <a:pPr>
              <a:defRPr/>
            </a:pPr>
            <a:r>
              <a:rPr lang="en-US" dirty="0"/>
              <a:t>Copyright © </a:t>
            </a:r>
            <a:r>
              <a:rPr lang="en-US" dirty="0" smtClean="0"/>
              <a:t>2015 </a:t>
            </a:r>
            <a:r>
              <a:rPr lang="en-US" dirty="0"/>
              <a:t>Pearson Education, Inc. Publishing as Prentice Hall</a:t>
            </a: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Rectangle 6"/>
          <p:cNvSpPr>
            <a:spLocks noGrp="1" noChangeArrowheads="1"/>
          </p:cNvSpPr>
          <p:nvPr>
            <p:ph type="sldNum" sz="quarter" idx="12"/>
          </p:nvPr>
        </p:nvSpPr>
        <p:spPr>
          <a:ln/>
        </p:spPr>
        <p:txBody>
          <a:bodyPr/>
          <a:lstStyle>
            <a:lvl1pPr>
              <a:defRPr/>
            </a:lvl1pPr>
          </a:lstStyle>
          <a:p>
            <a:pPr>
              <a:defRPr/>
            </a:pPr>
            <a:fld id="{0D63DE30-7DFA-4ED8-8074-47E903E5098D}" type="slidenum">
              <a:rPr lang="en-US"/>
              <a:pPr>
                <a:defRPr/>
              </a:pPr>
              <a:t>‹#›</a:t>
            </a:fld>
            <a:endParaRPr lang="en-US"/>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Rectangle 6"/>
          <p:cNvSpPr>
            <a:spLocks noGrp="1" noChangeArrowheads="1"/>
          </p:cNvSpPr>
          <p:nvPr>
            <p:ph type="sldNum" sz="quarter" idx="12"/>
          </p:nvPr>
        </p:nvSpPr>
        <p:spPr>
          <a:ln/>
        </p:spPr>
        <p:txBody>
          <a:bodyPr/>
          <a:lstStyle>
            <a:lvl1pPr>
              <a:defRPr/>
            </a:lvl1pPr>
          </a:lstStyle>
          <a:p>
            <a:pPr>
              <a:defRPr/>
            </a:pPr>
            <a:fld id="{565260BA-EDA6-42CE-A973-6FCADB39B7D1}" type="slidenum">
              <a:rPr lang="en-US"/>
              <a:pPr>
                <a:defRPr/>
              </a:pPr>
              <a:t>‹#›</a:t>
            </a:fld>
            <a:endParaRPr lang="en-US"/>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7" name="Rectangle 6"/>
          <p:cNvSpPr>
            <a:spLocks noGrp="1" noChangeArrowheads="1"/>
          </p:cNvSpPr>
          <p:nvPr>
            <p:ph type="sldNum" sz="quarter" idx="12"/>
          </p:nvPr>
        </p:nvSpPr>
        <p:spPr>
          <a:ln/>
        </p:spPr>
        <p:txBody>
          <a:bodyPr/>
          <a:lstStyle>
            <a:lvl1pPr>
              <a:defRPr/>
            </a:lvl1pPr>
          </a:lstStyle>
          <a:p>
            <a:pPr>
              <a:defRPr/>
            </a:pPr>
            <a:fld id="{B25B0229-DAEC-4CB9-9A80-B1605554D379}" type="slidenum">
              <a:rPr lang="en-US"/>
              <a:pPr>
                <a:defRPr/>
              </a:pPr>
              <a:t>‹#›</a:t>
            </a:fld>
            <a:endParaRPr lang="en-US"/>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Rectangle 6"/>
          <p:cNvSpPr>
            <a:spLocks noGrp="1" noChangeArrowheads="1"/>
          </p:cNvSpPr>
          <p:nvPr>
            <p:ph type="sldNum" sz="quarter" idx="12"/>
          </p:nvPr>
        </p:nvSpPr>
        <p:spPr>
          <a:ln/>
        </p:spPr>
        <p:txBody>
          <a:bodyPr/>
          <a:lstStyle>
            <a:lvl1pPr>
              <a:defRPr/>
            </a:lvl1pPr>
          </a:lstStyle>
          <a:p>
            <a:pPr>
              <a:defRPr/>
            </a:pPr>
            <a:fld id="{B6CC2DD8-575A-4223-B186-9DE791CD68A4}" type="slidenum">
              <a:rPr lang="en-US"/>
              <a:pPr>
                <a:defRPr/>
              </a:pPr>
              <a:t>‹#›</a:t>
            </a:fld>
            <a:endParaRPr lang="en-US"/>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Rectangle 6"/>
          <p:cNvSpPr>
            <a:spLocks noGrp="1" noChangeArrowheads="1"/>
          </p:cNvSpPr>
          <p:nvPr>
            <p:ph type="sldNum" sz="quarter" idx="12"/>
          </p:nvPr>
        </p:nvSpPr>
        <p:spPr>
          <a:ln/>
        </p:spPr>
        <p:txBody>
          <a:bodyPr/>
          <a:lstStyle>
            <a:lvl1pPr>
              <a:defRPr/>
            </a:lvl1pPr>
          </a:lstStyle>
          <a:p>
            <a:pPr>
              <a:defRPr/>
            </a:pPr>
            <a:fld id="{09F52F83-BA20-4A88-8D40-FF753998CABA}"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Rectangle 6"/>
          <p:cNvSpPr>
            <a:spLocks noGrp="1" noChangeArrowheads="1"/>
          </p:cNvSpPr>
          <p:nvPr>
            <p:ph type="sldNum" sz="quarter" idx="12"/>
          </p:nvPr>
        </p:nvSpPr>
        <p:spPr>
          <a:ln/>
        </p:spPr>
        <p:txBody>
          <a:bodyPr/>
          <a:lstStyle>
            <a:lvl1pPr>
              <a:defRPr/>
            </a:lvl1pPr>
          </a:lstStyle>
          <a:p>
            <a:pPr>
              <a:defRPr/>
            </a:pPr>
            <a:fld id="{3E95EF84-AAEB-4072-A276-6320D84FD570}"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7" name="Rectangle 6"/>
          <p:cNvSpPr>
            <a:spLocks noGrp="1" noChangeArrowheads="1"/>
          </p:cNvSpPr>
          <p:nvPr>
            <p:ph type="sldNum" sz="quarter" idx="12"/>
          </p:nvPr>
        </p:nvSpPr>
        <p:spPr>
          <a:ln/>
        </p:spPr>
        <p:txBody>
          <a:bodyPr/>
          <a:lstStyle>
            <a:lvl1pPr>
              <a:defRPr/>
            </a:lvl1pPr>
          </a:lstStyle>
          <a:p>
            <a:pPr>
              <a:defRPr/>
            </a:pPr>
            <a:fld id="{C6AA9D0E-7527-4421-AFC1-86287435BF18}" type="slidenum">
              <a:rPr lang="en-US"/>
              <a:pPr>
                <a:defRPr/>
              </a:pPr>
              <a:t>‹#›</a:t>
            </a:fld>
            <a:endParaRPr lang="en-US"/>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7" name="Rectangle 6"/>
          <p:cNvSpPr>
            <a:spLocks noGrp="1" noChangeArrowheads="1"/>
          </p:cNvSpPr>
          <p:nvPr>
            <p:ph type="sldNum" sz="quarter" idx="12"/>
          </p:nvPr>
        </p:nvSpPr>
        <p:spPr>
          <a:ln/>
        </p:spPr>
        <p:txBody>
          <a:bodyPr/>
          <a:lstStyle>
            <a:lvl1pPr>
              <a:defRPr/>
            </a:lvl1pPr>
          </a:lstStyle>
          <a:p>
            <a:pPr>
              <a:defRPr/>
            </a:pPr>
            <a:fld id="{ED7AAA93-0F0E-40A8-AB18-67D6F5D247C5}" type="slidenum">
              <a:rPr lang="en-US"/>
              <a:pPr>
                <a:defRPr/>
              </a:pPr>
              <a:t>‹#›</a:t>
            </a:fld>
            <a:endParaRPr lang="en-US"/>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Rectangle 6"/>
          <p:cNvSpPr>
            <a:spLocks noGrp="1" noChangeArrowheads="1"/>
          </p:cNvSpPr>
          <p:nvPr>
            <p:ph type="sldNum" sz="quarter" idx="12"/>
          </p:nvPr>
        </p:nvSpPr>
        <p:spPr>
          <a:ln/>
        </p:spPr>
        <p:txBody>
          <a:bodyPr/>
          <a:lstStyle>
            <a:lvl1pPr>
              <a:defRPr/>
            </a:lvl1pPr>
          </a:lstStyle>
          <a:p>
            <a:pPr>
              <a:defRPr/>
            </a:pPr>
            <a:fld id="{28143D00-7D3E-4287-8049-6FA031B257E7}"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00025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04800"/>
            <a:ext cx="58483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Rectangle 6"/>
          <p:cNvSpPr>
            <a:spLocks noGrp="1" noChangeArrowheads="1"/>
          </p:cNvSpPr>
          <p:nvPr>
            <p:ph type="sldNum" sz="quarter" idx="12"/>
          </p:nvPr>
        </p:nvSpPr>
        <p:spPr>
          <a:ln/>
        </p:spPr>
        <p:txBody>
          <a:bodyPr/>
          <a:lstStyle>
            <a:lvl1pPr>
              <a:defRPr/>
            </a:lvl1pPr>
          </a:lstStyle>
          <a:p>
            <a:pPr>
              <a:defRPr/>
            </a:pPr>
            <a:fld id="{D04819C8-BC2C-4FC1-B286-A28839E19C4C}" type="slidenum">
              <a:rPr lang="en-US"/>
              <a:pPr>
                <a:defRPr/>
              </a:pPr>
              <a:t>‹#›</a:t>
            </a:fld>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a:t>Copyright © </a:t>
            </a:r>
            <a:r>
              <a:rPr lang="en-US" dirty="0" smtClean="0"/>
              <a:t>2015 </a:t>
            </a:r>
            <a:r>
              <a:rPr lang="en-US" dirty="0"/>
              <a:t>Pearson Education, Inc. Publishing as Prentice Hall</a:t>
            </a:r>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4A037FCF-989B-4978-A5B2-83AE884E2399}"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3A5DDC1E-7450-4DA9-96CA-66BE3E0ABB39}"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2D266C66-0EF9-4F2D-8399-E33E69162515}"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1EC81A52-E088-4C45-8638-ACE659C5D82D}"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8442BD5C-7C8C-4270-8A8D-D67D8CF28C1F}"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A502B4D4-4BBF-41A9-A608-9A514E765C88}" type="slidenum">
              <a:rPr lang="en-US"/>
              <a:pPr>
                <a:defRPr/>
              </a:pPr>
              <a:t>‹#›</a:t>
            </a:fld>
            <a:endParaRPr lang="en-US"/>
          </a:p>
        </p:txBody>
      </p:sp>
    </p:spTree>
  </p:cSld>
  <p:clrMapOvr>
    <a:masterClrMapping/>
  </p:clrMapOvr>
  <p:transition>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A3F5096D-97FE-4CA3-B5AD-41FC22EFA0A8}" type="slidenum">
              <a:rPr lang="en-US"/>
              <a:pPr>
                <a:defRPr/>
              </a:pPr>
              <a:t>‹#›</a:t>
            </a:fld>
            <a:endParaRPr lang="en-US"/>
          </a:p>
        </p:txBody>
      </p:sp>
    </p:spTree>
  </p:cSld>
  <p:clrMapOvr>
    <a:masterClrMapping/>
  </p:clrMapOvr>
  <p:transition>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5ACFBF14-90CA-4C78-979E-874A1C31ADB5}"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B432F0B0-CCBE-4A68-B8FE-6A00F7B8CAD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E0FAD021-356B-4472-9053-26DD8876FD64}" type="slidenum">
              <a:rPr lang="en-US"/>
              <a:pPr>
                <a:defRPr/>
              </a:pPr>
              <a:t>‹#›</a:t>
            </a:fld>
            <a:endParaRPr lang="en-US"/>
          </a:p>
        </p:txBody>
      </p:sp>
    </p:spTree>
  </p:cSld>
  <p:clrMapOvr>
    <a:masterClrMapping/>
  </p:clrMapOvr>
  <p:transition>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45050CF4-5584-468F-8E43-A4255D094DCA}"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048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340995" name="Rectangle 3"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40996"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400">
                <a:solidFill>
                  <a:schemeClr val="tx1"/>
                </a:solidFill>
                <a:latin typeface="Tahoma" pitchFamily="34" charset="0"/>
                <a:cs typeface="+mn-cs"/>
              </a:defRPr>
            </a:lvl1pPr>
          </a:lstStyle>
          <a:p>
            <a:pPr>
              <a:defRPr/>
            </a:pPr>
            <a:endParaRPr lang="en-US"/>
          </a:p>
        </p:txBody>
      </p:sp>
      <p:sp>
        <p:nvSpPr>
          <p:cNvPr id="340997" name="Rectangle 5"/>
          <p:cNvSpPr>
            <a:spLocks noGrp="1" noChangeArrowheads="1"/>
          </p:cNvSpPr>
          <p:nvPr>
            <p:ph type="ftr" sz="quarter" idx="3"/>
          </p:nvPr>
        </p:nvSpPr>
        <p:spPr bwMode="auto">
          <a:xfrm>
            <a:off x="1905000" y="6324600"/>
            <a:ext cx="5181600" cy="3048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ctr">
              <a:defRPr sz="1200" smtClean="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340998"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400">
                <a:solidFill>
                  <a:schemeClr val="tx1"/>
                </a:solidFill>
                <a:latin typeface="Tahoma" pitchFamily="34" charset="0"/>
                <a:cs typeface="+mn-cs"/>
              </a:defRPr>
            </a:lvl1pPr>
          </a:lstStyle>
          <a:p>
            <a:pPr>
              <a:defRPr/>
            </a:pPr>
            <a:fld id="{B2A46BA2-B1E7-415A-B557-97F4ADFF0DD6}" type="slidenum">
              <a:rPr lang="en-US"/>
              <a:pPr>
                <a:defRPr/>
              </a:pPr>
              <a:t>‹#›</a:t>
            </a:fld>
            <a:endParaRPr lang="en-US"/>
          </a:p>
        </p:txBody>
      </p:sp>
      <p:sp>
        <p:nvSpPr>
          <p:cNvPr id="341001" name="Text Box 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341004" name="Text Box 1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341005" name="Line 13"/>
          <p:cNvSpPr>
            <a:spLocks noChangeShapeType="1"/>
          </p:cNvSpPr>
          <p:nvPr/>
        </p:nvSpPr>
        <p:spPr bwMode="ltGray">
          <a:xfrm>
            <a:off x="8839200" y="0"/>
            <a:ext cx="0" cy="236220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grpSp>
        <p:nvGrpSpPr>
          <p:cNvPr id="1034" name="Group 14"/>
          <p:cNvGrpSpPr>
            <a:grpSpLocks/>
          </p:cNvGrpSpPr>
          <p:nvPr/>
        </p:nvGrpSpPr>
        <p:grpSpPr bwMode="auto">
          <a:xfrm>
            <a:off x="414338" y="1416050"/>
            <a:ext cx="1784350" cy="2324100"/>
            <a:chOff x="96" y="916"/>
            <a:chExt cx="2208" cy="2876"/>
          </a:xfrm>
        </p:grpSpPr>
        <p:sp>
          <p:nvSpPr>
            <p:cNvPr id="341007" name="Line 15"/>
            <p:cNvSpPr>
              <a:spLocks noChangeShapeType="1"/>
            </p:cNvSpPr>
            <p:nvPr userDrawn="1"/>
          </p:nvSpPr>
          <p:spPr bwMode="ltGray">
            <a:xfrm flipH="1">
              <a:off x="96" y="1038"/>
              <a:ext cx="2208" cy="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341008" name="Line 16"/>
            <p:cNvSpPr>
              <a:spLocks noChangeShapeType="1"/>
            </p:cNvSpPr>
            <p:nvPr userDrawn="1"/>
          </p:nvSpPr>
          <p:spPr bwMode="ltGray">
            <a:xfrm>
              <a:off x="336" y="920"/>
              <a:ext cx="0" cy="2872"/>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341009" name="Arc 17"/>
            <p:cNvSpPr>
              <a:spLocks/>
            </p:cNvSpPr>
            <p:nvPr userDrawn="1"/>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sp>
        <p:nvSpPr>
          <p:cNvPr id="341012" name="Text Box 20"/>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341015" name="Text Box 2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34101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lt1" tx1="dk1" bg2="lt2" tx2="dk2" accent1="accent1" accent2="accent2" accent3="accent3" accent4="accent4" accent5="accent5" accent6="accent6" hlink="hlink" folHlink="folHlink"/>
  <p:sldLayoutIdLst>
    <p:sldLayoutId id="2147483683"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anim calcmode="lin" valueType="num">
                                      <p:cBhvr additive="base">
                                        <p:cTn id="7" dur="500" fill="hold"/>
                                        <p:tgtEl>
                                          <p:spTgt spid="3409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09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0995">
                                            <p:txEl>
                                              <p:pRg st="1" end="1"/>
                                            </p:txEl>
                                          </p:spTgt>
                                        </p:tgtEl>
                                        <p:attrNameLst>
                                          <p:attrName>style.visibility</p:attrName>
                                        </p:attrNameLst>
                                      </p:cBhvr>
                                      <p:to>
                                        <p:strVal val="visible"/>
                                      </p:to>
                                    </p:set>
                                    <p:anim calcmode="lin" valueType="num">
                                      <p:cBhvr additive="base">
                                        <p:cTn id="13" dur="500" fill="hold"/>
                                        <p:tgtEl>
                                          <p:spTgt spid="3409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09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0995">
                                            <p:txEl>
                                              <p:pRg st="2" end="2"/>
                                            </p:txEl>
                                          </p:spTgt>
                                        </p:tgtEl>
                                        <p:attrNameLst>
                                          <p:attrName>style.visibility</p:attrName>
                                        </p:attrNameLst>
                                      </p:cBhvr>
                                      <p:to>
                                        <p:strVal val="visible"/>
                                      </p:to>
                                    </p:set>
                                    <p:anim calcmode="lin" valueType="num">
                                      <p:cBhvr additive="base">
                                        <p:cTn id="19" dur="500" fill="hold"/>
                                        <p:tgtEl>
                                          <p:spTgt spid="3409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099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40995">
                                            <p:txEl>
                                              <p:pRg st="3" end="3"/>
                                            </p:txEl>
                                          </p:spTgt>
                                        </p:tgtEl>
                                        <p:attrNameLst>
                                          <p:attrName>style.visibility</p:attrName>
                                        </p:attrNameLst>
                                      </p:cBhvr>
                                      <p:to>
                                        <p:strVal val="visible"/>
                                      </p:to>
                                    </p:set>
                                    <p:anim calcmode="lin" valueType="num">
                                      <p:cBhvr additive="base">
                                        <p:cTn id="23" dur="500" fill="hold"/>
                                        <p:tgtEl>
                                          <p:spTgt spid="34099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099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40995">
                                            <p:txEl>
                                              <p:pRg st="4" end="4"/>
                                            </p:txEl>
                                          </p:spTgt>
                                        </p:tgtEl>
                                        <p:attrNameLst>
                                          <p:attrName>style.visibility</p:attrName>
                                        </p:attrNameLst>
                                      </p:cBhvr>
                                      <p:to>
                                        <p:strVal val="visible"/>
                                      </p:to>
                                    </p:set>
                                    <p:anim calcmode="lin" valueType="num">
                                      <p:cBhvr additive="base">
                                        <p:cTn id="27" dur="500" fill="hold"/>
                                        <p:tgtEl>
                                          <p:spTgt spid="34099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09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bldLvl="3" autoUpdateAnimBg="0">
        <p:tmplLst>
          <p:tmpl lvl="1">
            <p:tnLst>
              <p:par>
                <p:cTn presetID="2" presetClass="entr" presetSubtype="4" fill="hold" nodeType="clickEffect">
                  <p:stCondLst>
                    <p:cond delay="0"/>
                  </p:stCondLst>
                  <p:childTnLst>
                    <p:set>
                      <p:cBhvr>
                        <p:cTn dur="1" fill="hold">
                          <p:stCondLst>
                            <p:cond delay="0"/>
                          </p:stCondLst>
                        </p:cTn>
                        <p:tgtEl>
                          <p:spTgt spid="340995"/>
                        </p:tgtEl>
                        <p:attrNameLst>
                          <p:attrName>style.visibility</p:attrName>
                        </p:attrNameLst>
                      </p:cBhvr>
                      <p:to>
                        <p:strVal val="visible"/>
                      </p:to>
                    </p:set>
                    <p:anim calcmode="lin" valueType="num">
                      <p:cBhvr additive="base">
                        <p:cTn dur="500" fill="hold"/>
                        <p:tgtEl>
                          <p:spTgt spid="340995"/>
                        </p:tgtEl>
                        <p:attrNameLst>
                          <p:attrName>ppt_x</p:attrName>
                        </p:attrNameLst>
                      </p:cBhvr>
                      <p:tavLst>
                        <p:tav tm="0">
                          <p:val>
                            <p:strVal val="#ppt_x"/>
                          </p:val>
                        </p:tav>
                        <p:tav tm="100000">
                          <p:val>
                            <p:strVal val="#ppt_x"/>
                          </p:val>
                        </p:tav>
                      </p:tavLst>
                    </p:anim>
                    <p:anim calcmode="lin" valueType="num">
                      <p:cBhvr additive="base">
                        <p:cTn dur="500" fill="hold"/>
                        <p:tgtEl>
                          <p:spTgt spid="340995"/>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340995"/>
                        </p:tgtEl>
                        <p:attrNameLst>
                          <p:attrName>style.visibility</p:attrName>
                        </p:attrNameLst>
                      </p:cBhvr>
                      <p:to>
                        <p:strVal val="visible"/>
                      </p:to>
                    </p:set>
                    <p:anim calcmode="lin" valueType="num">
                      <p:cBhvr additive="base">
                        <p:cTn dur="500" fill="hold"/>
                        <p:tgtEl>
                          <p:spTgt spid="340995"/>
                        </p:tgtEl>
                        <p:attrNameLst>
                          <p:attrName>ppt_x</p:attrName>
                        </p:attrNameLst>
                      </p:cBhvr>
                      <p:tavLst>
                        <p:tav tm="0">
                          <p:val>
                            <p:strVal val="#ppt_x"/>
                          </p:val>
                        </p:tav>
                        <p:tav tm="100000">
                          <p:val>
                            <p:strVal val="#ppt_x"/>
                          </p:val>
                        </p:tav>
                      </p:tavLst>
                    </p:anim>
                    <p:anim calcmode="lin" valueType="num">
                      <p:cBhvr additive="base">
                        <p:cTn dur="500" fill="hold"/>
                        <p:tgtEl>
                          <p:spTgt spid="340995"/>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clickEffect">
                  <p:stCondLst>
                    <p:cond delay="0"/>
                  </p:stCondLst>
                  <p:childTnLst>
                    <p:set>
                      <p:cBhvr>
                        <p:cTn dur="1" fill="hold">
                          <p:stCondLst>
                            <p:cond delay="0"/>
                          </p:stCondLst>
                        </p:cTn>
                        <p:tgtEl>
                          <p:spTgt spid="340995"/>
                        </p:tgtEl>
                        <p:attrNameLst>
                          <p:attrName>style.visibility</p:attrName>
                        </p:attrNameLst>
                      </p:cBhvr>
                      <p:to>
                        <p:strVal val="visible"/>
                      </p:to>
                    </p:set>
                    <p:anim calcmode="lin" valueType="num">
                      <p:cBhvr additive="base">
                        <p:cTn dur="500" fill="hold"/>
                        <p:tgtEl>
                          <p:spTgt spid="340995"/>
                        </p:tgtEl>
                        <p:attrNameLst>
                          <p:attrName>ppt_x</p:attrName>
                        </p:attrNameLst>
                      </p:cBhvr>
                      <p:tavLst>
                        <p:tav tm="0">
                          <p:val>
                            <p:strVal val="#ppt_x"/>
                          </p:val>
                        </p:tav>
                        <p:tav tm="100000">
                          <p:val>
                            <p:strVal val="#ppt_x"/>
                          </p:val>
                        </p:tav>
                      </p:tavLst>
                    </p:anim>
                    <p:anim calcmode="lin" valueType="num">
                      <p:cBhvr additive="base">
                        <p:cTn dur="500" fill="hold"/>
                        <p:tgtEl>
                          <p:spTgt spid="340995"/>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40995"/>
                        </p:tgtEl>
                        <p:attrNameLst>
                          <p:attrName>style.visibility</p:attrName>
                        </p:attrNameLst>
                      </p:cBhvr>
                      <p:to>
                        <p:strVal val="visible"/>
                      </p:to>
                    </p:set>
                    <p:anim calcmode="lin" valueType="num">
                      <p:cBhvr additive="base">
                        <p:cTn dur="500" fill="hold"/>
                        <p:tgtEl>
                          <p:spTgt spid="340995"/>
                        </p:tgtEl>
                        <p:attrNameLst>
                          <p:attrName>ppt_x</p:attrName>
                        </p:attrNameLst>
                      </p:cBhvr>
                      <p:tavLst>
                        <p:tav tm="0">
                          <p:val>
                            <p:strVal val="#ppt_x"/>
                          </p:val>
                        </p:tav>
                        <p:tav tm="100000">
                          <p:val>
                            <p:strVal val="#ppt_x"/>
                          </p:val>
                        </p:tav>
                      </p:tavLst>
                    </p:anim>
                    <p:anim calcmode="lin" valueType="num">
                      <p:cBhvr additive="base">
                        <p:cTn dur="500" fill="hold"/>
                        <p:tgtEl>
                          <p:spTgt spid="340995"/>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40995"/>
                        </p:tgtEl>
                        <p:attrNameLst>
                          <p:attrName>style.visibility</p:attrName>
                        </p:attrNameLst>
                      </p:cBhvr>
                      <p:to>
                        <p:strVal val="visible"/>
                      </p:to>
                    </p:set>
                    <p:anim calcmode="lin" valueType="num">
                      <p:cBhvr additive="base">
                        <p:cTn dur="500" fill="hold"/>
                        <p:tgtEl>
                          <p:spTgt spid="340995"/>
                        </p:tgtEl>
                        <p:attrNameLst>
                          <p:attrName>ppt_x</p:attrName>
                        </p:attrNameLst>
                      </p:cBhvr>
                      <p:tavLst>
                        <p:tav tm="0">
                          <p:val>
                            <p:strVal val="#ppt_x"/>
                          </p:val>
                        </p:tav>
                        <p:tav tm="100000">
                          <p:val>
                            <p:strVal val="#ppt_x"/>
                          </p:val>
                        </p:tav>
                      </p:tavLst>
                    </p:anim>
                    <p:anim calcmode="lin" valueType="num">
                      <p:cBhvr additive="base">
                        <p:cTn dur="500" fill="hold"/>
                        <p:tgtEl>
                          <p:spTgt spid="340995"/>
                        </p:tgtEl>
                        <p:attrNameLst>
                          <p:attrName>ppt_y</p:attrName>
                        </p:attrNameLst>
                      </p:cBhvr>
                      <p:tavLst>
                        <p:tav tm="0">
                          <p:val>
                            <p:strVal val="1+#ppt_h/2"/>
                          </p:val>
                        </p:tav>
                        <p:tav tm="100000">
                          <p:val>
                            <p:strVal val="#ppt_y"/>
                          </p:val>
                        </p:tav>
                      </p:tavLst>
                    </p:anim>
                  </p:childTnLst>
                </p:cTn>
              </p:par>
            </p:tnLst>
          </p:tmpl>
        </p:tmplLst>
      </p:bldP>
    </p:bldLst>
  </p:timing>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22B6FA7E-F334-4EDA-9BEF-2743C37758EB}" type="slidenum">
              <a:rPr lang="en-US"/>
              <a:pPr>
                <a:defRPr/>
              </a:pPr>
              <a:t>‹#›</a:t>
            </a:fld>
            <a:endParaRPr lang="en-US"/>
          </a:p>
        </p:txBody>
      </p:sp>
      <p:sp>
        <p:nvSpPr>
          <p:cNvPr id="12"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79" r:id="rId6"/>
    <p:sldLayoutId id="2147483680" r:id="rId7"/>
    <p:sldLayoutId id="2147483689" r:id="rId8"/>
    <p:sldLayoutId id="2147483690" r:id="rId9"/>
    <p:sldLayoutId id="2147483681" r:id="rId10"/>
    <p:sldLayoutId id="2147483682"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ctrTitle"/>
          </p:nvPr>
        </p:nvSpPr>
        <p:spPr>
          <a:xfrm>
            <a:off x="914400" y="1143000"/>
            <a:ext cx="7772400" cy="19812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Edition</a:t>
            </a:r>
            <a:r>
              <a:rPr lang="en-US" sz="3600" b="1" dirty="0">
                <a:solidFill>
                  <a:schemeClr val="accent1">
                    <a:tint val="83000"/>
                    <a:satMod val="150000"/>
                  </a:schemeClr>
                </a:solidFill>
              </a:rPr>
              <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a:t>
            </a:r>
          </a:p>
        </p:txBody>
      </p:sp>
      <p:sp>
        <p:nvSpPr>
          <p:cNvPr id="318467"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fontAlgn="auto">
              <a:spcAft>
                <a:spcPts val="0"/>
              </a:spcAft>
              <a:buFont typeface="Wingdings 2"/>
              <a:buNone/>
              <a:defRPr/>
            </a:pPr>
            <a:r>
              <a:rPr lang="en-US" sz="3600" b="1"/>
              <a:t>Appendix B</a:t>
            </a:r>
          </a:p>
          <a:p>
            <a:pPr algn="ctr" fontAlgn="auto">
              <a:spcAft>
                <a:spcPts val="0"/>
              </a:spcAft>
              <a:buFont typeface="Wingdings 2"/>
              <a:buNone/>
              <a:defRPr/>
            </a:pPr>
            <a:r>
              <a:rPr lang="en-US" b="1"/>
              <a:t>Agile Methodologies</a:t>
            </a:r>
          </a:p>
          <a:p>
            <a:pPr algn="ctr" fontAlgn="auto">
              <a:spcAft>
                <a:spcPts val="0"/>
              </a:spcAft>
              <a:buFont typeface="Wingdings 2"/>
              <a:buNone/>
              <a:defRPr/>
            </a:pPr>
            <a:endParaRPr lang="en-US" b="1"/>
          </a:p>
        </p:txBody>
      </p:sp>
      <p:sp>
        <p:nvSpPr>
          <p:cNvPr id="27651"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1846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B.1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609600" y="304800"/>
            <a:ext cx="7772400" cy="1066800"/>
          </a:xfrm>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29698"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pPr>
              <a:buClr>
                <a:srgbClr val="BA2212"/>
              </a:buClr>
              <a:buFont typeface="Wingdings" pitchFamily="2" charset="2"/>
              <a:buChar char="ü"/>
            </a:pPr>
            <a:r>
              <a:rPr lang="en-US" sz="2800" smtClean="0"/>
              <a:t>Define Agile Methodologies</a:t>
            </a:r>
          </a:p>
          <a:p>
            <a:pPr>
              <a:buClr>
                <a:srgbClr val="BA2212"/>
              </a:buClr>
              <a:buFont typeface="Wingdings" pitchFamily="2" charset="2"/>
              <a:buChar char="ü"/>
            </a:pPr>
            <a:r>
              <a:rPr lang="en-US" sz="2800" smtClean="0"/>
              <a:t>Explain when to use Agile Methodologies and when to use engineering-based approaches to systems development</a:t>
            </a:r>
          </a:p>
          <a:p>
            <a:pPr>
              <a:buClr>
                <a:srgbClr val="BA2212"/>
              </a:buClr>
              <a:buFont typeface="Wingdings" pitchFamily="2" charset="2"/>
              <a:buChar char="ü"/>
            </a:pPr>
            <a:r>
              <a:rPr lang="en-US" sz="2800" smtClean="0"/>
              <a:t>Define eXtreme Programming</a:t>
            </a:r>
          </a:p>
          <a:p>
            <a:pPr>
              <a:buClr>
                <a:srgbClr val="BA2212"/>
              </a:buClr>
              <a:buFont typeface="Wingdings" pitchFamily="2" charset="2"/>
              <a:buChar char="ü"/>
            </a:pPr>
            <a:r>
              <a:rPr lang="en-US" sz="2800" smtClean="0"/>
              <a:t>Discuss the Agile Methodology approach to systems requirements determination, design specifications, and the combination of coding and testing</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The Trend to Agile Methodologies</a:t>
            </a:r>
          </a:p>
        </p:txBody>
      </p:sp>
      <p:sp>
        <p:nvSpPr>
          <p:cNvPr id="189443"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normAutofit lnSpcReduction="10000"/>
          </a:bodyPr>
          <a:lstStyle/>
          <a:p>
            <a:pPr marL="341313" indent="-341313" fontAlgn="auto">
              <a:spcAft>
                <a:spcPts val="0"/>
              </a:spcAft>
              <a:buFont typeface="Wingdings 2"/>
              <a:buChar char=""/>
              <a:tabLst>
                <a:tab pos="682625" algn="l"/>
              </a:tabLst>
              <a:defRPr/>
            </a:pPr>
            <a:r>
              <a:rPr lang="en-US" sz="2800"/>
              <a:t>Three Phases of Systems Analysis Since Inception</a:t>
            </a:r>
          </a:p>
          <a:p>
            <a:pPr marL="804863" lvl="1" indent="-287338" fontAlgn="auto">
              <a:spcAft>
                <a:spcPts val="0"/>
              </a:spcAft>
              <a:buFont typeface="Verdana"/>
              <a:buChar char="›"/>
              <a:tabLst>
                <a:tab pos="682625" algn="l"/>
              </a:tabLst>
              <a:defRPr/>
            </a:pPr>
            <a:r>
              <a:rPr lang="en-US" sz="2400"/>
              <a:t>Undisciplined (Developer as Artist)</a:t>
            </a:r>
          </a:p>
          <a:p>
            <a:pPr marL="1736725" lvl="2" indent="-457200" fontAlgn="auto">
              <a:spcAft>
                <a:spcPts val="0"/>
              </a:spcAft>
              <a:buFont typeface="Wingdings 2"/>
              <a:buChar char=""/>
              <a:tabLst>
                <a:tab pos="682625" algn="l"/>
              </a:tabLst>
              <a:defRPr/>
            </a:pPr>
            <a:r>
              <a:rPr lang="en-US" sz="2000"/>
              <a:t>Lack of documentation and development tools</a:t>
            </a:r>
          </a:p>
          <a:p>
            <a:pPr marL="1736725" lvl="2" indent="-457200" fontAlgn="auto">
              <a:spcAft>
                <a:spcPts val="0"/>
              </a:spcAft>
              <a:buFont typeface="Wingdings 2"/>
              <a:buChar char=""/>
              <a:tabLst>
                <a:tab pos="682625" algn="l"/>
              </a:tabLst>
              <a:defRPr/>
            </a:pPr>
            <a:r>
              <a:rPr lang="en-US" sz="2000"/>
              <a:t>High degree of dependence upon developer for maintenance</a:t>
            </a:r>
          </a:p>
          <a:p>
            <a:pPr marL="804863" lvl="1" indent="-287338" fontAlgn="auto">
              <a:spcAft>
                <a:spcPts val="0"/>
              </a:spcAft>
              <a:buFont typeface="Verdana"/>
              <a:buChar char="›"/>
              <a:tabLst>
                <a:tab pos="682625" algn="l"/>
              </a:tabLst>
              <a:defRPr/>
            </a:pPr>
            <a:r>
              <a:rPr lang="en-US" sz="2400"/>
              <a:t>Developer as Engineer</a:t>
            </a:r>
          </a:p>
          <a:p>
            <a:pPr marL="1736725" lvl="2" indent="-457200" fontAlgn="auto">
              <a:spcAft>
                <a:spcPts val="0"/>
              </a:spcAft>
              <a:buFont typeface="Wingdings 2"/>
              <a:buChar char=""/>
              <a:tabLst>
                <a:tab pos="682625" algn="l"/>
              </a:tabLst>
              <a:defRPr/>
            </a:pPr>
            <a:r>
              <a:rPr lang="en-US" sz="2000"/>
              <a:t>Documentation</a:t>
            </a:r>
          </a:p>
          <a:p>
            <a:pPr marL="1736725" lvl="2" indent="-457200" fontAlgn="auto">
              <a:spcAft>
                <a:spcPts val="0"/>
              </a:spcAft>
              <a:buFont typeface="Wingdings 2"/>
              <a:buChar char=""/>
              <a:tabLst>
                <a:tab pos="682625" algn="l"/>
              </a:tabLst>
              <a:defRPr/>
            </a:pPr>
            <a:r>
              <a:rPr lang="en-US" sz="2000"/>
              <a:t>Rigorous testing</a:t>
            </a:r>
          </a:p>
          <a:p>
            <a:pPr marL="1736725" lvl="2" indent="-457200" fontAlgn="auto">
              <a:spcAft>
                <a:spcPts val="0"/>
              </a:spcAft>
              <a:buFont typeface="Wingdings 2"/>
              <a:buChar char=""/>
              <a:tabLst>
                <a:tab pos="682625" algn="l"/>
              </a:tabLst>
              <a:defRPr/>
            </a:pPr>
            <a:r>
              <a:rPr lang="en-US" sz="2000"/>
              <a:t>Structured tools and techniques</a:t>
            </a:r>
          </a:p>
          <a:p>
            <a:pPr marL="1736725" lvl="2" indent="-457200" fontAlgn="auto">
              <a:spcAft>
                <a:spcPts val="0"/>
              </a:spcAft>
              <a:buFont typeface="Wingdings 2"/>
              <a:buChar char=""/>
              <a:tabLst>
                <a:tab pos="682625" algn="l"/>
              </a:tabLst>
              <a:defRPr/>
            </a:pPr>
            <a:r>
              <a:rPr lang="en-US" sz="2000"/>
              <a:t>Computer-based tools</a:t>
            </a:r>
          </a:p>
          <a:p>
            <a:pPr marL="804863" lvl="1" indent="-287338" fontAlgn="auto">
              <a:spcAft>
                <a:spcPts val="0"/>
              </a:spcAft>
              <a:buFont typeface="Verdana"/>
              <a:buChar char="›"/>
              <a:tabLst>
                <a:tab pos="682625" algn="l"/>
              </a:tabLst>
              <a:defRPr/>
            </a:pPr>
            <a:endParaRPr lang="en-US" sz="2400"/>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5725B600-49D6-4A04-AF49-F8B825499588}"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70" name="Rectangle 6"/>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The Trend to Agile Methodologies (continued)</a:t>
            </a:r>
          </a:p>
        </p:txBody>
      </p:sp>
      <p:sp>
        <p:nvSpPr>
          <p:cNvPr id="31746" name="Rectangle 7" descr="Rectangle: Click to edit Master text styles&#10;Second level&#10;Third level&#10;Fourth level&#10;Fifth level"/>
          <p:cNvSpPr>
            <a:spLocks noGrp="1" noChangeArrowheads="1"/>
          </p:cNvSpPr>
          <p:nvPr>
            <p:ph idx="1"/>
          </p:nvPr>
        </p:nvSpPr>
        <p:spPr>
          <a:xfrm>
            <a:off x="838200" y="1905000"/>
            <a:ext cx="7772400" cy="3733800"/>
          </a:xfrm>
        </p:spPr>
        <p:txBody>
          <a:bodyPr/>
          <a:lstStyle/>
          <a:p>
            <a:r>
              <a:rPr lang="en-US" sz="2800" smtClean="0"/>
              <a:t>Three Phases of Systems Analysis Since Inception (continued)</a:t>
            </a:r>
          </a:p>
          <a:p>
            <a:pPr lvl="1"/>
            <a:r>
              <a:rPr lang="en-US" sz="2400" smtClean="0"/>
              <a:t>Agile Methodologies</a:t>
            </a:r>
          </a:p>
          <a:p>
            <a:pPr lvl="2"/>
            <a:r>
              <a:rPr lang="en-US" sz="2000" smtClean="0"/>
              <a:t>Object-oriented approach</a:t>
            </a:r>
          </a:p>
          <a:p>
            <a:pPr lvl="2"/>
            <a:r>
              <a:rPr lang="en-US" sz="2000" smtClean="0"/>
              <a:t>Sacrifices milestones and multiple phases</a:t>
            </a:r>
          </a:p>
          <a:p>
            <a:pPr lvl="2"/>
            <a:r>
              <a:rPr lang="en-US" sz="2000" smtClean="0"/>
              <a:t>Close cooperation between developers and clients</a:t>
            </a:r>
          </a:p>
          <a:p>
            <a:pPr lvl="2"/>
            <a:r>
              <a:rPr lang="en-US" sz="2000" smtClean="0"/>
              <a:t>Many life cycle phases combined into one</a:t>
            </a:r>
          </a:p>
          <a:p>
            <a:pPr lvl="2"/>
            <a:r>
              <a:rPr lang="en-US" sz="2000" smtClean="0"/>
              <a:t>Multiple rapid releases of software</a:t>
            </a:r>
          </a:p>
        </p:txBody>
      </p:sp>
      <p:sp>
        <p:nvSpPr>
          <p:cNvPr id="317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490E5584-3753-4A35-81DF-EC296FE41A17}"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5" name="Rectangle 5"/>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Agile Methodologies</a:t>
            </a:r>
          </a:p>
        </p:txBody>
      </p:sp>
      <p:sp>
        <p:nvSpPr>
          <p:cNvPr id="32770"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400" dirty="0" smtClean="0"/>
              <a:t>Many Different Methodologies </a:t>
            </a:r>
            <a:r>
              <a:rPr lang="en-US" sz="2400" dirty="0" smtClean="0"/>
              <a:t>under </a:t>
            </a:r>
            <a:r>
              <a:rPr lang="en-US" sz="2400" dirty="0" smtClean="0"/>
              <a:t>Umbrella</a:t>
            </a:r>
          </a:p>
          <a:p>
            <a:pPr lvl="1">
              <a:lnSpc>
                <a:spcPct val="90000"/>
              </a:lnSpc>
            </a:pPr>
            <a:r>
              <a:rPr lang="en-US" sz="2000" dirty="0" smtClean="0"/>
              <a:t>Crystal family of methodologies</a:t>
            </a:r>
          </a:p>
          <a:p>
            <a:pPr lvl="1">
              <a:lnSpc>
                <a:spcPct val="90000"/>
              </a:lnSpc>
            </a:pPr>
            <a:r>
              <a:rPr lang="en-US" sz="2000" dirty="0" smtClean="0"/>
              <a:t>Adaptive Software Development</a:t>
            </a:r>
          </a:p>
          <a:p>
            <a:pPr lvl="1">
              <a:lnSpc>
                <a:spcPct val="90000"/>
              </a:lnSpc>
            </a:pPr>
            <a:r>
              <a:rPr lang="en-US" sz="2000" dirty="0" smtClean="0"/>
              <a:t>Scrum</a:t>
            </a:r>
          </a:p>
          <a:p>
            <a:pPr lvl="1">
              <a:lnSpc>
                <a:spcPct val="90000"/>
              </a:lnSpc>
            </a:pPr>
            <a:r>
              <a:rPr lang="en-US" sz="2000" dirty="0" smtClean="0"/>
              <a:t>Feature Driven Development</a:t>
            </a:r>
          </a:p>
          <a:p>
            <a:pPr lvl="1">
              <a:lnSpc>
                <a:spcPct val="90000"/>
              </a:lnSpc>
            </a:pPr>
            <a:r>
              <a:rPr lang="en-US" sz="2000" dirty="0" err="1" smtClean="0"/>
              <a:t>eXtreme</a:t>
            </a:r>
            <a:r>
              <a:rPr lang="en-US" sz="2000" dirty="0" smtClean="0"/>
              <a:t> Programming</a:t>
            </a:r>
          </a:p>
          <a:p>
            <a:pPr>
              <a:lnSpc>
                <a:spcPct val="90000"/>
              </a:lnSpc>
            </a:pPr>
            <a:r>
              <a:rPr lang="en-US" sz="2400" dirty="0" smtClean="0"/>
              <a:t>Agile Manifesto Developed in February 2001 (Figure B-1)</a:t>
            </a:r>
          </a:p>
          <a:p>
            <a:pPr lvl="1">
              <a:lnSpc>
                <a:spcPct val="90000"/>
              </a:lnSpc>
            </a:pPr>
            <a:r>
              <a:rPr lang="en-US" sz="2000" dirty="0" smtClean="0"/>
              <a:t>Three Key Principles:</a:t>
            </a:r>
          </a:p>
          <a:p>
            <a:pPr lvl="2">
              <a:lnSpc>
                <a:spcPct val="90000"/>
              </a:lnSpc>
            </a:pPr>
            <a:r>
              <a:rPr lang="en-US" sz="1800" dirty="0" smtClean="0"/>
              <a:t>Focus on adaptive rather than predictive methodologies</a:t>
            </a:r>
          </a:p>
          <a:p>
            <a:pPr lvl="2">
              <a:lnSpc>
                <a:spcPct val="90000"/>
              </a:lnSpc>
            </a:pPr>
            <a:r>
              <a:rPr lang="en-US" sz="1800" dirty="0" smtClean="0"/>
              <a:t>Focus on people rather than roles</a:t>
            </a:r>
          </a:p>
          <a:p>
            <a:pPr lvl="2">
              <a:lnSpc>
                <a:spcPct val="90000"/>
              </a:lnSpc>
            </a:pPr>
            <a:r>
              <a:rPr lang="en-US" sz="1800" dirty="0" smtClean="0"/>
              <a:t>Self-adaptive process</a:t>
            </a:r>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0208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85190976-C0F7-4C77-870E-C0396585C093}"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3280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A698EC07-3972-4680-B04A-AF9C7426770E}" type="slidenum">
              <a:rPr lang="en-US" sz="1600">
                <a:solidFill>
                  <a:schemeClr val="tx1"/>
                </a:solidFill>
                <a:cs typeface="+mn-cs"/>
              </a:rPr>
              <a:pPr algn="ctr" eaLnBrk="0" hangingPunct="0">
                <a:defRPr/>
              </a:pPr>
              <a:t>6</a:t>
            </a:fld>
            <a:endParaRPr lang="en-US" sz="1600">
              <a:solidFill>
                <a:schemeClr val="tx1"/>
              </a:solidFill>
              <a:cs typeface="+mn-cs"/>
            </a:endParaRPr>
          </a:p>
        </p:txBody>
      </p:sp>
      <p:pic>
        <p:nvPicPr>
          <p:cNvPr id="332806" name="Picture 6"/>
          <p:cNvPicPr>
            <a:picLocks noChangeAspect="1" noChangeArrowheads="1"/>
          </p:cNvPicPr>
          <p:nvPr/>
        </p:nvPicPr>
        <p:blipFill>
          <a:blip r:embed="rId2"/>
          <a:srcRect/>
          <a:stretch>
            <a:fillRect/>
          </a:stretch>
        </p:blipFill>
        <p:spPr bwMode="auto">
          <a:xfrm>
            <a:off x="1524000" y="420688"/>
            <a:ext cx="6296025" cy="592455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9" name="Rectangle 5"/>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Agile Methodologies</a:t>
            </a:r>
            <a:r>
              <a:rPr lang="en-US" sz="3600">
                <a:solidFill>
                  <a:schemeClr val="accent1">
                    <a:tint val="83000"/>
                    <a:satMod val="150000"/>
                  </a:schemeClr>
                </a:solidFill>
              </a:rPr>
              <a:t>(continued)</a:t>
            </a:r>
          </a:p>
        </p:txBody>
      </p:sp>
      <p:sp>
        <p:nvSpPr>
          <p:cNvPr id="34818"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80000"/>
              </a:lnSpc>
            </a:pPr>
            <a:r>
              <a:rPr lang="en-US" sz="1600" smtClean="0"/>
              <a:t>Engineering Methodologies Do Not Fit Well with Software Development</a:t>
            </a:r>
          </a:p>
          <a:p>
            <a:pPr lvl="1">
              <a:lnSpc>
                <a:spcPct val="80000"/>
              </a:lnSpc>
            </a:pPr>
            <a:r>
              <a:rPr lang="en-US" sz="1400" smtClean="0"/>
              <a:t>Engineering requirements are well understood; software requirements often are not</a:t>
            </a:r>
          </a:p>
          <a:p>
            <a:pPr lvl="1">
              <a:lnSpc>
                <a:spcPct val="80000"/>
              </a:lnSpc>
            </a:pPr>
            <a:r>
              <a:rPr lang="en-US" sz="1400" smtClean="0"/>
              <a:t>In many engineering projects, design is only 15 percent of project; in software engineering, design can be as much as 50 percent</a:t>
            </a:r>
          </a:p>
          <a:p>
            <a:pPr>
              <a:lnSpc>
                <a:spcPct val="80000"/>
              </a:lnSpc>
            </a:pPr>
            <a:r>
              <a:rPr lang="en-US" sz="1600" smtClean="0"/>
              <a:t>Agile Methodologies Embrace Change and Deal with Lack of Predictability</a:t>
            </a:r>
          </a:p>
          <a:p>
            <a:pPr lvl="1">
              <a:lnSpc>
                <a:spcPct val="80000"/>
              </a:lnSpc>
            </a:pPr>
            <a:r>
              <a:rPr lang="en-US" sz="1400" smtClean="0"/>
              <a:t>Iterative development</a:t>
            </a:r>
          </a:p>
          <a:p>
            <a:pPr lvl="2">
              <a:lnSpc>
                <a:spcPct val="80000"/>
              </a:lnSpc>
            </a:pPr>
            <a:r>
              <a:rPr lang="en-US" sz="1200" smtClean="0"/>
              <a:t>Provides feedback to customers and developers alike</a:t>
            </a:r>
          </a:p>
          <a:p>
            <a:pPr lvl="1">
              <a:lnSpc>
                <a:spcPct val="80000"/>
              </a:lnSpc>
            </a:pPr>
            <a:r>
              <a:rPr lang="en-US" sz="1400" smtClean="0"/>
              <a:t>Focus on individuals</a:t>
            </a:r>
          </a:p>
          <a:p>
            <a:pPr lvl="1">
              <a:lnSpc>
                <a:spcPct val="80000"/>
              </a:lnSpc>
            </a:pPr>
            <a:r>
              <a:rPr lang="en-US" sz="1400" smtClean="0"/>
              <a:t>Adaptive software development process</a:t>
            </a:r>
          </a:p>
          <a:p>
            <a:pPr lvl="2">
              <a:lnSpc>
                <a:spcPct val="80000"/>
              </a:lnSpc>
            </a:pPr>
            <a:r>
              <a:rPr lang="en-US" sz="1200" smtClean="0"/>
              <a:t>Process can be refined and improved as software is developed</a:t>
            </a:r>
          </a:p>
          <a:p>
            <a:pPr>
              <a:lnSpc>
                <a:spcPct val="80000"/>
              </a:lnSpc>
            </a:pPr>
            <a:r>
              <a:rPr lang="en-US" sz="1600" smtClean="0"/>
              <a:t>Agile Methodologies are Recommended for Projects That Involve:</a:t>
            </a:r>
          </a:p>
          <a:p>
            <a:pPr lvl="1">
              <a:lnSpc>
                <a:spcPct val="80000"/>
              </a:lnSpc>
            </a:pPr>
            <a:r>
              <a:rPr lang="en-US" sz="1400" smtClean="0"/>
              <a:t>Unpredictable or dynamic requirements</a:t>
            </a:r>
          </a:p>
          <a:p>
            <a:pPr lvl="1">
              <a:lnSpc>
                <a:spcPct val="80000"/>
              </a:lnSpc>
            </a:pPr>
            <a:r>
              <a:rPr lang="en-US" sz="1400" smtClean="0"/>
              <a:t>Responsible and motivated developers</a:t>
            </a:r>
          </a:p>
          <a:p>
            <a:pPr lvl="1">
              <a:lnSpc>
                <a:spcPct val="80000"/>
              </a:lnSpc>
            </a:pPr>
            <a:r>
              <a:rPr lang="en-US" sz="1400" smtClean="0"/>
              <a:t>Customers who understand and will get involved</a:t>
            </a:r>
          </a:p>
          <a:p>
            <a:pPr>
              <a:lnSpc>
                <a:spcPct val="80000"/>
              </a:lnSpc>
            </a:pPr>
            <a:r>
              <a:rPr lang="en-US" sz="1600" smtClean="0"/>
              <a:t>Engineering Approach is Recommended when:</a:t>
            </a:r>
          </a:p>
          <a:p>
            <a:pPr lvl="1">
              <a:lnSpc>
                <a:spcPct val="80000"/>
              </a:lnSpc>
            </a:pPr>
            <a:r>
              <a:rPr lang="en-US" sz="1400" smtClean="0"/>
              <a:t>Project involves more than 100 people</a:t>
            </a:r>
          </a:p>
          <a:p>
            <a:pPr lvl="1">
              <a:lnSpc>
                <a:spcPct val="80000"/>
              </a:lnSpc>
            </a:pPr>
            <a:r>
              <a:rPr lang="en-US" sz="1400" smtClean="0"/>
              <a:t>Project is operating under fixed-price or fixed-scope contract</a:t>
            </a:r>
          </a:p>
        </p:txBody>
      </p:sp>
      <p:sp>
        <p:nvSpPr>
          <p:cNvPr id="348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031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83410555-290E-4C28-BB2F-2E87B53E401A}"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33830"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25F40782-09AA-40C0-AFC7-97CCDAFA0B5F}" type="slidenum">
              <a:rPr lang="en-US" sz="1600">
                <a:solidFill>
                  <a:schemeClr val="tx1"/>
                </a:solidFill>
                <a:cs typeface="+mn-cs"/>
              </a:rPr>
              <a:pPr algn="ctr" eaLnBrk="0" hangingPunct="0">
                <a:defRPr/>
              </a:pPr>
              <a:t>8</a:t>
            </a:fld>
            <a:endParaRPr lang="en-US" sz="1600">
              <a:solidFill>
                <a:schemeClr val="tx1"/>
              </a:solidFill>
              <a:cs typeface="+mn-cs"/>
            </a:endParaRPr>
          </a:p>
        </p:txBody>
      </p:sp>
      <p:pic>
        <p:nvPicPr>
          <p:cNvPr id="333831" name="Picture 7"/>
          <p:cNvPicPr>
            <a:picLocks noChangeAspect="1" noChangeArrowheads="1"/>
          </p:cNvPicPr>
          <p:nvPr/>
        </p:nvPicPr>
        <p:blipFill>
          <a:blip r:embed="rId2"/>
          <a:srcRect/>
          <a:stretch>
            <a:fillRect/>
          </a:stretch>
        </p:blipFill>
        <p:spPr bwMode="auto">
          <a:xfrm>
            <a:off x="663575" y="1409700"/>
            <a:ext cx="7816850" cy="403860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5" name="Rectangle 5"/>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eXtreme Programming</a:t>
            </a:r>
          </a:p>
        </p:txBody>
      </p:sp>
      <p:sp>
        <p:nvSpPr>
          <p:cNvPr id="36866" name="Rectangle 6" descr="Rectangle: Click to edit Master text styles&#10;Second level&#10;Third level&#10;Fourth level&#10;Fifth level"/>
          <p:cNvSpPr>
            <a:spLocks noGrp="1" noChangeArrowheads="1"/>
          </p:cNvSpPr>
          <p:nvPr>
            <p:ph idx="1"/>
          </p:nvPr>
        </p:nvSpPr>
        <p:spPr>
          <a:xfrm>
            <a:off x="381000" y="1331774"/>
            <a:ext cx="8229600" cy="4572000"/>
          </a:xfrm>
        </p:spPr>
        <p:txBody>
          <a:bodyPr/>
          <a:lstStyle/>
          <a:p>
            <a:pPr>
              <a:lnSpc>
                <a:spcPct val="80000"/>
              </a:lnSpc>
            </a:pPr>
            <a:r>
              <a:rPr lang="en-US" sz="1800" dirty="0" smtClean="0"/>
              <a:t>One Example of Agile Methodologies</a:t>
            </a:r>
          </a:p>
          <a:p>
            <a:pPr>
              <a:lnSpc>
                <a:spcPct val="80000"/>
              </a:lnSpc>
            </a:pPr>
            <a:r>
              <a:rPr lang="en-US" sz="1800" dirty="0" smtClean="0"/>
              <a:t>Distinguished by:</a:t>
            </a:r>
          </a:p>
          <a:p>
            <a:pPr lvl="1">
              <a:lnSpc>
                <a:spcPct val="80000"/>
              </a:lnSpc>
            </a:pPr>
            <a:r>
              <a:rPr lang="en-US" sz="1600" dirty="0" smtClean="0"/>
              <a:t>Short development cycles</a:t>
            </a:r>
          </a:p>
          <a:p>
            <a:pPr lvl="1">
              <a:lnSpc>
                <a:spcPct val="80000"/>
              </a:lnSpc>
            </a:pPr>
            <a:r>
              <a:rPr lang="en-US" sz="1600" dirty="0" smtClean="0"/>
              <a:t>Incremental planning approach</a:t>
            </a:r>
          </a:p>
          <a:p>
            <a:pPr lvl="1">
              <a:lnSpc>
                <a:spcPct val="80000"/>
              </a:lnSpc>
            </a:pPr>
            <a:r>
              <a:rPr lang="en-US" sz="1600" dirty="0" smtClean="0"/>
              <a:t>Focus on automated tests</a:t>
            </a:r>
          </a:p>
          <a:p>
            <a:pPr lvl="1">
              <a:lnSpc>
                <a:spcPct val="80000"/>
              </a:lnSpc>
            </a:pPr>
            <a:r>
              <a:rPr lang="en-US" sz="1600" dirty="0" smtClean="0"/>
              <a:t>Reliance on evolutionary approach to development</a:t>
            </a:r>
          </a:p>
          <a:p>
            <a:pPr lvl="1">
              <a:lnSpc>
                <a:spcPct val="80000"/>
              </a:lnSpc>
            </a:pPr>
            <a:r>
              <a:rPr lang="en-US" sz="1600" dirty="0" smtClean="0"/>
              <a:t>Use of two-person (pair) programming teams</a:t>
            </a:r>
          </a:p>
          <a:p>
            <a:pPr lvl="1">
              <a:lnSpc>
                <a:spcPct val="80000"/>
              </a:lnSpc>
            </a:pPr>
            <a:r>
              <a:rPr lang="en-US" sz="1200" dirty="0" smtClean="0"/>
              <a:t>Customer on-site during development process</a:t>
            </a:r>
          </a:p>
          <a:p>
            <a:pPr>
              <a:lnSpc>
                <a:spcPct val="80000"/>
              </a:lnSpc>
            </a:pPr>
            <a:r>
              <a:rPr lang="en-US" sz="1800" dirty="0" smtClean="0"/>
              <a:t>Relates to Design Specifications</a:t>
            </a:r>
          </a:p>
          <a:p>
            <a:pPr lvl="1">
              <a:lnSpc>
                <a:spcPct val="80000"/>
              </a:lnSpc>
            </a:pPr>
            <a:r>
              <a:rPr lang="en-US" sz="1600" dirty="0" smtClean="0"/>
              <a:t>Planning, design, analysis, and construction are fused together into a single phase of activity</a:t>
            </a:r>
          </a:p>
          <a:p>
            <a:pPr lvl="1">
              <a:lnSpc>
                <a:spcPct val="80000"/>
              </a:lnSpc>
            </a:pPr>
            <a:r>
              <a:rPr lang="en-US" sz="1600" dirty="0" smtClean="0"/>
              <a:t>Systems requirements are captured and presented in a unique way</a:t>
            </a:r>
          </a:p>
          <a:p>
            <a:pPr lvl="1">
              <a:lnSpc>
                <a:spcPct val="80000"/>
              </a:lnSpc>
            </a:pPr>
            <a:r>
              <a:rPr lang="en-US" sz="1600" dirty="0" smtClean="0"/>
              <a:t>Programmers who write code also write the tests</a:t>
            </a:r>
          </a:p>
          <a:p>
            <a:pPr>
              <a:lnSpc>
                <a:spcPct val="80000"/>
              </a:lnSpc>
            </a:pPr>
            <a:r>
              <a:rPr lang="en-US" sz="1800" dirty="0" smtClean="0"/>
              <a:t>Pair Programming</a:t>
            </a:r>
          </a:p>
          <a:p>
            <a:pPr lvl="1">
              <a:lnSpc>
                <a:spcPct val="80000"/>
              </a:lnSpc>
            </a:pPr>
            <a:r>
              <a:rPr lang="en-US" sz="1600" dirty="0" smtClean="0"/>
              <a:t>All programming is done by two people working together</a:t>
            </a:r>
          </a:p>
          <a:p>
            <a:pPr lvl="1">
              <a:lnSpc>
                <a:spcPct val="80000"/>
              </a:lnSpc>
            </a:pPr>
            <a:r>
              <a:rPr lang="en-US" sz="1600" dirty="0" smtClean="0"/>
              <a:t>Includes coding and testing</a:t>
            </a:r>
          </a:p>
          <a:p>
            <a:pPr lvl="1">
              <a:lnSpc>
                <a:spcPct val="80000"/>
              </a:lnSpc>
            </a:pPr>
            <a:r>
              <a:rPr lang="en-US" sz="1600" dirty="0" smtClean="0"/>
              <a:t>Advantages</a:t>
            </a:r>
          </a:p>
          <a:p>
            <a:pPr lvl="2">
              <a:lnSpc>
                <a:spcPct val="80000"/>
              </a:lnSpc>
            </a:pPr>
            <a:r>
              <a:rPr lang="en-US" sz="1400" dirty="0" smtClean="0"/>
              <a:t>More communication among developers</a:t>
            </a:r>
          </a:p>
          <a:p>
            <a:pPr lvl="2">
              <a:lnSpc>
                <a:spcPct val="80000"/>
              </a:lnSpc>
            </a:pPr>
            <a:r>
              <a:rPr lang="en-US" sz="1400" dirty="0" smtClean="0"/>
              <a:t>Higher levels of productivity</a:t>
            </a:r>
          </a:p>
          <a:p>
            <a:pPr lvl="2">
              <a:lnSpc>
                <a:spcPct val="80000"/>
              </a:lnSpc>
            </a:pPr>
            <a:r>
              <a:rPr lang="en-US" sz="1400" dirty="0" smtClean="0"/>
              <a:t>Higher quality code</a:t>
            </a:r>
          </a:p>
          <a:p>
            <a:pPr lvl="2">
              <a:lnSpc>
                <a:spcPct val="80000"/>
              </a:lnSpc>
            </a:pPr>
            <a:r>
              <a:rPr lang="en-US" sz="1400" dirty="0" smtClean="0"/>
              <a:t>Reinforcement of other practices, such as code and test discipline</a:t>
            </a:r>
          </a:p>
          <a:p>
            <a:pPr>
              <a:lnSpc>
                <a:spcPct val="80000"/>
              </a:lnSpc>
              <a:buFont typeface="Wingdings" pitchFamily="2" charset="2"/>
              <a:buNone/>
            </a:pPr>
            <a:endParaRPr lang="en-US" sz="1400" dirty="0" smtClean="0"/>
          </a:p>
          <a:p>
            <a:pPr>
              <a:lnSpc>
                <a:spcPct val="80000"/>
              </a:lnSpc>
            </a:pPr>
            <a:endParaRPr lang="en-US" sz="1400" dirty="0" smtClean="0"/>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62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6899277C-08D0-46A8-B214-52E918B19A16}"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050"/>
          <p:cNvSpPr>
            <a:spLocks noGrp="1" noChangeArrowheads="1"/>
          </p:cNvSpPr>
          <p:nvPr>
            <p:ph type="title"/>
          </p:nvPr>
        </p:nvSpPr>
        <p:spPr>
          <a:xfrm>
            <a:off x="685800" y="533400"/>
            <a:ext cx="7772400" cy="838200"/>
          </a:xfrm>
        </p:spPr>
        <p:txBody>
          <a:bodyPr>
            <a:normAutofit fontScale="90000"/>
          </a:bodyPr>
          <a:lstStyle/>
          <a:p>
            <a:pPr marL="484632" fontAlgn="auto">
              <a:spcAft>
                <a:spcPts val="0"/>
              </a:spcAft>
              <a:defRPr/>
            </a:pPr>
            <a:r>
              <a:rPr lang="en-US">
                <a:solidFill>
                  <a:schemeClr val="accent1">
                    <a:tint val="83000"/>
                    <a:satMod val="150000"/>
                  </a:schemeClr>
                </a:solidFill>
              </a:rPr>
              <a:t>Requirements Determination</a:t>
            </a:r>
          </a:p>
        </p:txBody>
      </p:sp>
      <p:sp>
        <p:nvSpPr>
          <p:cNvPr id="281603" name="Rectangle 2051"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a:bodyPr>
          <a:lstStyle/>
          <a:p>
            <a:pPr marL="448056" indent="-384048" fontAlgn="auto">
              <a:lnSpc>
                <a:spcPct val="90000"/>
              </a:lnSpc>
              <a:spcAft>
                <a:spcPts val="0"/>
              </a:spcAft>
              <a:buFont typeface="Wingdings 2"/>
              <a:buChar char=""/>
              <a:defRPr/>
            </a:pPr>
            <a:r>
              <a:rPr lang="en-US" sz="2400"/>
              <a:t>Continual User Involvement</a:t>
            </a:r>
          </a:p>
          <a:p>
            <a:pPr marL="822960" lvl="1" fontAlgn="auto">
              <a:lnSpc>
                <a:spcPct val="90000"/>
              </a:lnSpc>
              <a:spcAft>
                <a:spcPts val="0"/>
              </a:spcAft>
              <a:buFont typeface="Verdana"/>
              <a:buChar char="›"/>
              <a:defRPr/>
            </a:pPr>
            <a:r>
              <a:rPr lang="en-US" sz="2000"/>
              <a:t>Traditional Approach</a:t>
            </a:r>
          </a:p>
          <a:p>
            <a:pPr marL="1106424" lvl="2" fontAlgn="auto">
              <a:lnSpc>
                <a:spcPct val="90000"/>
              </a:lnSpc>
              <a:spcAft>
                <a:spcPts val="0"/>
              </a:spcAft>
              <a:buFont typeface="Wingdings 2"/>
              <a:buChar char=""/>
              <a:defRPr/>
            </a:pPr>
            <a:r>
              <a:rPr lang="en-US" sz="1800"/>
              <a:t>Users involved in early stage</a:t>
            </a:r>
          </a:p>
          <a:p>
            <a:pPr marL="1106424" lvl="2" fontAlgn="auto">
              <a:lnSpc>
                <a:spcPct val="90000"/>
              </a:lnSpc>
              <a:spcAft>
                <a:spcPts val="0"/>
              </a:spcAft>
              <a:buFont typeface="Wingdings 2"/>
              <a:buChar char=""/>
              <a:defRPr/>
            </a:pPr>
            <a:r>
              <a:rPr lang="en-US" sz="1800"/>
              <a:t>User signs off at project completion</a:t>
            </a:r>
          </a:p>
          <a:p>
            <a:pPr marL="1106424" lvl="2" fontAlgn="auto">
              <a:lnSpc>
                <a:spcPct val="90000"/>
              </a:lnSpc>
              <a:spcAft>
                <a:spcPts val="0"/>
              </a:spcAft>
              <a:buFont typeface="Wingdings 2"/>
              <a:buChar char=""/>
              <a:defRPr/>
            </a:pPr>
            <a:r>
              <a:rPr lang="en-US" sz="1800"/>
              <a:t>Often, system business processes changed during development</a:t>
            </a:r>
          </a:p>
          <a:p>
            <a:pPr lvl="3" indent="-210312" fontAlgn="auto">
              <a:lnSpc>
                <a:spcPct val="90000"/>
              </a:lnSpc>
              <a:spcAft>
                <a:spcPts val="0"/>
              </a:spcAft>
              <a:buFont typeface="Wingdings 2"/>
              <a:buChar char=""/>
              <a:defRPr/>
            </a:pPr>
            <a:r>
              <a:rPr lang="en-US" sz="1600"/>
              <a:t>System many times did not adequately address user’s needs</a:t>
            </a:r>
          </a:p>
          <a:p>
            <a:pPr marL="822960" lvl="1" fontAlgn="auto">
              <a:lnSpc>
                <a:spcPct val="90000"/>
              </a:lnSpc>
              <a:spcAft>
                <a:spcPts val="0"/>
              </a:spcAft>
              <a:buFont typeface="Verdana"/>
              <a:buChar char="›"/>
              <a:defRPr/>
            </a:pPr>
            <a:r>
              <a:rPr lang="en-US" sz="2000"/>
              <a:t>Iterative Process of User Feedback</a:t>
            </a:r>
          </a:p>
          <a:p>
            <a:pPr marL="448056" indent="-384048" fontAlgn="auto">
              <a:lnSpc>
                <a:spcPct val="90000"/>
              </a:lnSpc>
              <a:spcAft>
                <a:spcPts val="0"/>
              </a:spcAft>
              <a:buFont typeface="Wingdings 2"/>
              <a:buChar char=""/>
              <a:defRPr/>
            </a:pPr>
            <a:r>
              <a:rPr lang="en-US" sz="2400"/>
              <a:t>Agile Usage-Centered Design</a:t>
            </a:r>
          </a:p>
          <a:p>
            <a:pPr marL="822960" lvl="1" fontAlgn="auto">
              <a:lnSpc>
                <a:spcPct val="90000"/>
              </a:lnSpc>
              <a:spcAft>
                <a:spcPts val="0"/>
              </a:spcAft>
              <a:buFont typeface="Verdana"/>
              <a:buChar char="›"/>
              <a:defRPr/>
            </a:pPr>
            <a:r>
              <a:rPr lang="en-US" sz="2000"/>
              <a:t>Process of eight steps</a:t>
            </a:r>
          </a:p>
          <a:p>
            <a:pPr marL="822960" lvl="1" fontAlgn="auto">
              <a:lnSpc>
                <a:spcPct val="90000"/>
              </a:lnSpc>
              <a:spcAft>
                <a:spcPts val="0"/>
              </a:spcAft>
              <a:buFont typeface="Verdana"/>
              <a:buChar char="›"/>
              <a:defRPr/>
            </a:pPr>
            <a:r>
              <a:rPr lang="en-US" sz="2000"/>
              <a:t>See Table B-2</a:t>
            </a:r>
          </a:p>
          <a:p>
            <a:pPr marL="822960" lvl="1" fontAlgn="auto">
              <a:lnSpc>
                <a:spcPct val="90000"/>
              </a:lnSpc>
              <a:spcAft>
                <a:spcPts val="0"/>
              </a:spcAft>
              <a:buFont typeface="Verdana"/>
              <a:buChar char="›"/>
              <a:defRPr/>
            </a:pPr>
            <a:r>
              <a:rPr lang="en-US" sz="2000"/>
              <a:t>Most effective steps:</a:t>
            </a:r>
          </a:p>
          <a:p>
            <a:pPr marL="1106424" lvl="2" fontAlgn="auto">
              <a:lnSpc>
                <a:spcPct val="90000"/>
              </a:lnSpc>
              <a:spcAft>
                <a:spcPts val="0"/>
              </a:spcAft>
              <a:buFont typeface="Wingdings 2"/>
              <a:buChar char=""/>
              <a:defRPr/>
            </a:pPr>
            <a:r>
              <a:rPr lang="en-US" sz="1800"/>
              <a:t>Venting session</a:t>
            </a:r>
          </a:p>
          <a:p>
            <a:pPr marL="1106424" lvl="2" fontAlgn="auto">
              <a:lnSpc>
                <a:spcPct val="90000"/>
              </a:lnSpc>
              <a:spcAft>
                <a:spcPts val="0"/>
              </a:spcAft>
              <a:buFont typeface="Wingdings 2"/>
              <a:buChar char=""/>
              <a:defRPr/>
            </a:pPr>
            <a:r>
              <a:rPr lang="en-US" sz="1800"/>
              <a:t>Use of 3 x 5 cards</a:t>
            </a:r>
          </a:p>
          <a:p>
            <a:pPr marL="448056" indent="-384048" fontAlgn="auto">
              <a:lnSpc>
                <a:spcPct val="90000"/>
              </a:lnSpc>
              <a:spcAft>
                <a:spcPts val="0"/>
              </a:spcAft>
              <a:buFont typeface="Wingdings" pitchFamily="2" charset="2"/>
              <a:buNone/>
              <a:defRPr/>
            </a:pPr>
            <a:endParaRPr lang="en-US" sz="2400"/>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81604" name="Text Box 205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FF202265-1FFD-4567-9728-B7139A2ED58A}"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35878"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446AE7FA-FE23-42DD-B575-607DD7ED8249}" type="slidenum">
              <a:rPr lang="en-US" sz="1600">
                <a:solidFill>
                  <a:schemeClr val="tx1"/>
                </a:solidFill>
                <a:cs typeface="+mn-cs"/>
              </a:rPr>
              <a:pPr algn="ctr" eaLnBrk="0" hangingPunct="0">
                <a:defRPr/>
              </a:pPr>
              <a:t>11</a:t>
            </a:fld>
            <a:endParaRPr lang="en-US" sz="1600">
              <a:solidFill>
                <a:schemeClr val="tx1"/>
              </a:solidFill>
              <a:cs typeface="+mn-cs"/>
            </a:endParaRPr>
          </a:p>
        </p:txBody>
      </p:sp>
      <p:pic>
        <p:nvPicPr>
          <p:cNvPr id="335879" name="Picture 7"/>
          <p:cNvPicPr>
            <a:picLocks noChangeAspect="1" noChangeArrowheads="1"/>
          </p:cNvPicPr>
          <p:nvPr/>
        </p:nvPicPr>
        <p:blipFill>
          <a:blip r:embed="rId2"/>
          <a:srcRect/>
          <a:stretch>
            <a:fillRect/>
          </a:stretch>
        </p:blipFill>
        <p:spPr bwMode="auto">
          <a:xfrm>
            <a:off x="660400" y="1063625"/>
            <a:ext cx="7823200" cy="473075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9" name="Rectangle 7"/>
          <p:cNvSpPr>
            <a:spLocks noGrp="1" noChangeArrowheads="1"/>
          </p:cNvSpPr>
          <p:nvPr>
            <p:ph type="title"/>
          </p:nvPr>
        </p:nvSpPr>
        <p:spPr/>
        <p:txBody>
          <a:bodyPr/>
          <a:lstStyle/>
          <a:p>
            <a:pPr marL="484632" fontAlgn="auto">
              <a:spcAft>
                <a:spcPts val="0"/>
              </a:spcAft>
              <a:defRPr/>
            </a:pPr>
            <a:r>
              <a:rPr lang="en-US" dirty="0">
                <a:solidFill>
                  <a:schemeClr val="accent1">
                    <a:tint val="83000"/>
                    <a:satMod val="150000"/>
                  </a:schemeClr>
                </a:solidFill>
              </a:rPr>
              <a:t>Requirements Determination (continued)</a:t>
            </a:r>
          </a:p>
        </p:txBody>
      </p:sp>
      <p:sp>
        <p:nvSpPr>
          <p:cNvPr id="192520" name="Rectangle 8" descr="Rectangle: Click to edit Master text styles&#10;Second level&#10;Third level&#10;Fourth level&#10;Fifth level"/>
          <p:cNvSpPr>
            <a:spLocks noGrp="1" noChangeArrowheads="1"/>
          </p:cNvSpPr>
          <p:nvPr>
            <p:ph idx="1"/>
          </p:nvPr>
        </p:nvSpPr>
        <p:spPr>
          <a:xfrm>
            <a:off x="838200" y="1752600"/>
            <a:ext cx="7772400" cy="4419600"/>
          </a:xfrm>
        </p:spPr>
        <p:txBody>
          <a:bodyPr>
            <a:normAutofit/>
          </a:bodyPr>
          <a:lstStyle/>
          <a:p>
            <a:pPr marL="448056" indent="-384048" fontAlgn="auto">
              <a:lnSpc>
                <a:spcPct val="80000"/>
              </a:lnSpc>
              <a:spcAft>
                <a:spcPts val="0"/>
              </a:spcAft>
              <a:buFont typeface="Wingdings 2"/>
              <a:buChar char=""/>
              <a:defRPr/>
            </a:pPr>
            <a:r>
              <a:rPr lang="en-US" sz="1800" dirty="0"/>
              <a:t>The Planning Game</a:t>
            </a:r>
          </a:p>
          <a:p>
            <a:pPr marL="822960" lvl="1" fontAlgn="auto">
              <a:lnSpc>
                <a:spcPct val="80000"/>
              </a:lnSpc>
              <a:spcAft>
                <a:spcPts val="0"/>
              </a:spcAft>
              <a:buFont typeface="Verdana"/>
              <a:buChar char="›"/>
              <a:defRPr/>
            </a:pPr>
            <a:r>
              <a:rPr lang="en-US" sz="1600" dirty="0"/>
              <a:t>Players</a:t>
            </a:r>
          </a:p>
          <a:p>
            <a:pPr marL="1106424" lvl="2" fontAlgn="auto">
              <a:lnSpc>
                <a:spcPct val="80000"/>
              </a:lnSpc>
              <a:spcAft>
                <a:spcPts val="0"/>
              </a:spcAft>
              <a:buFont typeface="Wingdings 2"/>
              <a:buChar char=""/>
              <a:defRPr/>
            </a:pPr>
            <a:r>
              <a:rPr lang="en-US" sz="1400" dirty="0"/>
              <a:t>Business (Customers)</a:t>
            </a:r>
          </a:p>
          <a:p>
            <a:pPr marL="1106424" lvl="2" fontAlgn="auto">
              <a:lnSpc>
                <a:spcPct val="80000"/>
              </a:lnSpc>
              <a:spcAft>
                <a:spcPts val="0"/>
              </a:spcAft>
              <a:buFont typeface="Wingdings 2"/>
              <a:buChar char=""/>
              <a:defRPr/>
            </a:pPr>
            <a:r>
              <a:rPr lang="en-US" sz="1400" dirty="0"/>
              <a:t>Development</a:t>
            </a:r>
          </a:p>
          <a:p>
            <a:pPr marL="822960" lvl="1" fontAlgn="auto">
              <a:lnSpc>
                <a:spcPct val="80000"/>
              </a:lnSpc>
              <a:spcAft>
                <a:spcPts val="0"/>
              </a:spcAft>
              <a:buFont typeface="Verdana"/>
              <a:buChar char="›"/>
              <a:defRPr/>
            </a:pPr>
            <a:r>
              <a:rPr lang="en-US" sz="1600" dirty="0"/>
              <a:t>Game pieces are story cards</a:t>
            </a:r>
          </a:p>
          <a:p>
            <a:pPr marL="1106424" lvl="2" fontAlgn="auto">
              <a:lnSpc>
                <a:spcPct val="80000"/>
              </a:lnSpc>
              <a:spcAft>
                <a:spcPts val="0"/>
              </a:spcAft>
              <a:buFont typeface="Wingdings 2"/>
              <a:buChar char=""/>
              <a:defRPr/>
            </a:pPr>
            <a:r>
              <a:rPr lang="en-US" sz="1400" dirty="0"/>
              <a:t>Created by Business</a:t>
            </a:r>
          </a:p>
          <a:p>
            <a:pPr marL="1106424" lvl="2" fontAlgn="auto">
              <a:lnSpc>
                <a:spcPct val="80000"/>
              </a:lnSpc>
              <a:spcAft>
                <a:spcPts val="0"/>
              </a:spcAft>
              <a:buFont typeface="Wingdings 2"/>
              <a:buChar char=""/>
              <a:defRPr/>
            </a:pPr>
            <a:r>
              <a:rPr lang="en-US" sz="1400" dirty="0"/>
              <a:t>Contain description of a feature or procedure</a:t>
            </a:r>
          </a:p>
          <a:p>
            <a:pPr marL="1106424" lvl="2" fontAlgn="auto">
              <a:lnSpc>
                <a:spcPct val="80000"/>
              </a:lnSpc>
              <a:spcAft>
                <a:spcPts val="0"/>
              </a:spcAft>
              <a:buFont typeface="Wingdings 2"/>
              <a:buChar char=""/>
              <a:defRPr/>
            </a:pPr>
            <a:r>
              <a:rPr lang="en-US" sz="1400" dirty="0"/>
              <a:t>Each card is dated and numbered</a:t>
            </a:r>
          </a:p>
          <a:p>
            <a:pPr marL="822960" lvl="1" fontAlgn="auto">
              <a:lnSpc>
                <a:spcPct val="80000"/>
              </a:lnSpc>
              <a:spcAft>
                <a:spcPts val="0"/>
              </a:spcAft>
              <a:buFont typeface="Verdana"/>
              <a:buChar char="›"/>
              <a:defRPr/>
            </a:pPr>
            <a:r>
              <a:rPr lang="en-US" sz="1600" dirty="0"/>
              <a:t>Three Phases</a:t>
            </a:r>
          </a:p>
          <a:p>
            <a:pPr marL="1106424" lvl="2" fontAlgn="auto">
              <a:lnSpc>
                <a:spcPct val="80000"/>
              </a:lnSpc>
              <a:spcAft>
                <a:spcPts val="0"/>
              </a:spcAft>
              <a:buFont typeface="Wingdings 2"/>
              <a:buChar char=""/>
              <a:defRPr/>
            </a:pPr>
            <a:r>
              <a:rPr lang="en-US" sz="1400" dirty="0"/>
              <a:t>Exploration</a:t>
            </a:r>
          </a:p>
          <a:p>
            <a:pPr lvl="3" indent="-210312" fontAlgn="auto">
              <a:lnSpc>
                <a:spcPct val="80000"/>
              </a:lnSpc>
              <a:spcAft>
                <a:spcPts val="0"/>
              </a:spcAft>
              <a:buFont typeface="Wingdings 2"/>
              <a:buChar char=""/>
              <a:defRPr/>
            </a:pPr>
            <a:r>
              <a:rPr lang="en-US" sz="1200" dirty="0"/>
              <a:t>Business creates a story card</a:t>
            </a:r>
          </a:p>
          <a:p>
            <a:pPr lvl="3" indent="-210312" fontAlgn="auto">
              <a:lnSpc>
                <a:spcPct val="80000"/>
              </a:lnSpc>
              <a:spcAft>
                <a:spcPts val="0"/>
              </a:spcAft>
              <a:buFont typeface="Wingdings 2"/>
              <a:buChar char=""/>
              <a:defRPr/>
            </a:pPr>
            <a:r>
              <a:rPr lang="en-US" sz="1200" dirty="0"/>
              <a:t>Development responds with a time estimate</a:t>
            </a:r>
          </a:p>
          <a:p>
            <a:pPr marL="1106424" lvl="2" fontAlgn="auto">
              <a:lnSpc>
                <a:spcPct val="80000"/>
              </a:lnSpc>
              <a:spcAft>
                <a:spcPts val="0"/>
              </a:spcAft>
              <a:buFont typeface="Wingdings 2"/>
              <a:buChar char=""/>
              <a:defRPr/>
            </a:pPr>
            <a:r>
              <a:rPr lang="en-US" sz="1400" dirty="0"/>
              <a:t>Commitment</a:t>
            </a:r>
          </a:p>
          <a:p>
            <a:pPr lvl="3" indent="-210312" fontAlgn="auto">
              <a:lnSpc>
                <a:spcPct val="80000"/>
              </a:lnSpc>
              <a:spcAft>
                <a:spcPts val="0"/>
              </a:spcAft>
              <a:buFont typeface="Wingdings 2"/>
              <a:buChar char=""/>
              <a:defRPr/>
            </a:pPr>
            <a:r>
              <a:rPr lang="en-US" sz="1200" dirty="0"/>
              <a:t>Business sorts cards into three stacks: essential, non-essential but add value, and nice to have</a:t>
            </a:r>
          </a:p>
          <a:p>
            <a:pPr lvl="3" indent="-210312" fontAlgn="auto">
              <a:lnSpc>
                <a:spcPct val="80000"/>
              </a:lnSpc>
              <a:spcAft>
                <a:spcPts val="0"/>
              </a:spcAft>
              <a:buFont typeface="Wingdings 2"/>
              <a:buChar char=""/>
              <a:defRPr/>
            </a:pPr>
            <a:r>
              <a:rPr lang="en-US" sz="1200" dirty="0"/>
              <a:t>Development sorts story cards according to risk</a:t>
            </a:r>
          </a:p>
          <a:p>
            <a:pPr lvl="3" indent="-210312" fontAlgn="auto">
              <a:lnSpc>
                <a:spcPct val="80000"/>
              </a:lnSpc>
              <a:spcAft>
                <a:spcPts val="0"/>
              </a:spcAft>
              <a:buFont typeface="Wingdings 2"/>
              <a:buChar char=""/>
              <a:defRPr/>
            </a:pPr>
            <a:r>
              <a:rPr lang="en-US" sz="1200" dirty="0"/>
              <a:t>Business selects cards that will be used in next release</a:t>
            </a:r>
          </a:p>
          <a:p>
            <a:pPr marL="1106424" lvl="2" fontAlgn="auto">
              <a:lnSpc>
                <a:spcPct val="80000"/>
              </a:lnSpc>
              <a:spcAft>
                <a:spcPts val="0"/>
              </a:spcAft>
              <a:buFont typeface="Wingdings 2"/>
              <a:buChar char=""/>
              <a:defRPr/>
            </a:pPr>
            <a:r>
              <a:rPr lang="en-US" sz="1400" dirty="0"/>
              <a:t>Steering</a:t>
            </a:r>
          </a:p>
          <a:p>
            <a:pPr lvl="3" indent="-210312" fontAlgn="auto">
              <a:lnSpc>
                <a:spcPct val="80000"/>
              </a:lnSpc>
              <a:spcAft>
                <a:spcPts val="0"/>
              </a:spcAft>
              <a:buFont typeface="Wingdings 2"/>
              <a:buChar char=""/>
              <a:defRPr/>
            </a:pPr>
            <a:r>
              <a:rPr lang="en-US" sz="1200" dirty="0"/>
              <a:t>Business sees how development is progressing</a:t>
            </a:r>
          </a:p>
          <a:p>
            <a:pPr lvl="3" indent="-210312" fontAlgn="auto">
              <a:lnSpc>
                <a:spcPct val="80000"/>
              </a:lnSpc>
              <a:spcAft>
                <a:spcPts val="0"/>
              </a:spcAft>
              <a:buFont typeface="Wingdings 2"/>
              <a:buChar char=""/>
              <a:defRPr/>
            </a:pPr>
            <a:r>
              <a:rPr lang="en-US" sz="1200" dirty="0"/>
              <a:t>Plan is adjusted accordingly</a:t>
            </a:r>
          </a:p>
          <a:p>
            <a:pPr lvl="3" indent="-210312" fontAlgn="auto">
              <a:lnSpc>
                <a:spcPct val="80000"/>
              </a:lnSpc>
              <a:spcAft>
                <a:spcPts val="0"/>
              </a:spcAft>
              <a:buFont typeface="Wingdings 2"/>
              <a:buChar char=""/>
              <a:defRPr/>
            </a:pPr>
            <a:r>
              <a:rPr lang="en-US" sz="1200" dirty="0"/>
              <a:t>Can take place as often as once every three weeks</a:t>
            </a:r>
          </a:p>
          <a:p>
            <a:pPr marL="822960" lvl="1" fontAlgn="auto">
              <a:lnSpc>
                <a:spcPct val="80000"/>
              </a:lnSpc>
              <a:spcAft>
                <a:spcPts val="0"/>
              </a:spcAft>
              <a:buFont typeface="Verdana"/>
              <a:buChar char="›"/>
              <a:defRPr/>
            </a:pPr>
            <a:endParaRPr lang="en-US" sz="1600" dirty="0"/>
          </a:p>
          <a:p>
            <a:pPr lvl="3" indent="-210312" fontAlgn="auto">
              <a:lnSpc>
                <a:spcPct val="80000"/>
              </a:lnSpc>
              <a:spcAft>
                <a:spcPts val="0"/>
              </a:spcAft>
              <a:buFont typeface="Wingdings 2"/>
              <a:buChar char=""/>
              <a:defRPr/>
            </a:pPr>
            <a:endParaRPr lang="en-US" sz="1200" dirty="0"/>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2516"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8D4F9DEC-A94B-47D3-BA2C-EAD80D67F799}"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609600" y="228600"/>
            <a:ext cx="7772400" cy="1143000"/>
          </a:xfrm>
        </p:spPr>
        <p:txBody>
          <a:bodyPr>
            <a:normAutofit fontScale="90000"/>
          </a:bodyPr>
          <a:lstStyle/>
          <a:p>
            <a:pPr marL="484632" fontAlgn="auto">
              <a:spcAft>
                <a:spcPts val="0"/>
              </a:spcAft>
              <a:defRPr/>
            </a:pPr>
            <a:r>
              <a:rPr lang="en-US" dirty="0">
                <a:solidFill>
                  <a:schemeClr val="accent1">
                    <a:tint val="83000"/>
                    <a:satMod val="150000"/>
                  </a:schemeClr>
                </a:solidFill>
              </a:rPr>
              <a:t>Requirements Determination (continued)</a:t>
            </a:r>
          </a:p>
        </p:txBody>
      </p:sp>
      <p:sp>
        <p:nvSpPr>
          <p:cNvPr id="40962" name="Rectangle 3" descr="Rectangle: Click to edit Master text styles&#10;Second level&#10;Third level&#10;Fourth level&#10;Fifth level"/>
          <p:cNvSpPr>
            <a:spLocks noGrp="1" noChangeArrowheads="1"/>
          </p:cNvSpPr>
          <p:nvPr>
            <p:ph idx="1"/>
          </p:nvPr>
        </p:nvSpPr>
        <p:spPr>
          <a:xfrm>
            <a:off x="762000" y="1828800"/>
            <a:ext cx="7848600" cy="3962400"/>
          </a:xfrm>
        </p:spPr>
        <p:txBody>
          <a:bodyPr/>
          <a:lstStyle/>
          <a:p>
            <a:pPr>
              <a:lnSpc>
                <a:spcPct val="80000"/>
              </a:lnSpc>
            </a:pPr>
            <a:r>
              <a:rPr lang="en-US" sz="2000" smtClean="0"/>
              <a:t>The Planning Game (continued)</a:t>
            </a:r>
          </a:p>
          <a:p>
            <a:pPr lvl="1">
              <a:lnSpc>
                <a:spcPct val="80000"/>
              </a:lnSpc>
            </a:pPr>
            <a:r>
              <a:rPr lang="en-US" sz="1800" smtClean="0"/>
              <a:t>Iteration Planning Game</a:t>
            </a:r>
          </a:p>
          <a:p>
            <a:pPr lvl="2">
              <a:lnSpc>
                <a:spcPct val="80000"/>
              </a:lnSpc>
            </a:pPr>
            <a:r>
              <a:rPr lang="en-US" sz="1600" smtClean="0"/>
              <a:t>Follows planning game</a:t>
            </a:r>
          </a:p>
          <a:p>
            <a:pPr lvl="2">
              <a:lnSpc>
                <a:spcPct val="80000"/>
              </a:lnSpc>
            </a:pPr>
            <a:r>
              <a:rPr lang="en-US" sz="1600" smtClean="0"/>
              <a:t>Played only by programmers</a:t>
            </a:r>
          </a:p>
          <a:p>
            <a:pPr lvl="2">
              <a:lnSpc>
                <a:spcPct val="80000"/>
              </a:lnSpc>
            </a:pPr>
            <a:r>
              <a:rPr lang="en-US" sz="1600" smtClean="0"/>
              <a:t>Uses task cards</a:t>
            </a:r>
          </a:p>
          <a:p>
            <a:pPr lvl="2">
              <a:lnSpc>
                <a:spcPct val="80000"/>
              </a:lnSpc>
            </a:pPr>
            <a:r>
              <a:rPr lang="en-US" sz="1600" smtClean="0"/>
              <a:t>Same three phases</a:t>
            </a:r>
          </a:p>
          <a:p>
            <a:pPr lvl="3">
              <a:lnSpc>
                <a:spcPct val="80000"/>
              </a:lnSpc>
              <a:buFont typeface="Wingdings" pitchFamily="2" charset="2"/>
              <a:buChar char="l"/>
            </a:pPr>
            <a:r>
              <a:rPr lang="en-US" sz="1400" smtClean="0"/>
              <a:t>Exploration</a:t>
            </a:r>
          </a:p>
          <a:p>
            <a:pPr lvl="4">
              <a:lnSpc>
                <a:spcPct val="80000"/>
              </a:lnSpc>
              <a:buFont typeface="Wingdings" pitchFamily="2" charset="2"/>
              <a:buChar char="w"/>
            </a:pPr>
            <a:r>
              <a:rPr lang="en-US" sz="1400" smtClean="0"/>
              <a:t>Programmers convert story cards to task cards</a:t>
            </a:r>
          </a:p>
          <a:p>
            <a:pPr lvl="3">
              <a:lnSpc>
                <a:spcPct val="80000"/>
              </a:lnSpc>
              <a:buFont typeface="Wingdings" pitchFamily="2" charset="2"/>
              <a:buChar char="l"/>
            </a:pPr>
            <a:r>
              <a:rPr lang="en-US" sz="1400" smtClean="0"/>
              <a:t>Commitment</a:t>
            </a:r>
          </a:p>
          <a:p>
            <a:pPr lvl="4">
              <a:lnSpc>
                <a:spcPct val="80000"/>
              </a:lnSpc>
              <a:buFont typeface="Wingdings" pitchFamily="2" charset="2"/>
              <a:buChar char="s"/>
            </a:pPr>
            <a:r>
              <a:rPr lang="en-US" sz="1400" smtClean="0"/>
              <a:t>Programmers accept responsibility for tasks</a:t>
            </a:r>
          </a:p>
          <a:p>
            <a:pPr lvl="4">
              <a:lnSpc>
                <a:spcPct val="80000"/>
              </a:lnSpc>
              <a:buFont typeface="Wingdings" pitchFamily="2" charset="2"/>
              <a:buChar char="s"/>
            </a:pPr>
            <a:r>
              <a:rPr lang="en-US" sz="1400" smtClean="0"/>
              <a:t>Balance workloads</a:t>
            </a:r>
          </a:p>
          <a:p>
            <a:pPr lvl="3">
              <a:lnSpc>
                <a:spcPct val="80000"/>
              </a:lnSpc>
              <a:buFont typeface="Wingdings" pitchFamily="2" charset="2"/>
              <a:buChar char="l"/>
            </a:pPr>
            <a:r>
              <a:rPr lang="en-US" sz="1400" smtClean="0"/>
              <a:t>Steering</a:t>
            </a:r>
          </a:p>
          <a:p>
            <a:pPr lvl="4">
              <a:lnSpc>
                <a:spcPct val="80000"/>
              </a:lnSpc>
              <a:buFont typeface="Wingdings" pitchFamily="2" charset="2"/>
              <a:buChar char="s"/>
            </a:pPr>
            <a:r>
              <a:rPr lang="en-US" sz="1400" smtClean="0"/>
              <a:t>Write code and test</a:t>
            </a:r>
          </a:p>
          <a:p>
            <a:pPr lvl="4">
              <a:lnSpc>
                <a:spcPct val="80000"/>
              </a:lnSpc>
              <a:buFont typeface="Wingdings" pitchFamily="2" charset="2"/>
              <a:buChar char="s"/>
            </a:pPr>
            <a:r>
              <a:rPr lang="en-US" sz="1400" smtClean="0"/>
              <a:t>Integrate into product</a:t>
            </a:r>
          </a:p>
          <a:p>
            <a:pPr lvl="2">
              <a:lnSpc>
                <a:spcPct val="80000"/>
              </a:lnSpc>
            </a:pPr>
            <a:r>
              <a:rPr lang="en-US" sz="1600" smtClean="0"/>
              <a:t>Takes place between steering phase meetings of planning game</a:t>
            </a:r>
          </a:p>
        </p:txBody>
      </p:sp>
      <p:sp>
        <p:nvSpPr>
          <p:cNvPr id="409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5220"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601AF1C2-D39B-43A8-8F7B-E2774F50E0AF}"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3" name="Rectangle 1029"/>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Design Specifications</a:t>
            </a:r>
          </a:p>
        </p:txBody>
      </p:sp>
      <p:sp>
        <p:nvSpPr>
          <p:cNvPr id="41986" name="Rectangle 1030"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80000"/>
              </a:lnSpc>
            </a:pPr>
            <a:r>
              <a:rPr lang="en-US" sz="2800" smtClean="0"/>
              <a:t>eXtreme Programming Employs Two Techniques to Continually Improve Quality of Design</a:t>
            </a:r>
          </a:p>
          <a:p>
            <a:pPr lvl="1">
              <a:lnSpc>
                <a:spcPct val="80000"/>
              </a:lnSpc>
            </a:pPr>
            <a:r>
              <a:rPr lang="en-US" sz="2400" smtClean="0"/>
              <a:t>Simple Design</a:t>
            </a:r>
          </a:p>
          <a:p>
            <a:pPr lvl="2">
              <a:lnSpc>
                <a:spcPct val="80000"/>
              </a:lnSpc>
            </a:pPr>
            <a:r>
              <a:rPr lang="en-US" sz="2000" smtClean="0"/>
              <a:t>Four constraints</a:t>
            </a:r>
          </a:p>
          <a:p>
            <a:pPr lvl="3">
              <a:lnSpc>
                <a:spcPct val="80000"/>
              </a:lnSpc>
              <a:buFont typeface="Wingdings" pitchFamily="2" charset="2"/>
              <a:buChar char="s"/>
            </a:pPr>
            <a:r>
              <a:rPr lang="en-US" sz="1800" smtClean="0"/>
              <a:t>The system must communicate everything that you want it to communicate</a:t>
            </a:r>
          </a:p>
          <a:p>
            <a:pPr lvl="3">
              <a:lnSpc>
                <a:spcPct val="80000"/>
              </a:lnSpc>
              <a:buFont typeface="Wingdings" pitchFamily="2" charset="2"/>
              <a:buChar char="s"/>
            </a:pPr>
            <a:r>
              <a:rPr lang="en-US" sz="1800" smtClean="0"/>
              <a:t>The system must contain no duplicate code</a:t>
            </a:r>
          </a:p>
          <a:p>
            <a:pPr lvl="3">
              <a:lnSpc>
                <a:spcPct val="80000"/>
              </a:lnSpc>
              <a:buFont typeface="Wingdings" pitchFamily="2" charset="2"/>
              <a:buChar char="s"/>
            </a:pPr>
            <a:r>
              <a:rPr lang="en-US" sz="1800" smtClean="0"/>
              <a:t>The system should have the fewest possible classes</a:t>
            </a:r>
          </a:p>
          <a:p>
            <a:pPr lvl="3">
              <a:lnSpc>
                <a:spcPct val="80000"/>
              </a:lnSpc>
              <a:buFont typeface="Wingdings" pitchFamily="2" charset="2"/>
              <a:buChar char="s"/>
            </a:pPr>
            <a:r>
              <a:rPr lang="en-US" sz="1800" smtClean="0"/>
              <a:t>The system should have the fewest possible methods</a:t>
            </a:r>
          </a:p>
          <a:p>
            <a:pPr lvl="1">
              <a:lnSpc>
                <a:spcPct val="80000"/>
              </a:lnSpc>
            </a:pPr>
            <a:r>
              <a:rPr lang="en-US" sz="2400" smtClean="0"/>
              <a:t>Refactoring</a:t>
            </a:r>
          </a:p>
          <a:p>
            <a:pPr lvl="2">
              <a:lnSpc>
                <a:spcPct val="80000"/>
              </a:lnSpc>
            </a:pPr>
            <a:r>
              <a:rPr lang="en-US" sz="2000" smtClean="0"/>
              <a:t>Process of simplifying a system after new features have been added</a:t>
            </a:r>
          </a:p>
          <a:p>
            <a:pPr lvl="2">
              <a:lnSpc>
                <a:spcPct val="80000"/>
              </a:lnSpc>
              <a:buFont typeface="Wingdings" pitchFamily="2" charset="2"/>
              <a:buNone/>
            </a:pPr>
            <a:endParaRPr lang="en-US" sz="2000" smtClean="0"/>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304132" name="Text Box 1028"/>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E7219690-E316-4B02-8D06-90B2DDCDF77E}"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9" name="Rectangle 5"/>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Implementation</a:t>
            </a:r>
          </a:p>
        </p:txBody>
      </p:sp>
      <p:sp>
        <p:nvSpPr>
          <p:cNvPr id="43010" name="Rectangle 6"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Traditional systems development involves an implementation phase</a:t>
            </a:r>
          </a:p>
          <a:p>
            <a:r>
              <a:rPr lang="en-US" smtClean="0"/>
              <a:t>In eXtreme Programming and Other Agile Methodologies, implementation is complete once testing has been done</a:t>
            </a:r>
          </a:p>
          <a:p>
            <a:endParaRPr lang="en-US" smtClean="0"/>
          </a:p>
          <a:p>
            <a:endParaRPr lang="en-US" smtClean="0"/>
          </a:p>
          <a:p>
            <a:pPr lvl="1"/>
            <a:endParaRPr lang="en-US" smtClean="0"/>
          </a:p>
          <a:p>
            <a:pPr lvl="1"/>
            <a:endParaRPr lang="en-US" smtClean="0"/>
          </a:p>
        </p:txBody>
      </p:sp>
      <p:sp>
        <p:nvSpPr>
          <p:cNvPr id="430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82628"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E3F791A1-3D0B-4532-86CE-4CA5CC70574C}"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a:t>
            </a:r>
          </a:p>
        </p:txBody>
      </p:sp>
      <p:sp>
        <p:nvSpPr>
          <p:cNvPr id="4403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mtClean="0"/>
              <a:t>Trend to Agile Methodologies</a:t>
            </a:r>
          </a:p>
          <a:p>
            <a:r>
              <a:rPr lang="en-US" smtClean="0"/>
              <a:t>eXtreme Programming as an Example</a:t>
            </a:r>
          </a:p>
          <a:p>
            <a:pPr lvl="1"/>
            <a:r>
              <a:rPr lang="en-US" smtClean="0"/>
              <a:t>Continual user involvement</a:t>
            </a:r>
          </a:p>
          <a:p>
            <a:pPr lvl="1"/>
            <a:r>
              <a:rPr lang="en-US" smtClean="0"/>
              <a:t>Agile-Centered approach</a:t>
            </a:r>
          </a:p>
          <a:p>
            <a:pPr lvl="1"/>
            <a:r>
              <a:rPr lang="en-US" smtClean="0"/>
              <a:t>Pair programming</a:t>
            </a:r>
          </a:p>
          <a:p>
            <a:pPr lvl="1"/>
            <a:r>
              <a:rPr lang="en-US" smtClean="0"/>
              <a:t>The Planning Game</a:t>
            </a:r>
          </a:p>
          <a:p>
            <a:pPr lvl="1"/>
            <a:endParaRPr lang="en-US" smtClean="0"/>
          </a:p>
          <a:p>
            <a:endParaRPr lang="en-US" smtClean="0"/>
          </a:p>
          <a:p>
            <a:pPr>
              <a:buFont typeface="Wingdings" pitchFamily="2" charset="2"/>
              <a:buNone/>
            </a:pPr>
            <a:endParaRPr lang="en-US" smtClean="0"/>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2452" name="Text Box 4"/>
          <p:cNvSpPr txBox="1">
            <a:spLocks noChangeArrowheads="1"/>
          </p:cNvSpPr>
          <p:nvPr/>
        </p:nvSpPr>
        <p:spPr bwMode="auto">
          <a:xfrm>
            <a:off x="228600" y="6172200"/>
            <a:ext cx="7620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B.</a:t>
            </a:r>
            <a:fld id="{2CF388C7-C120-49A5-B6B0-F0717EDC4C95}" type="slidenum">
              <a:rPr lang="en-US" sz="1600">
                <a:solidFill>
                  <a:schemeClr val="tx1"/>
                </a:solidFill>
                <a:cs typeface="+mn-cs"/>
              </a:rPr>
              <a:pPr algn="ctr" eaLnBrk="0" hangingPunct="0">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53251"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53252"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ess version 2">
  <a:themeElements>
    <a:clrScheme name="">
      <a:dk1>
        <a:srgbClr val="3410A6"/>
      </a:dk1>
      <a:lt1>
        <a:srgbClr val="DCC4A4"/>
      </a:lt1>
      <a:dk2>
        <a:srgbClr val="008000"/>
      </a:dk2>
      <a:lt2>
        <a:srgbClr val="B7C1EB"/>
      </a:lt2>
      <a:accent1>
        <a:srgbClr val="ECD882"/>
      </a:accent1>
      <a:accent2>
        <a:srgbClr val="B2B2B2"/>
      </a:accent2>
      <a:accent3>
        <a:srgbClr val="EBDECF"/>
      </a:accent3>
      <a:accent4>
        <a:srgbClr val="2B0C8D"/>
      </a:accent4>
      <a:accent5>
        <a:srgbClr val="F4E9C1"/>
      </a:accent5>
      <a:accent6>
        <a:srgbClr val="A1A1A1"/>
      </a:accent6>
      <a:hlink>
        <a:srgbClr val="0D27E7"/>
      </a:hlink>
      <a:folHlink>
        <a:srgbClr val="E9DAC5"/>
      </a:folHlink>
    </a:clrScheme>
    <a:fontScheme name="1_ess version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outerShdw dist="45791" dir="2021404" algn="ctr" rotWithShape="0">
            <a:srgbClr val="9999FF"/>
          </a:outerShdw>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cap="flat" cmpd="sng" algn="ctr">
              <a:solidFill>
                <a:srgbClr val="3333CC"/>
              </a:solidFill>
              <a:prstDash val="solid"/>
              <a:round/>
              <a:headEnd type="none" w="med" len="med"/>
              <a:tailEnd type="none" w="med" len="med"/>
            </a14:hiddenLine>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400" b="0" i="0" u="none" strike="noStrike" cap="none" normalizeH="0" baseline="0" smtClean="0">
            <a:ln>
              <a:noFill/>
            </a:ln>
            <a:solidFill>
              <a:schemeClr val="tx2"/>
            </a:solidFill>
            <a:effectLst/>
            <a:latin typeface="Arial" charset="0"/>
          </a:defRPr>
        </a:defPPr>
      </a:lstStyle>
    </a:spDef>
    <a:lnDef>
      <a:spPr bwMode="auto">
        <a:xfrm>
          <a:off x="0" y="0"/>
          <a:ext cx="1" cy="1"/>
        </a:xfrm>
        <a:custGeom>
          <a:avLst/>
          <a:gdLst/>
          <a:ahLst/>
          <a:cxnLst/>
          <a:rect l="0" t="0" r="0" b="0"/>
          <a:pathLst/>
        </a:custGeom>
        <a:noFill/>
        <a:ln>
          <a:noFill/>
        </a:ln>
        <a:effectLst>
          <a:outerShdw dist="45791" dir="2021404" algn="ctr" rotWithShape="0">
            <a:srgbClr val="9999FF"/>
          </a:outerShdw>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cap="flat" cmpd="sng" algn="ctr">
              <a:solidFill>
                <a:srgbClr val="3333CC"/>
              </a:solidFill>
              <a:prstDash val="solid"/>
              <a:round/>
              <a:headEnd type="none" w="med" len="med"/>
              <a:tailEnd type="none" w="med" len="med"/>
            </a14:hiddenLine>
          </a:ext>
        </a:ex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400" b="0" i="0" u="none" strike="noStrike" cap="none" normalizeH="0" baseline="0" smtClean="0">
            <a:ln>
              <a:noFill/>
            </a:ln>
            <a:solidFill>
              <a:schemeClr val="tx2"/>
            </a:solidFill>
            <a:effectLst/>
            <a:latin typeface="Arial" charset="0"/>
          </a:defRPr>
        </a:defPPr>
      </a:lstStyle>
    </a:lnDef>
  </a:objectDefaults>
  <a:extraClrSchemeLst>
    <a:extraClrScheme>
      <a:clrScheme name="1_ess version 2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1_ess version 2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1_ess version 2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1_ess version 2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1_ess version 2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1_ess version 2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1_ess version 2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1_ess version 2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
      <a:clrScheme name="1_ess version 2 9">
        <a:dk1>
          <a:srgbClr val="0E8CBE"/>
        </a:dk1>
        <a:lt1>
          <a:srgbClr val="CFAE83"/>
        </a:lt1>
        <a:dk2>
          <a:srgbClr val="660066"/>
        </a:dk2>
        <a:lt2>
          <a:srgbClr val="B7C1EB"/>
        </a:lt2>
        <a:accent1>
          <a:srgbClr val="ECD882"/>
        </a:accent1>
        <a:accent2>
          <a:srgbClr val="B2B2B2"/>
        </a:accent2>
        <a:accent3>
          <a:srgbClr val="E4D3C1"/>
        </a:accent3>
        <a:accent4>
          <a:srgbClr val="0A77A2"/>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1_ess version 2 10">
        <a:dk1>
          <a:srgbClr val="3410A6"/>
        </a:dk1>
        <a:lt1>
          <a:srgbClr val="DCC4A4"/>
        </a:lt1>
        <a:dk2>
          <a:srgbClr val="003300"/>
        </a:dk2>
        <a:lt2>
          <a:srgbClr val="B7C1EB"/>
        </a:lt2>
        <a:accent1>
          <a:srgbClr val="ECD882"/>
        </a:accent1>
        <a:accent2>
          <a:srgbClr val="B2B2B2"/>
        </a:accent2>
        <a:accent3>
          <a:srgbClr val="EBDECF"/>
        </a:accent3>
        <a:accent4>
          <a:srgbClr val="2B0C8D"/>
        </a:accent4>
        <a:accent5>
          <a:srgbClr val="F4E9C1"/>
        </a:accent5>
        <a:accent6>
          <a:srgbClr val="A1A1A1"/>
        </a:accent6>
        <a:hlink>
          <a:srgbClr val="0D27E7"/>
        </a:hlink>
        <a:folHlink>
          <a:srgbClr val="6D92F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3169</TotalTime>
  <Words>1041</Words>
  <Application>Microsoft Office PowerPoint</Application>
  <PresentationFormat>On-screen Show (4:3)</PresentationFormat>
  <Paragraphs>186</Paragraphs>
  <Slides>17</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Arial</vt:lpstr>
      <vt:lpstr>Century Gothic</vt:lpstr>
      <vt:lpstr>Tahoma</vt:lpstr>
      <vt:lpstr>Times New Roman</vt:lpstr>
      <vt:lpstr>Verdana</vt:lpstr>
      <vt:lpstr>Wingdings</vt:lpstr>
      <vt:lpstr>Wingdings 2</vt:lpstr>
      <vt:lpstr>1_ess version 2</vt:lpstr>
      <vt:lpstr>Verve</vt:lpstr>
      <vt:lpstr>Essentials of Systems Analysis and Design Sixth Edition  Joseph S. Valacich Joey F. George Jeffrey A. Hoffer</vt:lpstr>
      <vt:lpstr>Learning Objectives</vt:lpstr>
      <vt:lpstr>The Trend to Agile Methodologies</vt:lpstr>
      <vt:lpstr>The Trend to Agile Methodologies (continued)</vt:lpstr>
      <vt:lpstr>Agile Methodologies</vt:lpstr>
      <vt:lpstr>PowerPoint Presentation</vt:lpstr>
      <vt:lpstr>Agile Methodologies(continued)</vt:lpstr>
      <vt:lpstr>PowerPoint Presentation</vt:lpstr>
      <vt:lpstr>eXtreme Programming</vt:lpstr>
      <vt:lpstr>Requirements Determination</vt:lpstr>
      <vt:lpstr>PowerPoint Presentation</vt:lpstr>
      <vt:lpstr>Requirements Determination (continued)</vt:lpstr>
      <vt:lpstr>Requirements Determination (continued)</vt:lpstr>
      <vt:lpstr>Design Specifications</vt:lpstr>
      <vt:lpstr>Implementation</vt:lpstr>
      <vt:lpstr>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Appendix A</dc:title>
  <dc:creator>John Russo</dc:creator>
  <cp:lastModifiedBy>Kim Norbuta</cp:lastModifiedBy>
  <cp:revision>137</cp:revision>
  <cp:lastPrinted>1601-01-01T00:00:00Z</cp:lastPrinted>
  <dcterms:created xsi:type="dcterms:W3CDTF">2011-07-26T16:22:49Z</dcterms:created>
  <dcterms:modified xsi:type="dcterms:W3CDTF">2014-10-24T15:29:08Z</dcterms:modified>
</cp:coreProperties>
</file>