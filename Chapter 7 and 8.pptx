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318" r:id="rId3"/>
    <p:sldId id="336" r:id="rId4"/>
    <p:sldId id="25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7" r:id="rId13"/>
    <p:sldId id="328" r:id="rId14"/>
    <p:sldId id="337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8" r:id="rId23"/>
    <p:sldId id="339" r:id="rId24"/>
    <p:sldId id="340" r:id="rId25"/>
    <p:sldId id="341" r:id="rId26"/>
    <p:sldId id="342" r:id="rId27"/>
    <p:sldId id="343" r:id="rId28"/>
    <p:sldId id="345" r:id="rId29"/>
    <p:sldId id="344" r:id="rId30"/>
    <p:sldId id="346" r:id="rId31"/>
    <p:sldId id="347" r:id="rId32"/>
    <p:sldId id="348" r:id="rId33"/>
    <p:sldId id="349" r:id="rId34"/>
    <p:sldId id="350" r:id="rId35"/>
    <p:sldId id="351" r:id="rId36"/>
    <p:sldId id="356" r:id="rId37"/>
    <p:sldId id="352" r:id="rId38"/>
    <p:sldId id="353" r:id="rId39"/>
    <p:sldId id="354" r:id="rId40"/>
    <p:sldId id="358" r:id="rId41"/>
    <p:sldId id="359" r:id="rId42"/>
    <p:sldId id="360" r:id="rId43"/>
    <p:sldId id="361" r:id="rId44"/>
    <p:sldId id="362" r:id="rId45"/>
    <p:sldId id="363" r:id="rId46"/>
    <p:sldId id="364" r:id="rId47"/>
    <p:sldId id="365" r:id="rId48"/>
    <p:sldId id="366" r:id="rId49"/>
    <p:sldId id="367" r:id="rId50"/>
    <p:sldId id="368" r:id="rId51"/>
    <p:sldId id="369" r:id="rId52"/>
    <p:sldId id="378" r:id="rId53"/>
    <p:sldId id="370" r:id="rId54"/>
    <p:sldId id="371" r:id="rId55"/>
    <p:sldId id="379" r:id="rId56"/>
    <p:sldId id="372" r:id="rId57"/>
    <p:sldId id="373" r:id="rId58"/>
    <p:sldId id="380" r:id="rId59"/>
    <p:sldId id="381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576" autoAdjust="0"/>
  </p:normalViewPr>
  <p:slideViewPr>
    <p:cSldViewPr>
      <p:cViewPr>
        <p:scale>
          <a:sx n="70" d="100"/>
          <a:sy n="70" d="100"/>
        </p:scale>
        <p:origin x="-1164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8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4018D3D-4F17-4643-B902-2599C8C1C184}" type="datetimeFigureOut">
              <a:rPr lang="en-US" smtClean="0"/>
              <a:pPr/>
              <a:t>11/17/2012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8EC39C9-6B0A-47F6-875D-026E946A1E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/>
              <a:t>Router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2 &amp; 3</a:t>
            </a:r>
          </a:p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4114800" cy="4114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7467600" cy="579438"/>
          </a:xfrm>
        </p:spPr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Router </a:t>
            </a:r>
            <a:r>
              <a:rPr lang="en-US" b="1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Modul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1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429000" y="1219200"/>
            <a:ext cx="5334000" cy="9144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en-US" sz="18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1- Routers , Ports</a:t>
            </a:r>
          </a:p>
          <a:p>
            <a:pPr>
              <a:buNone/>
            </a:pPr>
            <a:r>
              <a:rPr lang="en-US" sz="18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2- Router Internal Configuration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Router &amp; Ports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2</a:t>
            </a:r>
          </a:p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419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Routers &amp; Ports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Cisco Models Router :</a:t>
            </a:r>
          </a:p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1- 800 Series.</a:t>
            </a:r>
          </a:p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2- 1700 Series.</a:t>
            </a:r>
          </a:p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3- 2600 Series.</a:t>
            </a:r>
          </a:p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4- 3700 Series.</a:t>
            </a:r>
          </a:p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5- 12000 Series.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2438400"/>
            <a:ext cx="81534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عبارة عن مجموعة من الروترات  ضمن الـ 800 او الـ 1700 او اي رقم معين من ارقام الروتر لها وظائف معينة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1752600" y="16002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990600"/>
            <a:ext cx="12192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رخيص الثمن 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14600" y="1905000"/>
            <a:ext cx="9906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غالي الثمن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Picture 13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00400"/>
            <a:ext cx="6191250" cy="2847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419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Routers &amp; Ports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مكونات 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  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(2690-2600) من الخارج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Power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Switch (on/off)</a:t>
            </a:r>
            <a:endParaRPr lang="ar-YE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Ports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يوجد فيه الوان وهي :</a:t>
            </a:r>
          </a:p>
          <a:p>
            <a:pPr algn="r" rtl="1">
              <a:buFont typeface="Arial" charset="0"/>
              <a:buChar char="•"/>
            </a:pP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الأصفر هي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Ethernet Port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>
              <a:buFont typeface="Arial" charset="0"/>
              <a:buChar char="•"/>
            </a:pP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الأزرق هو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Console Port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(ويستخدم للتعديل على اعدادات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algn="r" rtl="1">
              <a:buFont typeface="Arial" charset="0"/>
              <a:buChar char="•"/>
            </a:pP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الأسود وهو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Auxiliary Port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(يستخدم لتوصيل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Modem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algn="r"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4-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Serial Port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419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Routers Ports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14" name="Picture 13" descr="Router-Cisco-2611-.jpg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33400" y="838200"/>
            <a:ext cx="7576506" cy="5105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0" y="2590800"/>
            <a:ext cx="838200" cy="3048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00800" y="2438400"/>
            <a:ext cx="381000" cy="3048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019800" y="2438400"/>
            <a:ext cx="228600" cy="3048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962400" y="2362200"/>
            <a:ext cx="990600" cy="3048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524000" y="2438400"/>
            <a:ext cx="2209800" cy="3810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086600" y="2362200"/>
            <a:ext cx="1219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7010400" y="1600200"/>
            <a:ext cx="1219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Switch</a:t>
            </a:r>
            <a:endParaRPr lang="en-US" b="1" dirty="0"/>
          </a:p>
        </p:txBody>
      </p:sp>
      <p:sp>
        <p:nvSpPr>
          <p:cNvPr id="21" name="Rectangle 20"/>
          <p:cNvSpPr/>
          <p:nvPr/>
        </p:nvSpPr>
        <p:spPr>
          <a:xfrm>
            <a:off x="4724400" y="1143000"/>
            <a:ext cx="1828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Ports Color</a:t>
            </a:r>
            <a:endParaRPr lang="en-US" b="1" dirty="0"/>
          </a:p>
        </p:txBody>
      </p:sp>
      <p:sp>
        <p:nvSpPr>
          <p:cNvPr id="22" name="Rectangle 21"/>
          <p:cNvSpPr/>
          <p:nvPr/>
        </p:nvSpPr>
        <p:spPr>
          <a:xfrm>
            <a:off x="2819400" y="1143000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Serial Ports</a:t>
            </a:r>
            <a:endParaRPr lang="en-US" b="1" dirty="0"/>
          </a:p>
        </p:txBody>
      </p:sp>
      <p:sp>
        <p:nvSpPr>
          <p:cNvPr id="23" name="Rectangle 22"/>
          <p:cNvSpPr/>
          <p:nvPr/>
        </p:nvSpPr>
        <p:spPr>
          <a:xfrm>
            <a:off x="990600" y="1295400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Models Ports</a:t>
            </a:r>
            <a:endParaRPr lang="en-US" b="1" dirty="0"/>
          </a:p>
        </p:txBody>
      </p:sp>
      <p:cxnSp>
        <p:nvCxnSpPr>
          <p:cNvPr id="25" name="Straight Arrow Connector 24"/>
          <p:cNvCxnSpPr>
            <a:stCxn id="17" idx="0"/>
            <a:endCxn id="22" idx="2"/>
          </p:cNvCxnSpPr>
          <p:nvPr/>
        </p:nvCxnSpPr>
        <p:spPr>
          <a:xfrm rot="16200000" flipV="1">
            <a:off x="3657600" y="1562100"/>
            <a:ext cx="838200" cy="7620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0"/>
            <a:endCxn id="21" idx="2"/>
          </p:cNvCxnSpPr>
          <p:nvPr/>
        </p:nvCxnSpPr>
        <p:spPr>
          <a:xfrm rot="5400000" flipH="1" flipV="1">
            <a:off x="5010150" y="1962150"/>
            <a:ext cx="1066800" cy="1905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6" idx="0"/>
            <a:endCxn id="20" idx="1"/>
          </p:cNvCxnSpPr>
          <p:nvPr/>
        </p:nvCxnSpPr>
        <p:spPr>
          <a:xfrm rot="5400000" flipH="1" flipV="1">
            <a:off x="6248400" y="1676400"/>
            <a:ext cx="647700" cy="8763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5" idx="3"/>
            <a:endCxn id="19" idx="1"/>
          </p:cNvCxnSpPr>
          <p:nvPr/>
        </p:nvCxnSpPr>
        <p:spPr>
          <a:xfrm flipV="1">
            <a:off x="6781800" y="2552700"/>
            <a:ext cx="304800" cy="381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8" idx="0"/>
            <a:endCxn id="23" idx="2"/>
          </p:cNvCxnSpPr>
          <p:nvPr/>
        </p:nvCxnSpPr>
        <p:spPr>
          <a:xfrm rot="16200000" flipV="1">
            <a:off x="1866900" y="1676400"/>
            <a:ext cx="762000" cy="7620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Router-Cisco-2611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200400"/>
            <a:ext cx="5562600" cy="2847975"/>
          </a:xfrm>
          <a:prstGeom prst="rect">
            <a:avLst/>
          </a:prstGeom>
          <a:ln w="25400">
            <a:solidFill>
              <a:srgbClr val="FFFF00"/>
            </a:solidFill>
          </a:ln>
        </p:spPr>
      </p:pic>
      <p:cxnSp>
        <p:nvCxnSpPr>
          <p:cNvPr id="36" name="Straight Arrow Connector 35"/>
          <p:cNvCxnSpPr>
            <a:stCxn id="10" idx="2"/>
            <a:endCxn id="46" idx="0"/>
          </p:cNvCxnSpPr>
          <p:nvPr/>
        </p:nvCxnSpPr>
        <p:spPr>
          <a:xfrm rot="5400000">
            <a:off x="4095750" y="3524250"/>
            <a:ext cx="1981200" cy="7239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7" idx="2"/>
            <a:endCxn id="43" idx="0"/>
          </p:cNvCxnSpPr>
          <p:nvPr/>
        </p:nvCxnSpPr>
        <p:spPr>
          <a:xfrm rot="16200000" flipH="1">
            <a:off x="4057650" y="3067050"/>
            <a:ext cx="1066800" cy="266700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981200" y="3733800"/>
            <a:ext cx="5486400" cy="10668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981200" y="4876800"/>
            <a:ext cx="5486400" cy="99060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610600" cy="5334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2400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Number Ethernet ports in router</a:t>
            </a:r>
            <a:endParaRPr lang="en-US" sz="2400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" y="609600"/>
            <a:ext cx="8229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يكون ترقيم منافذ الـ 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Ports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الصفر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مثــــــل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0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Ethernet 1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حيث تربط هذه المنافذ مع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ويمكن ان نربطها مباشرة مع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Host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</p:txBody>
      </p:sp>
      <p:pic>
        <p:nvPicPr>
          <p:cNvPr id="15" name="Picture 14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09800"/>
            <a:ext cx="4806720" cy="4419600"/>
          </a:xfrm>
          <a:prstGeom prst="rect">
            <a:avLst/>
          </a:prstGeom>
        </p:spPr>
      </p:pic>
      <p:pic>
        <p:nvPicPr>
          <p:cNvPr id="16" name="Picture 15" descr="Router-Cisco-2611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209800"/>
            <a:ext cx="3376653" cy="347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610600" cy="5334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2400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Number Ethernet ports in router</a:t>
            </a:r>
            <a:endParaRPr lang="en-US" sz="2000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يوجد نظامين (طريقتين) في (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Cisco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لترقيم المنافذ مثل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Serial 0,1,2……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ترقيم المنافذ بطريقة الـ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Moduls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مثل :</a:t>
            </a:r>
          </a:p>
          <a:p>
            <a:pPr algn="r" rtl="1"/>
            <a:endParaRPr lang="ar-YE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Picture 13" descr="Router-Cisco-2611-.jpg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04800" y="1905000"/>
            <a:ext cx="7772400" cy="4672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1219200" y="3376748"/>
            <a:ext cx="2438400" cy="533400"/>
          </a:xfrm>
          <a:prstGeom prst="rect">
            <a:avLst/>
          </a:prstGeom>
          <a:noFill/>
          <a:ln w="476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>
            <a:stCxn id="10" idx="0"/>
            <a:endCxn id="10" idx="2"/>
          </p:cNvCxnSpPr>
          <p:nvPr/>
        </p:nvCxnSpPr>
        <p:spPr>
          <a:xfrm rot="16200000" flipH="1">
            <a:off x="2171700" y="3643448"/>
            <a:ext cx="533400" cy="1588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19200" y="2819400"/>
            <a:ext cx="1219200" cy="533400"/>
          </a:xfrm>
          <a:prstGeom prst="rect">
            <a:avLst/>
          </a:prstGeom>
          <a:noFill/>
          <a:ln w="476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M1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2438400" y="2819400"/>
            <a:ext cx="1219200" cy="533400"/>
          </a:xfrm>
          <a:prstGeom prst="rect">
            <a:avLst/>
          </a:prstGeom>
          <a:noFill/>
          <a:ln w="476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M0</a:t>
            </a:r>
            <a:endParaRPr lang="en-US" b="1" dirty="0"/>
          </a:p>
        </p:txBody>
      </p:sp>
      <p:cxnSp>
        <p:nvCxnSpPr>
          <p:cNvPr id="21" name="Straight Connector 20"/>
          <p:cNvCxnSpPr>
            <a:stCxn id="10" idx="1"/>
          </p:cNvCxnSpPr>
          <p:nvPr/>
        </p:nvCxnSpPr>
        <p:spPr>
          <a:xfrm rot="10800000" flipH="1">
            <a:off x="1219200" y="3581400"/>
            <a:ext cx="1219200" cy="62048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514600" y="3581400"/>
            <a:ext cx="1066800" cy="1588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24000" y="3581400"/>
            <a:ext cx="838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M4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90800" y="3581400"/>
            <a:ext cx="838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M3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305800" cy="5334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2400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Number Ethernet ports in router</a:t>
            </a:r>
            <a:endParaRPr lang="en-US" sz="2000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" y="685800"/>
            <a:ext cx="838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تستخدم طريقة الـ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Modul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في حال نريد توسع الشبكة . ويكون طريقة ترقيم المنافذ في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Module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كالتالي:</a:t>
            </a:r>
          </a:p>
        </p:txBody>
      </p:sp>
      <p:pic>
        <p:nvPicPr>
          <p:cNvPr id="15" name="Picture 14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831" y="1143000"/>
            <a:ext cx="4382589" cy="438258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3048000" y="1371600"/>
            <a:ext cx="2133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Port M</a:t>
            </a:r>
            <a:r>
              <a:rPr lang="ar-YE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67000" y="2819400"/>
            <a:ext cx="9906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24400" y="2819400"/>
            <a:ext cx="9906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505200" y="5181600"/>
            <a:ext cx="2133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 0/0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0600" y="5181600"/>
            <a:ext cx="2133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 0 /1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FE0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4" name="Straight Arrow Connector 23"/>
          <p:cNvCxnSpPr>
            <a:stCxn id="18" idx="2"/>
            <a:endCxn id="19" idx="0"/>
          </p:cNvCxnSpPr>
          <p:nvPr/>
        </p:nvCxnSpPr>
        <p:spPr>
          <a:xfrm rot="5400000">
            <a:off x="4286250" y="4248150"/>
            <a:ext cx="1219200" cy="6477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2"/>
            <a:endCxn id="20" idx="0"/>
          </p:cNvCxnSpPr>
          <p:nvPr/>
        </p:nvCxnSpPr>
        <p:spPr>
          <a:xfrm rot="5400000">
            <a:off x="2000250" y="4019550"/>
            <a:ext cx="1219200" cy="11049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14600" y="22860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FE1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33600" y="2819400"/>
            <a:ext cx="42672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16" idx="2"/>
            <a:endCxn id="31" idx="0"/>
          </p:cNvCxnSpPr>
          <p:nvPr/>
        </p:nvCxnSpPr>
        <p:spPr>
          <a:xfrm rot="16200000" flipH="1">
            <a:off x="3728710" y="2280910"/>
            <a:ext cx="924580" cy="152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5532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Serial ports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2862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يتكون منافذ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Serial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نوعان هما :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1- DCE (Data Communications Equipment).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DTE (Data Terminal Equipment).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اما بالنسية لترقيم منافذ الـ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Port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فهيا تتكون من طريقتين وهي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0,1,2,……</a:t>
            </a:r>
            <a:endParaRPr lang="ar-YE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طريقية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Module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r" rtl="1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0/0 </a:t>
            </a:r>
          </a:p>
          <a:p>
            <a:pPr algn="r" rtl="1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0/1 </a:t>
            </a:r>
          </a:p>
          <a:p>
            <a:pPr algn="r" rtl="1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1/0</a:t>
            </a:r>
          </a:p>
          <a:p>
            <a:pPr algn="r" rtl="1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1/1</a:t>
            </a:r>
          </a:p>
        </p:txBody>
      </p:sp>
      <p:pic>
        <p:nvPicPr>
          <p:cNvPr id="14" name="Picture 13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81400"/>
            <a:ext cx="3797300" cy="2847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00200" y="4114800"/>
            <a:ext cx="2286000" cy="990600"/>
          </a:xfrm>
          <a:prstGeom prst="rect">
            <a:avLst/>
          </a:prstGeom>
          <a:noFill/>
          <a:ln w="476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6" name="Straight Connector 15"/>
          <p:cNvCxnSpPr>
            <a:stCxn id="10" idx="1"/>
            <a:endCxn id="10" idx="3"/>
          </p:cNvCxnSpPr>
          <p:nvPr/>
        </p:nvCxnSpPr>
        <p:spPr>
          <a:xfrm rot="10800000" flipH="1">
            <a:off x="1600200" y="4610100"/>
            <a:ext cx="2286000" cy="1588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00600" y="4343400"/>
            <a:ext cx="3429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Serail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port 0 and 1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9" name="Straight Arrow Connector 18"/>
          <p:cNvCxnSpPr>
            <a:stCxn id="10" idx="3"/>
            <a:endCxn id="17" idx="1"/>
          </p:cNvCxnSpPr>
          <p:nvPr/>
        </p:nvCxnSpPr>
        <p:spPr>
          <a:xfrm flipV="1">
            <a:off x="3886200" y="4605010"/>
            <a:ext cx="914400" cy="5090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419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Serial ports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أستخدم 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Serial Port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يستخدم لربط أجهزة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مع بعضها البعض، وهو استخدام وحيد فقط.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Picture 13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6600"/>
            <a:ext cx="7095000" cy="1905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04800" y="1371600"/>
            <a:ext cx="82296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وظيفة 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DCE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تقوم بعمل الـ (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Clocking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اي تقوم بعملية تنظيم مرور الكهرباء داخل السلك.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2133600"/>
            <a:ext cx="82296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وظيفة 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DTE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يقوم بإرسال واستقبال البيانات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09600"/>
            <a:ext cx="6324600" cy="47434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419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Serial ports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609600"/>
            <a:ext cx="47244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مـــــــــــــــــــــــلاحظة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يستخدم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DCE/DTE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على الـ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Serail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Ports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فقط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419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DCE/DTE Cable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يوجد انواع من اسلاك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DCE/DTE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يكون طرف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DCE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والاخر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DTE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يكون طرف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DCE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والاخر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DTE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يكون طرف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DTE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والاخر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DTE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Picture 13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0"/>
            <a:ext cx="4956911" cy="419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53000" y="1905000"/>
            <a:ext cx="3657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مـــــلاحظة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يكون طرف من الأسلاك منفصل عن الأخر حيث ان طرف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DCE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يسمى بالـ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Femal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DTE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يسمى بالـ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Male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705600" cy="1894362"/>
          </a:xfrm>
        </p:spPr>
        <p:txBody>
          <a:bodyPr>
            <a:noAutofit/>
          </a:bodyPr>
          <a:lstStyle/>
          <a:p>
            <a:r>
              <a:rPr lang="en-US" sz="4800" dirty="0" smtClean="0"/>
              <a:t>Router </a:t>
            </a:r>
            <a:br>
              <a:rPr lang="en-US" sz="4800" dirty="0" smtClean="0"/>
            </a:br>
            <a:r>
              <a:rPr lang="en-US" sz="3600" dirty="0" smtClean="0"/>
              <a:t>Internal configurations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3820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0" y="65532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7696200" cy="1905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buNone/>
            </a:pPr>
            <a:endParaRPr lang="en-US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1- RAM</a:t>
            </a: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2- NVRAM</a:t>
            </a: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3- FLASH</a:t>
            </a: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4- ROM</a:t>
            </a:r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553200" cy="5334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28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609600"/>
            <a:ext cx="82296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مكونات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شبيه بمكونات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وهي كالاتي :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95400"/>
          <a:ext cx="8001000" cy="29641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000500"/>
                <a:gridCol w="4000500"/>
              </a:tblGrid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 smtClean="0"/>
                        <a:t>Router</a:t>
                      </a:r>
                      <a:endParaRPr lang="en-US" sz="20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 smtClean="0"/>
                        <a:t>Computer</a:t>
                      </a:r>
                      <a:endParaRPr lang="en-US" sz="2000" b="1" u="sng" dirty="0"/>
                    </a:p>
                  </a:txBody>
                  <a:tcPr/>
                </a:tc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CPU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CPU</a:t>
                      </a:r>
                      <a:endParaRPr lang="en-US" b="1" dirty="0"/>
                    </a:p>
                  </a:txBody>
                  <a:tcPr/>
                </a:tc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RAM and NVRAM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RAM</a:t>
                      </a:r>
                      <a:endParaRPr lang="en-US" b="1" dirty="0"/>
                    </a:p>
                  </a:txBody>
                  <a:tcPr/>
                </a:tc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ROM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ROM</a:t>
                      </a:r>
                      <a:endParaRPr lang="en-US" b="1" dirty="0"/>
                    </a:p>
                  </a:txBody>
                  <a:tcPr/>
                </a:tc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FLASH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HARDISK</a:t>
                      </a:r>
                      <a:endParaRPr lang="en-US" b="1" dirty="0"/>
                    </a:p>
                  </a:txBody>
                  <a:tcPr/>
                </a:tc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MOTHER BOARD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MOTHER BOARD</a:t>
                      </a:r>
                      <a:endParaRPr lang="en-US" b="1" dirty="0"/>
                    </a:p>
                  </a:txBody>
                  <a:tcPr/>
                </a:tc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INTERFACE</a:t>
                      </a:r>
                    </a:p>
                    <a:p>
                      <a:pPr algn="ctr"/>
                      <a:r>
                        <a:rPr lang="en-US" sz="1200" b="1" dirty="0" smtClean="0"/>
                        <a:t>(CONSOLE/ETHERNET/SERIAL/</a:t>
                      </a:r>
                      <a:r>
                        <a:rPr lang="en-US" sz="12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AUXILIARY</a:t>
                      </a:r>
                      <a:r>
                        <a:rPr lang="en-US" sz="1200" b="1" dirty="0" smtClean="0"/>
                        <a:t>)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INTERFACES (USB)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7696200" cy="5334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28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rmAutofit fontScale="85000" lnSpcReduction="10000"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Internal Configuration Components</a:t>
            </a:r>
            <a:endParaRPr kumimoji="0" lang="en-US" sz="3000" b="1" i="0" u="sng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000" y="16002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62200" y="16002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NVRAM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62400" y="16002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FlASH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62600" y="16002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62400" y="2286000"/>
            <a:ext cx="31242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Interfaces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71600" y="22860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Console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71600" y="30480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AUXILIARY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1371600" y="38100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Ethernet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1600" y="4572000"/>
            <a:ext cx="15240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Serial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2" name="Straight Arrow Connector 21"/>
          <p:cNvCxnSpPr>
            <a:stCxn id="13" idx="1"/>
            <a:endCxn id="17" idx="3"/>
          </p:cNvCxnSpPr>
          <p:nvPr/>
        </p:nvCxnSpPr>
        <p:spPr>
          <a:xfrm rot="10800000">
            <a:off x="2895600" y="2590800"/>
            <a:ext cx="1066800" cy="15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1"/>
          </p:cNvCxnSpPr>
          <p:nvPr/>
        </p:nvCxnSpPr>
        <p:spPr>
          <a:xfrm rot="10800000" flipV="1">
            <a:off x="3962400" y="2590800"/>
            <a:ext cx="1588" cy="7620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582194" y="3733800"/>
            <a:ext cx="761206" cy="79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9" idx="3"/>
          </p:cNvCxnSpPr>
          <p:nvPr/>
        </p:nvCxnSpPr>
        <p:spPr>
          <a:xfrm rot="10800000">
            <a:off x="2895600" y="4114800"/>
            <a:ext cx="1066800" cy="15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18" idx="3"/>
          </p:cNvCxnSpPr>
          <p:nvPr/>
        </p:nvCxnSpPr>
        <p:spPr>
          <a:xfrm rot="10800000">
            <a:off x="2895600" y="3352800"/>
            <a:ext cx="1066800" cy="15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3581400" y="4495800"/>
            <a:ext cx="762000" cy="15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20" idx="3"/>
          </p:cNvCxnSpPr>
          <p:nvPr/>
        </p:nvCxnSpPr>
        <p:spPr>
          <a:xfrm rot="10800000">
            <a:off x="2895600" y="4876800"/>
            <a:ext cx="1066800" cy="15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934200" cy="5334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28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600200"/>
            <a:ext cx="8229600" cy="3139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:هي حافظة مؤقتــــــــــــــــــــــة.</a:t>
            </a:r>
          </a:p>
          <a:p>
            <a:pPr algn="r" rtl="1"/>
            <a:endParaRPr lang="ar-YE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الوظائف المهمة للـ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Temp Configuration File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يتم حفظ اعدادات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بشكل مؤقت على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Saving The Routing Table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عبارة عن جدول مؤقت في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يستخدمة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لوضع قراراته فيه 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ARP Cash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كل النتائج اللي بتطلعها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البروتوكول (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ARP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بيحفظها في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4- Packet Buffering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تستخدم في حال وجود سرعات مختلفة في الشبكة. وايضاَ في حال وجود ضغط كبير على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Random access memory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2484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Example (Packet </a:t>
            </a:r>
            <a:r>
              <a:rPr lang="en-US" b="1" u="sng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Buffring</a:t>
            </a:r>
            <a:r>
              <a:rPr lang="en-US" b="1" u="sng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)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4191000"/>
            <a:ext cx="8229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Router0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برسل الباكت بسرعة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100mbps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الى الـ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Router1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فيستقبل الباكت بسرعة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100mbps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لكن لا يستطيع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Router1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ان يرسل الباكت الى الأجهزة الموجودة لذية . وذلك لان الاجهزة الموجودة لدية سرعتها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10mbps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.فيقوم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Router1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بتحويل سرعة الباكت من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100mbps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الى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10mbps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ثم يرسلها الى الأجهزة المتصلة به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80557"/>
            <a:ext cx="4965430" cy="2620486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1447006" y="1600200"/>
            <a:ext cx="534194" cy="1982788"/>
            <a:chOff x="1447006" y="1600200"/>
            <a:chExt cx="534194" cy="1982788"/>
          </a:xfrm>
        </p:grpSpPr>
        <p:cxnSp>
          <p:nvCxnSpPr>
            <p:cNvPr id="19" name="Straight Connector 18"/>
            <p:cNvCxnSpPr/>
            <p:nvPr/>
          </p:nvCxnSpPr>
          <p:spPr>
            <a:xfrm rot="10800000">
              <a:off x="1447800" y="1600200"/>
              <a:ext cx="533400" cy="158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0800000">
              <a:off x="1447800" y="3581400"/>
              <a:ext cx="533400" cy="158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457200" y="2590800"/>
              <a:ext cx="1981200" cy="158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0800000">
            <a:off x="6829300" y="1524000"/>
            <a:ext cx="534194" cy="1982788"/>
            <a:chOff x="1447006" y="1600200"/>
            <a:chExt cx="534194" cy="1982788"/>
          </a:xfrm>
        </p:grpSpPr>
        <p:cxnSp>
          <p:nvCxnSpPr>
            <p:cNvPr id="25" name="Straight Connector 24"/>
            <p:cNvCxnSpPr/>
            <p:nvPr/>
          </p:nvCxnSpPr>
          <p:spPr>
            <a:xfrm rot="10800000">
              <a:off x="1447800" y="1600200"/>
              <a:ext cx="533400" cy="158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0800000">
              <a:off x="1447800" y="3581400"/>
              <a:ext cx="533400" cy="158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457200" y="2590800"/>
              <a:ext cx="1981200" cy="158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66011" y="2362200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YE" dirty="0" smtClean="0"/>
              <a:t>سرعة الأجهزة </a:t>
            </a:r>
            <a:r>
              <a:rPr lang="en-US" dirty="0" smtClean="0"/>
              <a:t>100mbps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397277" y="236220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YE" dirty="0" smtClean="0"/>
              <a:t>سرعة الأجهزة </a:t>
            </a:r>
            <a:r>
              <a:rPr lang="en-US" dirty="0" smtClean="0"/>
              <a:t>10mbps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67000" y="1752600"/>
            <a:ext cx="3419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YE" sz="1600" dirty="0" smtClean="0"/>
              <a:t>الـ </a:t>
            </a:r>
            <a:r>
              <a:rPr lang="en-US" sz="1600" dirty="0" smtClean="0"/>
              <a:t>router 0</a:t>
            </a:r>
            <a:r>
              <a:rPr lang="ar-YE" sz="1600" dirty="0" smtClean="0"/>
              <a:t> يرسل الباكت بسرعة </a:t>
            </a:r>
            <a:r>
              <a:rPr lang="en-US" sz="1600" dirty="0" smtClean="0"/>
              <a:t>100mbps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Router-Cisco-2611-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886200"/>
            <a:ext cx="4572000" cy="2235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9342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676400"/>
            <a:ext cx="8229600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NVRAM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لا تفقد البيانات من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في حال انقطع التيار الكهربائي عن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او تم إعادة تشغيل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وظيفة 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NVRAM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* Storing Backup Copy of the configuration file.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يقوم بعمل نسخة من الـ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Configuration File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بحيث يستطيع استرجاع الاعدادات في حال تم فقدانها من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 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ويتم عمل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Backup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عن طريق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Commands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NVRAM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None </a:t>
            </a:r>
            <a:r>
              <a:rPr lang="en-US" sz="2400" b="1" cap="all" dirty="0" err="1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volidate</a:t>
            </a: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 ram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617220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NVRAM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524000"/>
            <a:ext cx="8229600" cy="36933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هي المسؤولة عن تشغيل نظام التشغيل .</a:t>
            </a:r>
          </a:p>
          <a:p>
            <a:pPr algn="r" rtl="1"/>
            <a:endParaRPr lang="ar-YE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وظائف الـ </a:t>
            </a:r>
            <a:r>
              <a:rPr 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ROM</a:t>
            </a:r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Power on diagnostic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هي عبارة عن (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Tool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تقوم بفحص جميع قطع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حيث وصل التيار الكهربائي الى جميع القطع.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Boot strap program: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هي عبارة عن برنامج صغير تقوم بفحص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CPU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Flash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هل شغالات او لا.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أي يقوم البرنامج بارسال عملية صغيرة الى الـ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CPU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في حال المعالج حل العملية بشكل صحيح يقوم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CPU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بارسال النتيجة الى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تقوم بارسال المنتيجة الى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Flash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وبعد ذلك يقوم البرنامج بأخذ النتيجة من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Flash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،واذا وجد النتيجة مطابقة لما معاه فمعنها ان القطع سليمة .مالم فانه يوجد مشكلة في القطع.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OS Software.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ROM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Read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only memory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524000"/>
            <a:ext cx="8229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Breaksup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Broadcast .</a:t>
            </a:r>
          </a:p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Selection for the best path.</a:t>
            </a:r>
            <a:endParaRPr lang="ar-YE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هو إختيار أفضل طريق لو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Packet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YE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أهم وظائف</a:t>
            </a:r>
            <a:r>
              <a:rPr kumimoji="0" lang="ar-YE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الـ 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Router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2209800" y="2819400"/>
            <a:ext cx="914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962400" y="2590800"/>
            <a:ext cx="914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019800" y="3124200"/>
            <a:ext cx="914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391400" y="4038600"/>
            <a:ext cx="914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657600" y="4572000"/>
            <a:ext cx="914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5800" y="3886200"/>
            <a:ext cx="9144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5" name="Straight Connector 14"/>
          <p:cNvCxnSpPr>
            <a:stCxn id="13" idx="0"/>
            <a:endCxn id="7" idx="2"/>
          </p:cNvCxnSpPr>
          <p:nvPr/>
        </p:nvCxnSpPr>
        <p:spPr>
          <a:xfrm rot="5400000" flipH="1" flipV="1">
            <a:off x="1314450" y="2990850"/>
            <a:ext cx="7239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6"/>
            <a:endCxn id="9" idx="2"/>
          </p:cNvCxnSpPr>
          <p:nvPr/>
        </p:nvCxnSpPr>
        <p:spPr>
          <a:xfrm flipV="1">
            <a:off x="3124200" y="2933700"/>
            <a:ext cx="838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6"/>
            <a:endCxn id="10" idx="2"/>
          </p:cNvCxnSpPr>
          <p:nvPr/>
        </p:nvCxnSpPr>
        <p:spPr>
          <a:xfrm>
            <a:off x="4876800" y="2933700"/>
            <a:ext cx="11430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0" idx="6"/>
            <a:endCxn id="11" idx="2"/>
          </p:cNvCxnSpPr>
          <p:nvPr/>
        </p:nvCxnSpPr>
        <p:spPr>
          <a:xfrm>
            <a:off x="6934200" y="3467100"/>
            <a:ext cx="4572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1" idx="2"/>
            <a:endCxn id="12" idx="6"/>
          </p:cNvCxnSpPr>
          <p:nvPr/>
        </p:nvCxnSpPr>
        <p:spPr>
          <a:xfrm rot="10800000" flipV="1">
            <a:off x="4572000" y="4381500"/>
            <a:ext cx="28194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3" idx="6"/>
            <a:endCxn id="12" idx="2"/>
          </p:cNvCxnSpPr>
          <p:nvPr/>
        </p:nvCxnSpPr>
        <p:spPr>
          <a:xfrm>
            <a:off x="1600200" y="4229100"/>
            <a:ext cx="20574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600200" y="4495800"/>
            <a:ext cx="1600200" cy="609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876800" y="4724400"/>
            <a:ext cx="205740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28600" y="41148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msg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03960"/>
            <a:ext cx="6400800" cy="2987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524000"/>
            <a:ext cx="82296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*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الـ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Hyper Terminal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هو عبارة عن برنامج يستخدم للربط مع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للتحكم فيه 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How to connect to router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Using hyper terminal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743200" y="3124200"/>
            <a:ext cx="1066800" cy="1588"/>
          </a:xfrm>
          <a:prstGeom prst="straightConnector1">
            <a:avLst/>
          </a:prstGeom>
          <a:ln w="22225" cmpd="sng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72731" y="3288268"/>
            <a:ext cx="468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Hyper Terminal Connecting with router A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57200" y="3733800"/>
            <a:ext cx="8229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ar-YE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مــــــــــــــلاحظة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نوع السلك مع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بكون من نوع الـ </a:t>
            </a:r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RollOver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cable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algn="r" rtl="1"/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أي يتم توصيل طرف السلك الى 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والطرف الأخر الى وصلة تسمى بالـ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AUI Connector</a:t>
            </a:r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ثم يوصل بعد ذلك الى الكمبيوتر.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91000" y="2209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77000" y="2209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AUI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Connector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81200"/>
            <a:ext cx="5152644" cy="2987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62600" y="5791200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YE" b="1" dirty="0" smtClean="0"/>
              <a:t>طرف السلك الأتي من الروتر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YE" b="1" dirty="0" smtClean="0"/>
              <a:t>طرف الدخول على الكمبيوتر</a:t>
            </a:r>
            <a:endParaRPr lang="en-US" b="1" dirty="0"/>
          </a:p>
        </p:txBody>
      </p:sp>
      <p:cxnSp>
        <p:nvCxnSpPr>
          <p:cNvPr id="12" name="Straight Arrow Connector 11"/>
          <p:cNvCxnSpPr>
            <a:endCxn id="9" idx="0"/>
          </p:cNvCxnSpPr>
          <p:nvPr/>
        </p:nvCxnSpPr>
        <p:spPr>
          <a:xfrm>
            <a:off x="4953000" y="4724400"/>
            <a:ext cx="1760717" cy="106680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0" idx="0"/>
          </p:cNvCxnSpPr>
          <p:nvPr/>
        </p:nvCxnSpPr>
        <p:spPr>
          <a:xfrm rot="5400000">
            <a:off x="1556140" y="4680340"/>
            <a:ext cx="838200" cy="469121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524000"/>
            <a:ext cx="83820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1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Go to </a:t>
            </a:r>
            <a:r>
              <a:rPr lang="en-US" b="1" dirty="0" smtClean="0"/>
              <a:t>Start -&gt; Programs -&gt; Accessories -&gt; Communications -&gt; HyperTerminal</a:t>
            </a:r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Hyper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terminal program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09800"/>
            <a:ext cx="6705600" cy="4474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0" y="3429000"/>
            <a:ext cx="227818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ar-YE" dirty="0" smtClean="0"/>
              <a:t>ندخل اي أسم لانشاء الاتصال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rot="10800000" flipV="1">
            <a:off x="4800600" y="3613666"/>
            <a:ext cx="914400" cy="653534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Hyper terminal program</a:t>
            </a:r>
            <a:endParaRPr lang="en-US" sz="2400" b="1" cap="all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pic>
        <p:nvPicPr>
          <p:cNvPr id="7" name="Picture 6" descr="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33600"/>
            <a:ext cx="4415295" cy="4474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95600" y="1676400"/>
            <a:ext cx="56797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 rtl="1"/>
            <a:r>
              <a:rPr lang="ar-YE" b="1" dirty="0" smtClean="0"/>
              <a:t>نختار البورت المتصل بالروتر و هو </a:t>
            </a:r>
            <a:r>
              <a:rPr lang="en-US" b="1" dirty="0" smtClean="0"/>
              <a:t> Com1 or Com2 or Com3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 rot="5400000">
            <a:off x="3509605" y="3108127"/>
            <a:ext cx="3288270" cy="1163480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Hyper terminal program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23" y="1828800"/>
            <a:ext cx="3782277" cy="4474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1371600"/>
            <a:ext cx="515878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 rtl="1"/>
            <a:r>
              <a:rPr lang="ar-YE" b="1" dirty="0" smtClean="0"/>
              <a:t>فى هذه نافذه نغير الـ</a:t>
            </a:r>
            <a:r>
              <a:rPr lang="en-US" b="1" dirty="0" smtClean="0"/>
              <a:t>Baud rate </a:t>
            </a:r>
            <a:r>
              <a:rPr lang="ar-YE" b="1" dirty="0" smtClean="0"/>
              <a:t>الى (9600) و نضغط (</a:t>
            </a:r>
            <a:r>
              <a:rPr lang="en-US" b="1" dirty="0" smtClean="0"/>
              <a:t>OK</a:t>
            </a:r>
            <a:r>
              <a:rPr lang="ar-YE" b="1" dirty="0" smtClean="0"/>
              <a:t>).</a:t>
            </a:r>
            <a:endParaRPr lang="en-US" dirty="0"/>
          </a:p>
        </p:txBody>
      </p:sp>
      <p:cxnSp>
        <p:nvCxnSpPr>
          <p:cNvPr id="10" name="Straight Arrow Connector 9"/>
          <p:cNvCxnSpPr>
            <a:stCxn id="9" idx="2"/>
          </p:cNvCxnSpPr>
          <p:nvPr/>
        </p:nvCxnSpPr>
        <p:spPr>
          <a:xfrm rot="5400000">
            <a:off x="4179462" y="1219071"/>
            <a:ext cx="1307070" cy="2350793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6705600" cy="5334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3200" dirty="0" smtClean="0"/>
              <a:t>Router Internal configurations</a:t>
            </a:r>
            <a:endParaRPr lang="en-US" b="1" u="sng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8382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Hyper terminal program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0"/>
            <a:ext cx="6708904" cy="449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47589" y="1371600"/>
            <a:ext cx="63401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 rtl="1"/>
            <a:r>
              <a:rPr lang="ar-YE" b="1" dirty="0" smtClean="0"/>
              <a:t>الان تم الاتصال بالروتر و سوف تظهر رساله تحميل روتر </a:t>
            </a:r>
            <a:r>
              <a:rPr lang="en-US" b="1" dirty="0" smtClean="0"/>
              <a:t>boot up process</a:t>
            </a:r>
            <a:endParaRPr lang="en-US" dirty="0"/>
          </a:p>
        </p:txBody>
      </p:sp>
      <p:cxnSp>
        <p:nvCxnSpPr>
          <p:cNvPr id="10" name="Straight Arrow Connector 9"/>
          <p:cNvCxnSpPr>
            <a:stCxn id="9" idx="2"/>
          </p:cNvCxnSpPr>
          <p:nvPr/>
        </p:nvCxnSpPr>
        <p:spPr>
          <a:xfrm rot="5400000">
            <a:off x="3884110" y="1514424"/>
            <a:ext cx="1307070" cy="1760086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Router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3</a:t>
            </a:r>
          </a:p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7467600" cy="579438"/>
          </a:xfrm>
        </p:spPr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Router </a:t>
            </a:r>
            <a:r>
              <a:rPr lang="en-US" b="1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Modul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1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8001000" cy="19812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1- Router Startup </a:t>
            </a:r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Sequencel</a:t>
            </a:r>
            <a:endParaRPr lang="en-US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2- Router </a:t>
            </a:r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Stepup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mode</a:t>
            </a: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3- Router modes</a:t>
            </a: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4- Basic Commands  </a:t>
            </a:r>
          </a:p>
          <a:p>
            <a:pPr>
              <a:buNone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5- Backup &amp; Restoring the configuration file</a:t>
            </a:r>
          </a:p>
        </p:txBody>
      </p:sp>
      <p:pic>
        <p:nvPicPr>
          <p:cNvPr id="4" name="Picture 3" descr="exclamation_m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895600"/>
            <a:ext cx="3733800" cy="3733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Router &amp; Ports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3</a:t>
            </a:r>
          </a:p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Router Startup </a:t>
            </a:r>
            <a:r>
              <a:rPr lang="en-US" sz="2400" b="1" cap="all" dirty="0" err="1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sequencel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016597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يقوم الـ </a:t>
            </a:r>
            <a:r>
              <a:rPr lang="en-US" b="1" u="sng" dirty="0" smtClean="0"/>
              <a:t>Router </a:t>
            </a:r>
            <a:r>
              <a:rPr lang="ar-YE" b="1" u="sng" dirty="0" smtClean="0"/>
              <a:t> بثلاث عمليات رئيسية عند التشغيل وهي :</a:t>
            </a:r>
          </a:p>
          <a:p>
            <a:pPr rtl="1"/>
            <a:r>
              <a:rPr lang="en-US" b="1" dirty="0" smtClean="0"/>
              <a:t>1- POST(Power on self test)</a:t>
            </a:r>
          </a:p>
          <a:p>
            <a:pPr algn="r" rtl="1"/>
            <a:r>
              <a:rPr lang="ar-YE" b="1" dirty="0" smtClean="0"/>
              <a:t>يقوم بفحص جميع مكونات الـ </a:t>
            </a:r>
            <a:r>
              <a:rPr lang="en-US" b="1" dirty="0" smtClean="0"/>
              <a:t>Router</a:t>
            </a:r>
            <a:r>
              <a:rPr lang="ar-YE" b="1" dirty="0" smtClean="0"/>
              <a:t> من الـ </a:t>
            </a:r>
            <a:r>
              <a:rPr lang="en-US" b="1" dirty="0" smtClean="0"/>
              <a:t>Hardware</a:t>
            </a:r>
            <a:r>
              <a:rPr lang="ar-YE" b="1" dirty="0" smtClean="0"/>
              <a:t> والـ </a:t>
            </a:r>
            <a:r>
              <a:rPr lang="en-US" b="1" dirty="0" smtClean="0"/>
              <a:t>Software</a:t>
            </a:r>
            <a:r>
              <a:rPr lang="ar-YE" b="1" dirty="0" smtClean="0"/>
              <a:t> .</a:t>
            </a:r>
          </a:p>
          <a:p>
            <a:pPr rtl="1"/>
            <a:r>
              <a:rPr lang="en-US" b="1" dirty="0" smtClean="0"/>
              <a:t>2- Find The Cisco IOS</a:t>
            </a:r>
          </a:p>
          <a:p>
            <a:pPr algn="r" rtl="1"/>
            <a:r>
              <a:rPr lang="ar-YE" b="1" dirty="0" smtClean="0"/>
              <a:t>البحث عن نظام تشغيل الـ </a:t>
            </a:r>
            <a:r>
              <a:rPr lang="en-US" b="1" dirty="0" smtClean="0"/>
              <a:t>Router</a:t>
            </a:r>
            <a:r>
              <a:rPr lang="ar-YE" b="1" dirty="0" smtClean="0"/>
              <a:t> .</a:t>
            </a:r>
          </a:p>
          <a:p>
            <a:pPr rtl="1"/>
            <a:r>
              <a:rPr lang="en-US" b="1" dirty="0" smtClean="0"/>
              <a:t>4- Search for configuration file</a:t>
            </a:r>
          </a:p>
          <a:p>
            <a:pPr algn="r" rtl="1"/>
            <a:r>
              <a:rPr lang="ar-YE" b="1" dirty="0" smtClean="0"/>
              <a:t>يبحث عن ملفات الـ </a:t>
            </a:r>
            <a:r>
              <a:rPr lang="en-US" b="1" dirty="0" smtClean="0"/>
              <a:t>Configuration File</a:t>
            </a:r>
            <a:r>
              <a:rPr lang="ar-YE" b="1" dirty="0" smtClean="0"/>
              <a:t> .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3124200"/>
            <a:ext cx="801659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مــــــــــــــــــــــــتلاحظة:</a:t>
            </a:r>
          </a:p>
          <a:p>
            <a:pPr algn="r" rtl="1"/>
            <a:r>
              <a:rPr lang="ar-YE" b="1" dirty="0" smtClean="0"/>
              <a:t>تكون ملفات الـ </a:t>
            </a:r>
            <a:r>
              <a:rPr lang="en-US" b="1" dirty="0" smtClean="0"/>
              <a:t>Cisco IOS</a:t>
            </a:r>
            <a:r>
              <a:rPr lang="ar-YE" b="1" dirty="0" smtClean="0"/>
              <a:t> والـ </a:t>
            </a:r>
            <a:r>
              <a:rPr lang="en-US" b="1" dirty="0" smtClean="0"/>
              <a:t>Configuration File</a:t>
            </a:r>
            <a:r>
              <a:rPr lang="ar-YE" b="1" dirty="0" smtClean="0"/>
              <a:t> في أكثر من موقع في الجهاز .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Router Startup </a:t>
            </a:r>
            <a:r>
              <a:rPr lang="en-US" sz="2400" b="1" cap="all" dirty="0" err="1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sequencel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85800"/>
            <a:ext cx="8245235" cy="50783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خمس خطوات تفصيلية للـ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لعملية التشغيل :</a:t>
            </a:r>
          </a:p>
          <a:p>
            <a:pPr rtl="1"/>
            <a:r>
              <a:rPr lang="en-US" b="1" u="sng" dirty="0" smtClean="0"/>
              <a:t>Step 1:</a:t>
            </a:r>
          </a:p>
          <a:p>
            <a:pPr rtl="1"/>
            <a:r>
              <a:rPr lang="en-US" b="1" dirty="0" smtClean="0"/>
              <a:t>         - Checking For Hardware (POST).</a:t>
            </a:r>
          </a:p>
          <a:p>
            <a:pPr rtl="1"/>
            <a:r>
              <a:rPr lang="en-US" b="1" dirty="0" smtClean="0"/>
              <a:t>         - </a:t>
            </a:r>
            <a:r>
              <a:rPr lang="en-US" b="1" dirty="0" err="1" smtClean="0"/>
              <a:t>BootStrap</a:t>
            </a:r>
            <a:r>
              <a:rPr lang="en-US" b="1" dirty="0" smtClean="0"/>
              <a:t>.</a:t>
            </a:r>
          </a:p>
          <a:p>
            <a:pPr rtl="1"/>
            <a:r>
              <a:rPr lang="en-US" b="1" dirty="0" smtClean="0"/>
              <a:t>Program that check the </a:t>
            </a:r>
            <a:r>
              <a:rPr lang="en-US" b="1" dirty="0" err="1" smtClean="0"/>
              <a:t>rachionaltiy</a:t>
            </a:r>
            <a:r>
              <a:rPr lang="en-US" b="1" dirty="0" smtClean="0"/>
              <a:t> of the hardware.</a:t>
            </a:r>
          </a:p>
          <a:p>
            <a:pPr rtl="1"/>
            <a:r>
              <a:rPr lang="ar-YE" b="1" dirty="0" smtClean="0"/>
              <a:t>(هي عبارة عن (برنامج) تقوم بعملية فحص الـ </a:t>
            </a:r>
            <a:r>
              <a:rPr lang="en-US" b="1" dirty="0" smtClean="0"/>
              <a:t>RAM</a:t>
            </a:r>
            <a:r>
              <a:rPr lang="ar-YE" b="1" dirty="0" smtClean="0"/>
              <a:t> والـ </a:t>
            </a:r>
            <a:r>
              <a:rPr lang="en-US" b="1" dirty="0" smtClean="0"/>
              <a:t>Flash</a:t>
            </a:r>
            <a:r>
              <a:rPr lang="ar-YE" b="1" dirty="0" smtClean="0"/>
              <a:t> والـ</a:t>
            </a:r>
            <a:r>
              <a:rPr lang="en-US" b="1" dirty="0" smtClean="0"/>
              <a:t> CPU</a:t>
            </a:r>
            <a:r>
              <a:rPr lang="ar-YE" b="1" dirty="0" smtClean="0"/>
              <a:t> للتأكد من اههما شغالات)</a:t>
            </a:r>
            <a:r>
              <a:rPr lang="en-US" b="1" dirty="0" smtClean="0"/>
              <a:t>    </a:t>
            </a:r>
            <a:r>
              <a:rPr lang="en-US" b="1" u="sng" dirty="0" smtClean="0"/>
              <a:t>Step 2:</a:t>
            </a:r>
          </a:p>
          <a:p>
            <a:pPr rtl="1"/>
            <a:r>
              <a:rPr lang="en-US" b="1" dirty="0" smtClean="0"/>
              <a:t>         Finding IOS in (Flash or TFTP).</a:t>
            </a:r>
          </a:p>
          <a:p>
            <a:pPr algn="r" rtl="1"/>
            <a:r>
              <a:rPr lang="ar-YE" b="1" dirty="0" smtClean="0"/>
              <a:t>الـ </a:t>
            </a:r>
            <a:r>
              <a:rPr lang="en-US" b="1" dirty="0" smtClean="0"/>
              <a:t>TFTP</a:t>
            </a:r>
            <a:r>
              <a:rPr lang="ar-YE" b="1" dirty="0" smtClean="0"/>
              <a:t> موجود في الـ </a:t>
            </a:r>
            <a:r>
              <a:rPr lang="en-US" b="1" dirty="0" smtClean="0"/>
              <a:t>Server</a:t>
            </a:r>
            <a:r>
              <a:rPr lang="ar-YE" b="1" dirty="0" smtClean="0"/>
              <a:t> ،ويستخدم في حال كانت المساحة الموجودة في الـ </a:t>
            </a:r>
            <a:r>
              <a:rPr lang="en-US" b="1" dirty="0" smtClean="0"/>
              <a:t>Flash</a:t>
            </a:r>
            <a:r>
              <a:rPr lang="ar-YE" b="1" dirty="0" smtClean="0"/>
              <a:t> صغيرة .</a:t>
            </a:r>
          </a:p>
          <a:p>
            <a:pPr rtl="1"/>
            <a:r>
              <a:rPr lang="en-US" b="1" u="sng" dirty="0" smtClean="0"/>
              <a:t>Step 3:</a:t>
            </a:r>
          </a:p>
          <a:p>
            <a:pPr rtl="1"/>
            <a:r>
              <a:rPr lang="en-US" b="1" dirty="0" smtClean="0"/>
              <a:t>        Load IOS.</a:t>
            </a:r>
          </a:p>
          <a:p>
            <a:pPr algn="r" rtl="1"/>
            <a:r>
              <a:rPr lang="ar-YE" b="1" u="sng" dirty="0" smtClean="0"/>
              <a:t>س: كيف يستطيع الـ </a:t>
            </a:r>
            <a:r>
              <a:rPr lang="en-US" b="1" u="sng" dirty="0" smtClean="0"/>
              <a:t>Router </a:t>
            </a:r>
            <a:r>
              <a:rPr lang="ar-YE" b="1" u="sng" dirty="0" smtClean="0"/>
              <a:t> معرفة مكان نظام التشغيل الخاص به ؟</a:t>
            </a:r>
          </a:p>
          <a:p>
            <a:pPr algn="r" rtl="1"/>
            <a:r>
              <a:rPr lang="ar-YE" b="1" dirty="0" smtClean="0"/>
              <a:t>يذهب الـ</a:t>
            </a:r>
            <a:r>
              <a:rPr lang="en-US" b="1" dirty="0" smtClean="0"/>
              <a:t> Router</a:t>
            </a:r>
            <a:r>
              <a:rPr lang="ar-YE" b="1" dirty="0" smtClean="0"/>
              <a:t> الى الـ</a:t>
            </a:r>
            <a:r>
              <a:rPr lang="en-US" b="1" dirty="0" smtClean="0"/>
              <a:t> Configuration Register </a:t>
            </a:r>
            <a:r>
              <a:rPr lang="ar-YE" b="1" dirty="0" smtClean="0"/>
              <a:t>وهو عبارة عن ملف (</a:t>
            </a:r>
            <a:r>
              <a:rPr lang="en-US" b="1" dirty="0" smtClean="0"/>
              <a:t>Hexadecimal</a:t>
            </a:r>
            <a:r>
              <a:rPr lang="ar-YE" b="1" dirty="0" smtClean="0"/>
              <a:t>) مثــــل:</a:t>
            </a:r>
          </a:p>
          <a:p>
            <a:pPr algn="r" rtl="1"/>
            <a:r>
              <a:rPr lang="en-US" b="1" dirty="0" smtClean="0"/>
              <a:t>0x2102</a:t>
            </a:r>
            <a:r>
              <a:rPr lang="ar-YE" b="1" dirty="0" smtClean="0"/>
              <a:t> وهذا الرقم يدل الـ </a:t>
            </a:r>
            <a:r>
              <a:rPr lang="en-US" b="1" dirty="0" smtClean="0"/>
              <a:t>Router</a:t>
            </a:r>
            <a:r>
              <a:rPr lang="ar-YE" b="1" dirty="0" smtClean="0"/>
              <a:t> على الـ </a:t>
            </a:r>
            <a:r>
              <a:rPr lang="en-US" b="1" dirty="0" smtClean="0"/>
              <a:t>Flash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dirty="0" smtClean="0"/>
              <a:t>واذا تم التعديل على ارقم </a:t>
            </a:r>
            <a:r>
              <a:rPr lang="en-US" b="1" dirty="0" smtClean="0"/>
              <a:t>0x2102</a:t>
            </a:r>
            <a:r>
              <a:rPr lang="ar-YE" b="1" dirty="0" smtClean="0"/>
              <a:t> فمعناه أن نظام التشغيل موجود بالكامل في الـ </a:t>
            </a:r>
            <a:r>
              <a:rPr lang="en-US" b="1" dirty="0" smtClean="0"/>
              <a:t>TFTP</a:t>
            </a:r>
            <a:r>
              <a:rPr lang="ar-YE" b="1" dirty="0" smtClean="0"/>
              <a:t> .</a:t>
            </a:r>
            <a:endParaRPr lang="en-US" b="1" dirty="0" smtClean="0"/>
          </a:p>
          <a:p>
            <a:pPr algn="r" rtl="1"/>
            <a:r>
              <a:rPr lang="ar-YE" b="1" u="sng" dirty="0" smtClean="0"/>
              <a:t>وظيفة الـ </a:t>
            </a:r>
            <a:r>
              <a:rPr lang="en-US" b="1" u="sng" dirty="0" smtClean="0"/>
              <a:t>Configuration Register</a:t>
            </a:r>
            <a:r>
              <a:rPr lang="ar-YE" b="1" u="sng" dirty="0" smtClean="0"/>
              <a:t> :</a:t>
            </a:r>
          </a:p>
          <a:p>
            <a:pPr algn="r" rtl="1"/>
            <a:r>
              <a:rPr lang="ar-YE" b="1" dirty="0" smtClean="0"/>
              <a:t>يدل جهاز الـ </a:t>
            </a:r>
            <a:r>
              <a:rPr lang="en-US" b="1" dirty="0" smtClean="0"/>
              <a:t>Router</a:t>
            </a:r>
            <a:r>
              <a:rPr lang="ar-YE" b="1" dirty="0" smtClean="0"/>
              <a:t> بمكان نظام التشغيل.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Router Startup </a:t>
            </a:r>
            <a:r>
              <a:rPr lang="en-US" sz="2400" b="1" cap="all" dirty="0" err="1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sequencel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1" y="914400"/>
            <a:ext cx="8092798" cy="3139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u="sng" dirty="0" smtClean="0"/>
              <a:t>Step 4:</a:t>
            </a:r>
          </a:p>
          <a:p>
            <a:pPr rtl="1"/>
            <a:r>
              <a:rPr lang="en-US" b="1" dirty="0" smtClean="0"/>
              <a:t>      Find The Configuration File.</a:t>
            </a:r>
          </a:p>
          <a:p>
            <a:pPr algn="r" rtl="1"/>
            <a:r>
              <a:rPr lang="ar-YE" b="1" dirty="0" smtClean="0"/>
              <a:t>يوجد الـ </a:t>
            </a:r>
            <a:r>
              <a:rPr lang="en-US" b="1" dirty="0" smtClean="0"/>
              <a:t>Configuration File</a:t>
            </a:r>
            <a:r>
              <a:rPr lang="ar-YE" b="1" dirty="0" smtClean="0"/>
              <a:t> في :</a:t>
            </a:r>
          </a:p>
          <a:p>
            <a:pPr algn="r" rtl="1">
              <a:buFontTx/>
              <a:buChar char="-"/>
            </a:pPr>
            <a:r>
              <a:rPr lang="en-US" b="1" dirty="0" smtClean="0"/>
              <a:t>NVRAM</a:t>
            </a:r>
            <a:r>
              <a:rPr lang="ar-YE" b="1" dirty="0" smtClean="0"/>
              <a:t> .</a:t>
            </a:r>
          </a:p>
          <a:p>
            <a:pPr algn="r" rtl="1">
              <a:buFontTx/>
              <a:buChar char="-"/>
            </a:pPr>
            <a:r>
              <a:rPr lang="ar-YE" b="1" dirty="0" smtClean="0"/>
              <a:t> </a:t>
            </a:r>
            <a:r>
              <a:rPr lang="en-US" b="1" dirty="0" smtClean="0"/>
              <a:t>TFTP Server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dirty="0" smtClean="0"/>
              <a:t>وفي حال الـ </a:t>
            </a:r>
            <a:r>
              <a:rPr lang="en-US" b="1" dirty="0" smtClean="0"/>
              <a:t>Router</a:t>
            </a:r>
            <a:r>
              <a:rPr lang="ar-YE" b="1" dirty="0" smtClean="0"/>
              <a:t> وجد الملف فأن الـ </a:t>
            </a:r>
            <a:r>
              <a:rPr lang="en-US" b="1" dirty="0" smtClean="0"/>
              <a:t>Router </a:t>
            </a:r>
            <a:r>
              <a:rPr lang="ar-YE" b="1" dirty="0" smtClean="0"/>
              <a:t> يكون (</a:t>
            </a:r>
            <a:r>
              <a:rPr lang="en-US" b="1" u="sng" dirty="0" smtClean="0"/>
              <a:t>ON</a:t>
            </a:r>
            <a:r>
              <a:rPr lang="ar-YE" b="1" dirty="0" smtClean="0"/>
              <a:t>).</a:t>
            </a:r>
            <a:endParaRPr lang="en-US" b="1" dirty="0" smtClean="0"/>
          </a:p>
          <a:p>
            <a:pPr rtl="1"/>
            <a:r>
              <a:rPr lang="en-US" b="1" u="sng" dirty="0" smtClean="0"/>
              <a:t>Step 5:</a:t>
            </a:r>
          </a:p>
          <a:p>
            <a:pPr rtl="1"/>
            <a:r>
              <a:rPr lang="en-US" b="1" dirty="0" smtClean="0"/>
              <a:t>      Setup Mode.</a:t>
            </a:r>
          </a:p>
          <a:p>
            <a:pPr algn="r" rtl="1"/>
            <a:r>
              <a:rPr lang="ar-YE" b="1" dirty="0" smtClean="0"/>
              <a:t>هي عبارة عن مجموعة من الأسئلة لانشاء الـ</a:t>
            </a:r>
            <a:r>
              <a:rPr lang="en-US" b="1" dirty="0" smtClean="0"/>
              <a:t> Configuration File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u="sng" dirty="0" smtClean="0"/>
              <a:t>مــــــــــــــــــــــــلاحظة:</a:t>
            </a:r>
          </a:p>
          <a:p>
            <a:pPr algn="r" rtl="1"/>
            <a:r>
              <a:rPr lang="ar-YE" b="1" dirty="0" smtClean="0"/>
              <a:t>تسخدم الـ</a:t>
            </a:r>
            <a:r>
              <a:rPr lang="en-US" b="1" dirty="0" smtClean="0"/>
              <a:t>Step 5 </a:t>
            </a:r>
            <a:r>
              <a:rPr lang="ar-YE" b="1" dirty="0" smtClean="0"/>
              <a:t> في حال لم يتم العثور على الـ </a:t>
            </a:r>
            <a:r>
              <a:rPr lang="en-US" b="1" dirty="0" smtClean="0"/>
              <a:t>Configuration File</a:t>
            </a:r>
            <a:r>
              <a:rPr lang="ar-YE" b="1" dirty="0" smtClean="0"/>
              <a:t> في الـ </a:t>
            </a:r>
            <a:r>
              <a:rPr lang="en-US" b="1" dirty="0" smtClean="0"/>
              <a:t>Step 4</a:t>
            </a:r>
            <a:r>
              <a:rPr lang="ar-YE" b="1" dirty="0" smtClean="0"/>
              <a:t> .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The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Startup sequence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boo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136613" cy="48006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TextBox 5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Router Modes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3</a:t>
            </a:r>
          </a:p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0" y="65532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Router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Modes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01659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rtl="1"/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1- User Mode.</a:t>
            </a:r>
          </a:p>
          <a:p>
            <a:pPr rtl="1"/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2- </a:t>
            </a:r>
            <a:r>
              <a:rPr lang="en-US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Priveleged</a:t>
            </a: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Mode.</a:t>
            </a:r>
          </a:p>
          <a:p>
            <a:pPr rtl="1"/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3- Global Configuration Mode.</a:t>
            </a:r>
          </a:p>
          <a:p>
            <a:pPr rtl="1"/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4- Other Modes.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Picture 4" descr="thinking-cartoo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133600"/>
            <a:ext cx="3633788" cy="40800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Router Modes</a:t>
            </a:r>
            <a:endParaRPr lang="en-US" sz="2400" b="1" cap="all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914400"/>
            <a:ext cx="8168997" cy="52578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u="sng" dirty="0" smtClean="0"/>
              <a:t>1- User Mode :</a:t>
            </a:r>
          </a:p>
          <a:p>
            <a:pPr algn="r" rtl="1"/>
            <a:r>
              <a:rPr lang="ar-YE" b="1" dirty="0" smtClean="0"/>
              <a:t>تستخدم لاعطاء معلومات محدده عن الـ </a:t>
            </a:r>
            <a:r>
              <a:rPr lang="en-US" b="1" dirty="0" smtClean="0"/>
              <a:t>Router</a:t>
            </a:r>
            <a:r>
              <a:rPr lang="ar-YE" b="1" dirty="0" smtClean="0"/>
              <a:t> .</a:t>
            </a:r>
            <a:endParaRPr lang="en-US" b="1" dirty="0" smtClean="0"/>
          </a:p>
          <a:p>
            <a:pPr algn="r" rtl="1"/>
            <a:r>
              <a:rPr lang="ar-YE" b="1" dirty="0" smtClean="0"/>
              <a:t>شكل الـ </a:t>
            </a:r>
            <a:r>
              <a:rPr lang="en-US" b="1" dirty="0" smtClean="0"/>
              <a:t>User Mode</a:t>
            </a:r>
            <a:r>
              <a:rPr lang="ar-YE" b="1" dirty="0" smtClean="0"/>
              <a:t> في الـ </a:t>
            </a:r>
            <a:r>
              <a:rPr lang="en-US" b="1" dirty="0" smtClean="0"/>
              <a:t>Router </a:t>
            </a:r>
            <a:r>
              <a:rPr lang="ar-YE" b="1" dirty="0" smtClean="0"/>
              <a:t> </a:t>
            </a:r>
            <a:r>
              <a:rPr lang="en-US" b="1" dirty="0" smtClean="0">
                <a:sym typeface="Wingdings" pitchFamily="2" charset="2"/>
              </a:rPr>
              <a:t></a:t>
            </a:r>
          </a:p>
          <a:p>
            <a:pPr rtl="1"/>
            <a:r>
              <a:rPr lang="en-US" b="1" u="sng" dirty="0" smtClean="0">
                <a:sym typeface="Wingdings" pitchFamily="2" charset="2"/>
              </a:rPr>
              <a:t>2- </a:t>
            </a:r>
            <a:r>
              <a:rPr lang="en-US" b="1" u="sng" dirty="0" err="1" smtClean="0">
                <a:sym typeface="Wingdings" pitchFamily="2" charset="2"/>
              </a:rPr>
              <a:t>Priveleged</a:t>
            </a:r>
            <a:r>
              <a:rPr lang="en-US" b="1" u="sng" dirty="0" smtClean="0">
                <a:sym typeface="Wingdings" pitchFamily="2" charset="2"/>
              </a:rPr>
              <a:t> Mode :</a:t>
            </a:r>
          </a:p>
          <a:p>
            <a:pPr algn="r" rtl="1"/>
            <a:r>
              <a:rPr lang="ar-YE" b="1" dirty="0" smtClean="0"/>
              <a:t>تعطي معلومات إحصائية عن الـ </a:t>
            </a:r>
            <a:r>
              <a:rPr lang="en-US" b="1" dirty="0" smtClean="0"/>
              <a:t>Router</a:t>
            </a:r>
            <a:r>
              <a:rPr lang="ar-YE" b="1" dirty="0" smtClean="0"/>
              <a:t>، وقراءة الاعدادات .</a:t>
            </a:r>
            <a:endParaRPr lang="en-US" b="1" dirty="0" smtClean="0"/>
          </a:p>
          <a:p>
            <a:pPr algn="r" rtl="1"/>
            <a:r>
              <a:rPr lang="ar-YE" b="1" dirty="0" smtClean="0"/>
              <a:t>شكل الـ</a:t>
            </a:r>
            <a:r>
              <a:rPr lang="en-US" b="1" dirty="0" err="1" smtClean="0"/>
              <a:t>Priveleged</a:t>
            </a:r>
            <a:r>
              <a:rPr lang="en-US" b="1" dirty="0" smtClean="0"/>
              <a:t> Mode </a:t>
            </a:r>
            <a:r>
              <a:rPr lang="ar-YE" b="1" dirty="0" smtClean="0"/>
              <a:t> في الـ </a:t>
            </a:r>
            <a:r>
              <a:rPr lang="en-US" b="1" dirty="0" smtClean="0"/>
              <a:t>Router </a:t>
            </a:r>
            <a:r>
              <a:rPr lang="ar-YE" b="1" dirty="0" smtClean="0"/>
              <a:t> </a:t>
            </a:r>
            <a:r>
              <a:rPr lang="en-US" b="1" dirty="0" smtClean="0">
                <a:sym typeface="Wingdings" pitchFamily="2" charset="2"/>
              </a:rPr>
              <a:t> </a:t>
            </a:r>
          </a:p>
          <a:p>
            <a:pPr algn="r" rtl="1"/>
            <a:endParaRPr lang="ar-YE" b="1" dirty="0" smtClean="0"/>
          </a:p>
          <a:p>
            <a:pPr rtl="1"/>
            <a:r>
              <a:rPr lang="en-US" b="1" u="sng" dirty="0" smtClean="0"/>
              <a:t>3- Global </a:t>
            </a:r>
            <a:r>
              <a:rPr lang="en-US" b="1" u="sng" dirty="0" err="1" smtClean="0"/>
              <a:t>Configugration</a:t>
            </a:r>
            <a:r>
              <a:rPr lang="en-US" b="1" u="sng" dirty="0" smtClean="0"/>
              <a:t> Mode:</a:t>
            </a:r>
          </a:p>
          <a:p>
            <a:pPr algn="r" rtl="1"/>
            <a:r>
              <a:rPr lang="ar-YE" b="1" dirty="0" smtClean="0"/>
              <a:t>نستطبع من الـ </a:t>
            </a:r>
            <a:r>
              <a:rPr lang="en-US" b="1" dirty="0" smtClean="0"/>
              <a:t>Global </a:t>
            </a:r>
            <a:r>
              <a:rPr lang="en-US" b="1" dirty="0" err="1" smtClean="0"/>
              <a:t>Config</a:t>
            </a:r>
            <a:r>
              <a:rPr lang="ar-YE" b="1" dirty="0" smtClean="0"/>
              <a:t> من التعديل على اعدادات الـ </a:t>
            </a:r>
            <a:r>
              <a:rPr lang="en-US" b="1" dirty="0" smtClean="0"/>
              <a:t>Router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dirty="0" smtClean="0"/>
              <a:t>شكل الـ  </a:t>
            </a:r>
            <a:r>
              <a:rPr lang="en-US" b="1" dirty="0" smtClean="0"/>
              <a:t>Global </a:t>
            </a:r>
            <a:r>
              <a:rPr lang="en-US" b="1" dirty="0" err="1" smtClean="0"/>
              <a:t>Config</a:t>
            </a:r>
            <a:r>
              <a:rPr lang="ar-YE" b="1" dirty="0" smtClean="0"/>
              <a:t> في الـ </a:t>
            </a:r>
            <a:r>
              <a:rPr lang="en-US" b="1" dirty="0" smtClean="0"/>
              <a:t>Router</a:t>
            </a:r>
            <a:r>
              <a:rPr lang="ar-YE" b="1" dirty="0" smtClean="0"/>
              <a:t> </a:t>
            </a:r>
            <a:r>
              <a:rPr lang="en-US" b="1" dirty="0" smtClean="0">
                <a:sym typeface="Wingdings" pitchFamily="2" charset="2"/>
              </a:rPr>
              <a:t></a:t>
            </a:r>
          </a:p>
          <a:p>
            <a:pPr algn="r" rtl="1"/>
            <a:endParaRPr lang="en-US" b="1" dirty="0" smtClean="0">
              <a:sym typeface="Wingdings" pitchFamily="2" charset="2"/>
            </a:endParaRPr>
          </a:p>
          <a:p>
            <a:pPr rtl="1"/>
            <a:r>
              <a:rPr lang="en-US" b="1" u="sng" dirty="0" smtClean="0"/>
              <a:t>4- Other Modes:</a:t>
            </a:r>
          </a:p>
          <a:p>
            <a:pPr algn="ctr" rtl="1"/>
            <a:r>
              <a:rPr lang="ar-YE" b="1" dirty="0" smtClean="0"/>
              <a:t>يحتوي على نوعان هما</a:t>
            </a:r>
          </a:p>
          <a:p>
            <a:pPr rtl="1"/>
            <a:r>
              <a:rPr lang="en-US" b="1" dirty="0" smtClean="0"/>
              <a:t>1- interface</a:t>
            </a:r>
          </a:p>
          <a:p>
            <a:pPr algn="r" rtl="1"/>
            <a:r>
              <a:rPr lang="ar-YE" b="1" dirty="0" smtClean="0"/>
              <a:t>شكل الـ </a:t>
            </a:r>
            <a:r>
              <a:rPr lang="en-US" b="1" dirty="0" smtClean="0"/>
              <a:t>interface</a:t>
            </a:r>
            <a:r>
              <a:rPr lang="ar-YE" b="1" dirty="0" smtClean="0"/>
              <a:t> في الـ </a:t>
            </a:r>
            <a:r>
              <a:rPr lang="en-US" b="1" dirty="0" smtClean="0"/>
              <a:t>Router</a:t>
            </a:r>
            <a:r>
              <a:rPr lang="ar-YE" b="1" dirty="0" smtClean="0"/>
              <a:t> </a:t>
            </a:r>
            <a:r>
              <a:rPr lang="en-US" b="1" dirty="0" smtClean="0">
                <a:sym typeface="Wingdings" pitchFamily="2" charset="2"/>
              </a:rPr>
              <a:t></a:t>
            </a:r>
            <a:r>
              <a:rPr lang="ar-YE" b="1" dirty="0" smtClean="0">
                <a:sym typeface="Wingdings" pitchFamily="2" charset="2"/>
              </a:rPr>
              <a:t> </a:t>
            </a:r>
            <a:r>
              <a:rPr lang="en-US" b="1" dirty="0" smtClean="0"/>
              <a:t> </a:t>
            </a:r>
          </a:p>
          <a:p>
            <a:pPr rtl="1"/>
            <a:endParaRPr lang="en-US" b="1" dirty="0" smtClean="0"/>
          </a:p>
          <a:p>
            <a:pPr rtl="1"/>
            <a:r>
              <a:rPr lang="en-US" b="1" dirty="0" smtClean="0"/>
              <a:t>2- routing protocol</a:t>
            </a:r>
          </a:p>
          <a:p>
            <a:pPr algn="r" rtl="1"/>
            <a:r>
              <a:rPr lang="ar-YE" b="1" dirty="0" smtClean="0"/>
              <a:t>شكل الـ </a:t>
            </a:r>
            <a:r>
              <a:rPr lang="en-US" b="1" dirty="0" smtClean="0"/>
              <a:t>routing </a:t>
            </a:r>
            <a:r>
              <a:rPr lang="en-US" b="1" dirty="0" err="1" smtClean="0"/>
              <a:t>protocole</a:t>
            </a:r>
            <a:r>
              <a:rPr lang="ar-YE" b="1" dirty="0" smtClean="0"/>
              <a:t> في الـ </a:t>
            </a:r>
            <a:r>
              <a:rPr lang="en-US" b="1" dirty="0" smtClean="0"/>
              <a:t>Router</a:t>
            </a:r>
            <a:r>
              <a:rPr lang="ar-YE" b="1" dirty="0" smtClean="0"/>
              <a:t> </a:t>
            </a:r>
            <a:r>
              <a:rPr lang="en-US" b="1" dirty="0" smtClean="0">
                <a:sym typeface="Wingdings" pitchFamily="2" charset="2"/>
              </a:rPr>
              <a:t> </a:t>
            </a:r>
            <a:endParaRPr lang="ar-YE" b="1" dirty="0" smtClean="0"/>
          </a:p>
        </p:txBody>
      </p:sp>
      <p:sp>
        <p:nvSpPr>
          <p:cNvPr id="5" name="Rectangle 4"/>
          <p:cNvSpPr/>
          <p:nvPr/>
        </p:nvSpPr>
        <p:spPr>
          <a:xfrm>
            <a:off x="3124200" y="1371600"/>
            <a:ext cx="15240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Router&gt;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2237096" y="2305336"/>
            <a:ext cx="15240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Router#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2133600" y="3352800"/>
            <a:ext cx="21336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2438400" y="4648200"/>
            <a:ext cx="25908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685800" y="5644488"/>
            <a:ext cx="32766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-router)#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Router Modes</a:t>
            </a:r>
            <a:endParaRPr lang="en-US" sz="2400" b="1" cap="all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7000" y="914400"/>
            <a:ext cx="6035397" cy="3416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YE" b="1" u="sng" dirty="0" smtClean="0"/>
              <a:t>كيفية التنقل بين الـ </a:t>
            </a:r>
            <a:r>
              <a:rPr lang="en-US" b="1" u="sng" dirty="0" smtClean="0"/>
              <a:t>Router Modes  </a:t>
            </a:r>
            <a:r>
              <a:rPr lang="ar-YE" b="1" u="sng" dirty="0" smtClean="0"/>
              <a:t> </a:t>
            </a:r>
          </a:p>
          <a:p>
            <a:pPr algn="ctr" rtl="1"/>
            <a:endParaRPr lang="ar-YE" b="1" u="sng" dirty="0" smtClean="0"/>
          </a:p>
          <a:p>
            <a:pPr rtl="1"/>
            <a:r>
              <a:rPr lang="en-US" b="1" dirty="0" smtClean="0"/>
              <a:t>Router &gt; enable</a:t>
            </a:r>
          </a:p>
          <a:p>
            <a:pPr rtl="1"/>
            <a:endParaRPr lang="en-US" b="1" dirty="0" smtClean="0"/>
          </a:p>
          <a:p>
            <a:pPr rtl="1"/>
            <a:endParaRPr lang="en-US" b="1" dirty="0" smtClean="0"/>
          </a:p>
          <a:p>
            <a:pPr rtl="1"/>
            <a:r>
              <a:rPr lang="en-US" b="1" dirty="0" smtClean="0"/>
              <a:t>Router # Configuration Terminal </a:t>
            </a:r>
          </a:p>
          <a:p>
            <a:pPr rtl="1"/>
            <a:endParaRPr lang="en-US" b="1" dirty="0" smtClean="0"/>
          </a:p>
          <a:p>
            <a:pPr rtl="1"/>
            <a:endParaRPr lang="en-US" b="1" dirty="0" smtClean="0"/>
          </a:p>
          <a:p>
            <a:pPr rtl="1"/>
            <a:r>
              <a:rPr lang="en-US" b="1" dirty="0" smtClean="0"/>
              <a:t>Router (</a:t>
            </a:r>
            <a:r>
              <a:rPr lang="en-US" b="1" dirty="0" err="1" smtClean="0"/>
              <a:t>config</a:t>
            </a:r>
            <a:r>
              <a:rPr lang="en-US" b="1" dirty="0" smtClean="0"/>
              <a:t>)#interface serial /</a:t>
            </a:r>
            <a:r>
              <a:rPr lang="en-US" b="1" dirty="0" err="1" smtClean="0"/>
              <a:t>Fastethernet</a:t>
            </a:r>
            <a:r>
              <a:rPr lang="en-US" b="1" dirty="0" smtClean="0"/>
              <a:t> 0/0</a:t>
            </a:r>
          </a:p>
          <a:p>
            <a:pPr rtl="1"/>
            <a:endParaRPr lang="en-US" b="1" dirty="0" smtClean="0"/>
          </a:p>
          <a:p>
            <a:pPr rtl="1"/>
            <a:endParaRPr lang="en-US" b="1" dirty="0" smtClean="0"/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</a:p>
        </p:txBody>
      </p:sp>
      <p:cxnSp>
        <p:nvCxnSpPr>
          <p:cNvPr id="17" name="Curved Connector 16"/>
          <p:cNvCxnSpPr/>
          <p:nvPr/>
        </p:nvCxnSpPr>
        <p:spPr>
          <a:xfrm rot="5400000">
            <a:off x="4229100" y="1714500"/>
            <a:ext cx="609600" cy="533400"/>
          </a:xfrm>
          <a:prstGeom prst="curvedConnector3">
            <a:avLst>
              <a:gd name="adj1" fmla="val 6343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/>
          <p:nvPr/>
        </p:nvCxnSpPr>
        <p:spPr>
          <a:xfrm rot="5400000">
            <a:off x="6286500" y="2552700"/>
            <a:ext cx="609600" cy="533400"/>
          </a:xfrm>
          <a:prstGeom prst="curvedConnector3">
            <a:avLst>
              <a:gd name="adj1" fmla="val 4776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rot="5400000">
            <a:off x="4903524" y="3597892"/>
            <a:ext cx="457200" cy="3810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87656" y="1412544"/>
            <a:ext cx="22860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User Mode</a:t>
            </a:r>
            <a:endParaRPr lang="en-US" b="1" dirty="0"/>
          </a:p>
        </p:txBody>
      </p:sp>
      <p:sp>
        <p:nvSpPr>
          <p:cNvPr id="30" name="Rectangle 29"/>
          <p:cNvSpPr/>
          <p:nvPr/>
        </p:nvSpPr>
        <p:spPr>
          <a:xfrm>
            <a:off x="228600" y="2258704"/>
            <a:ext cx="22860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Priveleged</a:t>
            </a:r>
            <a:r>
              <a:rPr lang="en-US" b="1" dirty="0" smtClean="0"/>
              <a:t> mode</a:t>
            </a:r>
            <a:endParaRPr lang="en-US" b="1" dirty="0"/>
          </a:p>
        </p:txBody>
      </p:sp>
      <p:sp>
        <p:nvSpPr>
          <p:cNvPr id="31" name="Rectangle 30"/>
          <p:cNvSpPr/>
          <p:nvPr/>
        </p:nvSpPr>
        <p:spPr>
          <a:xfrm>
            <a:off x="214952" y="3124200"/>
            <a:ext cx="22860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Configuration Mode</a:t>
            </a:r>
            <a:endParaRPr lang="en-US" sz="1600" b="1" dirty="0"/>
          </a:p>
        </p:txBody>
      </p:sp>
      <p:sp>
        <p:nvSpPr>
          <p:cNvPr id="32" name="Rectangle 31"/>
          <p:cNvSpPr/>
          <p:nvPr/>
        </p:nvSpPr>
        <p:spPr>
          <a:xfrm>
            <a:off x="214952" y="3886200"/>
            <a:ext cx="2286000" cy="45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Other Modes</a:t>
            </a:r>
            <a:endParaRPr lang="en-US" sz="1600" b="1" dirty="0"/>
          </a:p>
        </p:txBody>
      </p:sp>
      <p:sp>
        <p:nvSpPr>
          <p:cNvPr id="33" name="Rectangle 32"/>
          <p:cNvSpPr/>
          <p:nvPr/>
        </p:nvSpPr>
        <p:spPr>
          <a:xfrm>
            <a:off x="3810000" y="1461448"/>
            <a:ext cx="914400" cy="381000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34" name="Rectangle 33"/>
          <p:cNvSpPr/>
          <p:nvPr/>
        </p:nvSpPr>
        <p:spPr>
          <a:xfrm>
            <a:off x="3823648" y="2291688"/>
            <a:ext cx="2895600" cy="381000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35" name="Rectangle 34"/>
          <p:cNvSpPr/>
          <p:nvPr/>
        </p:nvSpPr>
        <p:spPr>
          <a:xfrm>
            <a:off x="4724400" y="3116240"/>
            <a:ext cx="3886200" cy="381000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255896" y="4544704"/>
            <a:ext cx="84582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dirty="0" smtClean="0"/>
              <a:t>اذا اردنا الرجوع من الـ </a:t>
            </a:r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ar-YE" b="1" dirty="0" smtClean="0"/>
              <a:t> الى الـ </a:t>
            </a:r>
            <a:r>
              <a:rPr lang="en-US" b="1" dirty="0" smtClean="0"/>
              <a:t>Route#</a:t>
            </a:r>
            <a:r>
              <a:rPr lang="ar-YE" b="1" dirty="0" smtClean="0"/>
              <a:t> نضغط على (</a:t>
            </a:r>
            <a:r>
              <a:rPr lang="en-US" b="1" dirty="0" err="1" smtClean="0"/>
              <a:t>Ctrl+Z</a:t>
            </a:r>
            <a:r>
              <a:rPr lang="ar-YE" b="1" dirty="0" smtClean="0"/>
              <a:t>).</a:t>
            </a:r>
            <a:endParaRPr lang="en-US" b="1" dirty="0" smtClean="0"/>
          </a:p>
          <a:p>
            <a:pPr algn="r" rtl="1"/>
            <a:r>
              <a:rPr lang="ar-YE" b="1" dirty="0" smtClean="0"/>
              <a:t>وفي حال اردنا الرجوع خطوه </a:t>
            </a:r>
            <a:r>
              <a:rPr lang="ar-YE" b="1" smtClean="0"/>
              <a:t>واحدة نكتب </a:t>
            </a:r>
            <a:r>
              <a:rPr lang="ar-YE" b="1" dirty="0" smtClean="0"/>
              <a:t>(</a:t>
            </a:r>
            <a:r>
              <a:rPr lang="en-US" b="1" dirty="0" smtClean="0"/>
              <a:t>exit</a:t>
            </a:r>
            <a:r>
              <a:rPr lang="ar-YE" b="1" dirty="0" smtClean="0"/>
              <a:t>).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Basic commands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3</a:t>
            </a:r>
          </a:p>
          <a:p>
            <a:r>
              <a:rPr lang="en-US" dirty="0" smtClean="0"/>
              <a:t>T.HASAN ABDULRAQIB ASAAD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20472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Basic Commands</a:t>
            </a:r>
          </a:p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&lt;Help&gt;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64272"/>
            <a:ext cx="8016597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كيفية كتابة ومعرفة استخدام أوامر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بسهولة : </a:t>
            </a:r>
          </a:p>
          <a:p>
            <a:pPr algn="r" rtl="1"/>
            <a:r>
              <a:rPr lang="ar-YE" b="1" dirty="0" smtClean="0"/>
              <a:t>1- عــــلامة الـ </a:t>
            </a:r>
            <a:r>
              <a:rPr lang="en-US" b="1" dirty="0" smtClean="0"/>
              <a:t>?</a:t>
            </a:r>
            <a:r>
              <a:rPr lang="ar-YE" b="1" dirty="0" smtClean="0"/>
              <a:t> :</a:t>
            </a:r>
          </a:p>
          <a:p>
            <a:pPr marL="342900" indent="-342900" algn="r" rtl="1">
              <a:buAutoNum type="arabic1Minus"/>
            </a:pPr>
            <a:r>
              <a:rPr lang="ar-YE" b="1" dirty="0" smtClean="0"/>
              <a:t>تساعدنا في معرفة الاوامر الخاصة بكل (</a:t>
            </a:r>
            <a:r>
              <a:rPr lang="en-US" b="1" dirty="0" smtClean="0"/>
              <a:t>Modes</a:t>
            </a:r>
            <a:r>
              <a:rPr lang="ar-YE" b="1" dirty="0" smtClean="0"/>
              <a:t>) .</a:t>
            </a:r>
          </a:p>
          <a:p>
            <a:pPr marL="342900" indent="-342900" algn="r" rtl="1"/>
            <a:r>
              <a:rPr lang="ar-YE" b="1" u="sng" dirty="0" smtClean="0"/>
              <a:t>مثـــــــــــل :</a:t>
            </a:r>
          </a:p>
          <a:p>
            <a:pPr marL="342900" indent="-342900" rtl="1"/>
            <a:r>
              <a:rPr lang="en-US" b="1" dirty="0" err="1" smtClean="0"/>
              <a:t>RouterA</a:t>
            </a:r>
            <a:r>
              <a:rPr lang="en-US" b="1" dirty="0" smtClean="0"/>
              <a:t>#?</a:t>
            </a:r>
          </a:p>
          <a:p>
            <a:pPr marL="342900" indent="-342900" algn="r" rtl="1"/>
            <a:r>
              <a:rPr lang="ar-YE" b="1" dirty="0" smtClean="0"/>
              <a:t>لفتح صفحة اخرى نضغط على (</a:t>
            </a:r>
            <a:r>
              <a:rPr lang="en-US" b="1" dirty="0" smtClean="0"/>
              <a:t>Space Key</a:t>
            </a:r>
            <a:r>
              <a:rPr lang="ar-YE" b="1" dirty="0" smtClean="0"/>
              <a:t>).</a:t>
            </a:r>
          </a:p>
          <a:p>
            <a:pPr marL="342900" indent="-342900" algn="r" rtl="1"/>
            <a:r>
              <a:rPr lang="ar-YE" b="1" dirty="0" smtClean="0"/>
              <a:t>للخروج نضغط على (</a:t>
            </a:r>
            <a:r>
              <a:rPr lang="en-US" b="1" dirty="0" smtClean="0"/>
              <a:t>Q</a:t>
            </a:r>
            <a:r>
              <a:rPr lang="ar-YE" b="1" dirty="0" smtClean="0"/>
              <a:t>).</a:t>
            </a:r>
            <a:endParaRPr lang="en-US" b="1" dirty="0" smtClean="0"/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846696"/>
            <a:ext cx="8069240" cy="3854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683456" y="634814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191072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Basic Commands</a:t>
            </a:r>
          </a:p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&lt;Help&gt;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59808"/>
            <a:ext cx="8016597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كيفية كتابة ومعرفة استخدام أوامر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بسهولة : </a:t>
            </a:r>
          </a:p>
          <a:p>
            <a:pPr algn="r" rtl="1"/>
            <a:r>
              <a:rPr lang="ar-YE" b="1" dirty="0" smtClean="0"/>
              <a:t>1- عــــلامة الـ </a:t>
            </a:r>
            <a:r>
              <a:rPr lang="en-US" b="1" dirty="0" smtClean="0"/>
              <a:t>?</a:t>
            </a:r>
            <a:r>
              <a:rPr lang="ar-YE" b="1" dirty="0" smtClean="0"/>
              <a:t> :</a:t>
            </a:r>
          </a:p>
          <a:p>
            <a:pPr marL="342900" indent="-342900" algn="r" rtl="1"/>
            <a:r>
              <a:rPr lang="ar-YE" b="1" dirty="0" smtClean="0"/>
              <a:t>ب-يظهر الكلمات التي تستخدم مع الأمر الموجود.</a:t>
            </a:r>
            <a:endParaRPr lang="en-US" b="1" dirty="0" smtClean="0"/>
          </a:p>
          <a:p>
            <a:pPr marL="342900" indent="-342900" algn="r" rtl="1"/>
            <a:r>
              <a:rPr lang="ar-YE" b="1" u="sng" dirty="0" smtClean="0"/>
              <a:t>مثـــــــــــل :</a:t>
            </a:r>
          </a:p>
          <a:p>
            <a:pPr marL="342900" indent="-342900" rtl="1"/>
            <a:r>
              <a:rPr lang="en-US" b="1" dirty="0" err="1" smtClean="0"/>
              <a:t>RouterA#show</a:t>
            </a:r>
            <a:r>
              <a:rPr lang="en-US" b="1" dirty="0" smtClean="0"/>
              <a:t>  ?</a:t>
            </a:r>
          </a:p>
          <a:p>
            <a:pPr marL="342900" indent="-342900" algn="r" rtl="1"/>
            <a:r>
              <a:rPr lang="ar-YE" b="1" dirty="0" smtClean="0"/>
              <a:t>نلاحظ انه تم عرض جميع الكلمات التي تستخدم مع الامر (</a:t>
            </a:r>
            <a:r>
              <a:rPr lang="en-US" b="1" dirty="0" smtClean="0"/>
              <a:t>Show</a:t>
            </a:r>
            <a:r>
              <a:rPr lang="ar-YE" b="1" dirty="0" smtClean="0"/>
              <a:t>).</a:t>
            </a:r>
            <a:endParaRPr lang="en-US" b="1" dirty="0" smtClean="0"/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8" y="2586255"/>
            <a:ext cx="7924800" cy="4066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683456" y="6293557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232016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Basic Commands</a:t>
            </a:r>
          </a:p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&lt;Help&gt;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00752"/>
            <a:ext cx="801659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كيفية كتابة ومعرفة استخدام أوامر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بسهولة : </a:t>
            </a:r>
          </a:p>
          <a:p>
            <a:pPr algn="r" rtl="1"/>
            <a:r>
              <a:rPr lang="ar-YE" b="1" dirty="0" smtClean="0"/>
              <a:t>1- عــــلامة الـ </a:t>
            </a:r>
            <a:r>
              <a:rPr lang="en-US" b="1" dirty="0" smtClean="0"/>
              <a:t>?</a:t>
            </a:r>
            <a:r>
              <a:rPr lang="ar-YE" b="1" dirty="0" smtClean="0"/>
              <a:t> :</a:t>
            </a:r>
          </a:p>
          <a:p>
            <a:pPr marL="342900" indent="-342900" algn="r" rtl="1"/>
            <a:r>
              <a:rPr lang="ar-YE" b="1" dirty="0" smtClean="0"/>
              <a:t>د- يساعدنا في كيفية استخدام أي أمر كان .</a:t>
            </a:r>
          </a:p>
          <a:p>
            <a:pPr marL="342900" indent="-342900" algn="r" rtl="1"/>
            <a:r>
              <a:rPr lang="ar-YE" b="1" u="sng" dirty="0" smtClean="0"/>
              <a:t>مثـــــــــــل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7016"/>
            <a:ext cx="3886200" cy="914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Help Commands.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144976"/>
            <a:ext cx="3886199" cy="914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Help Commands.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27616"/>
            <a:ext cx="3886200" cy="914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Help Commands.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27616"/>
            <a:ext cx="3810000" cy="91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Help Commands.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4416"/>
            <a:ext cx="3810000" cy="1001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3962400" y="214497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1370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2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38600" y="36610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3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3400" y="367268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4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38600" y="47278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5</a:t>
            </a:r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2286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Basic Commands</a:t>
            </a:r>
          </a:p>
          <a:p>
            <a:pPr algn="ctr">
              <a:spcBef>
                <a:spcPct val="0"/>
              </a:spcBef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&lt;Help&gt;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897336"/>
            <a:ext cx="801659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كيفية كتابة ومعرفة استخدام أوامر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بسهولة : </a:t>
            </a:r>
          </a:p>
          <a:p>
            <a:pPr algn="r" rtl="1"/>
            <a:r>
              <a:rPr lang="ar-YE" b="1" dirty="0" smtClean="0"/>
              <a:t>2- استخدام مفتاح (</a:t>
            </a:r>
            <a:r>
              <a:rPr lang="en-US" b="1" dirty="0" smtClean="0"/>
              <a:t>tab key</a:t>
            </a:r>
            <a:r>
              <a:rPr lang="ar-YE" b="1" dirty="0" smtClean="0"/>
              <a:t>).</a:t>
            </a:r>
          </a:p>
          <a:p>
            <a:pPr rtl="1"/>
            <a:r>
              <a:rPr lang="en-US" b="1" dirty="0" smtClean="0"/>
              <a:t>For Complete the command</a:t>
            </a:r>
            <a:endParaRPr lang="ar-YE" b="1" dirty="0" smtClean="0"/>
          </a:p>
          <a:p>
            <a:pPr algn="r" rtl="1"/>
            <a:r>
              <a:rPr lang="ar-YE" b="1" dirty="0" smtClean="0"/>
              <a:t>يستخدم لتكملة الأمر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0" y="2546440"/>
            <a:ext cx="8069240" cy="3854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Basic Commands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تغير أسم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:</a:t>
            </a:r>
          </a:p>
          <a:p>
            <a:pPr algn="r" rtl="1"/>
            <a:r>
              <a:rPr lang="ar-YE" b="1" dirty="0" smtClean="0"/>
              <a:t>لتغير أسم الـ </a:t>
            </a:r>
            <a:r>
              <a:rPr lang="en-US" b="1" dirty="0" smtClean="0"/>
              <a:t>Router </a:t>
            </a:r>
            <a:r>
              <a:rPr lang="ar-YE" b="1" dirty="0" smtClean="0"/>
              <a:t> نستخدم الأمر (</a:t>
            </a:r>
            <a:r>
              <a:rPr lang="en-US" b="1" dirty="0" smtClean="0"/>
              <a:t>hostname</a:t>
            </a:r>
            <a:r>
              <a:rPr lang="ar-YE" b="1" dirty="0" smtClean="0"/>
              <a:t>).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)#hostname &lt;New Router Name&gt;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069240" cy="1694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57200" y="3505200"/>
            <a:ext cx="8016597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لوضع وقت وتاريخ على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:</a:t>
            </a:r>
          </a:p>
          <a:p>
            <a:pPr algn="r" rtl="1"/>
            <a:r>
              <a:rPr lang="ar-YE" b="1" dirty="0" smtClean="0"/>
              <a:t>نستخدم الأمر (</a:t>
            </a:r>
            <a:r>
              <a:rPr lang="en-US" b="1" dirty="0" smtClean="0"/>
              <a:t>clock</a:t>
            </a:r>
            <a:r>
              <a:rPr lang="ar-YE" b="1" dirty="0" smtClean="0"/>
              <a:t>).</a:t>
            </a:r>
          </a:p>
          <a:p>
            <a:pPr rtl="1"/>
            <a:r>
              <a:rPr lang="en-US" b="1" dirty="0" err="1" smtClean="0"/>
              <a:t>Yemen#clock</a:t>
            </a:r>
            <a:r>
              <a:rPr lang="en-US" b="1" dirty="0" smtClean="0"/>
              <a:t> set 09:00:30 31 </a:t>
            </a:r>
            <a:r>
              <a:rPr lang="en-US" b="1" dirty="0" err="1" smtClean="0"/>
              <a:t>jan</a:t>
            </a:r>
            <a:r>
              <a:rPr lang="en-US" b="1" dirty="0" smtClean="0"/>
              <a:t> 2012</a:t>
            </a:r>
            <a:endParaRPr lang="ar-YE" b="1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457200" y="4495800"/>
            <a:ext cx="801659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لاعادة تشغيل الـ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:</a:t>
            </a:r>
          </a:p>
          <a:p>
            <a:pPr algn="r" rtl="1"/>
            <a:r>
              <a:rPr lang="ar-YE" b="1" dirty="0" smtClean="0"/>
              <a:t>نستخدم الأمر (</a:t>
            </a:r>
            <a:r>
              <a:rPr lang="en-US" b="1" dirty="0" smtClean="0"/>
              <a:t>reload</a:t>
            </a:r>
            <a:r>
              <a:rPr lang="ar-YE" b="1" dirty="0" smtClean="0"/>
              <a:t>).</a:t>
            </a:r>
          </a:p>
        </p:txBody>
      </p:sp>
      <p:pic>
        <p:nvPicPr>
          <p:cNvPr id="11" name="Picture 10" descr="Help Commands.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411640"/>
            <a:ext cx="5638800" cy="2362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Basic Commands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لانشاء ملف اعدادات جديد للـ </a:t>
            </a:r>
            <a:r>
              <a:rPr lang="en-US" b="1" u="sng" dirty="0" smtClean="0"/>
              <a:t>Router</a:t>
            </a:r>
            <a:r>
              <a:rPr lang="ar-YE" b="1" u="sng" dirty="0" smtClean="0"/>
              <a:t> :</a:t>
            </a:r>
          </a:p>
          <a:p>
            <a:pPr marL="342900" indent="-342900" algn="r" rtl="1"/>
            <a:r>
              <a:rPr lang="ar-YE" b="1" dirty="0" smtClean="0"/>
              <a:t>نستخدم الأمر(</a:t>
            </a:r>
            <a:r>
              <a:rPr lang="en-US" b="1" dirty="0" smtClean="0"/>
              <a:t>setup</a:t>
            </a:r>
            <a:r>
              <a:rPr lang="ar-YE" b="1" dirty="0" smtClean="0"/>
              <a:t>).</a:t>
            </a:r>
          </a:p>
          <a:p>
            <a:pPr marL="342900" indent="-342900" algn="r" rtl="1"/>
            <a:r>
              <a:rPr lang="ar-YE" b="1" u="sng" dirty="0" smtClean="0"/>
              <a:t>مثـــــــــــل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8069240" cy="2538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Make Password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يوجد نوعان من الـ </a:t>
            </a:r>
            <a:r>
              <a:rPr lang="en-US" b="1" u="sng" dirty="0" smtClean="0"/>
              <a:t>Password</a:t>
            </a:r>
            <a:r>
              <a:rPr lang="ar-YE" b="1" u="sng" dirty="0" smtClean="0"/>
              <a:t> وهما :</a:t>
            </a:r>
          </a:p>
          <a:p>
            <a:pPr algn="r" rtl="1"/>
            <a:r>
              <a:rPr lang="ar-YE" b="1" dirty="0" smtClean="0"/>
              <a:t>1- </a:t>
            </a:r>
            <a:r>
              <a:rPr lang="en-US" b="1" dirty="0" smtClean="0"/>
              <a:t>password</a:t>
            </a:r>
            <a:r>
              <a:rPr lang="ar-YE" b="1" dirty="0" smtClean="0"/>
              <a:t> :</a:t>
            </a:r>
          </a:p>
          <a:p>
            <a:pPr algn="r" rtl="1"/>
            <a:r>
              <a:rPr lang="ar-YE" b="1" dirty="0" smtClean="0"/>
              <a:t>غير مشفرة وتستخدم في الـ </a:t>
            </a:r>
            <a:r>
              <a:rPr lang="en-US" b="1" dirty="0" smtClean="0"/>
              <a:t>Telnet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dirty="0" smtClean="0"/>
              <a:t>2- </a:t>
            </a:r>
            <a:r>
              <a:rPr lang="en-US" b="1" dirty="0" smtClean="0"/>
              <a:t>secret password</a:t>
            </a:r>
            <a:r>
              <a:rPr lang="ar-YE" b="1" dirty="0" smtClean="0"/>
              <a:t> :</a:t>
            </a:r>
          </a:p>
          <a:p>
            <a:pPr algn="r" rtl="1"/>
            <a:r>
              <a:rPr lang="ar-YE" b="1" dirty="0" smtClean="0"/>
              <a:t>مشفر أي لا تظهر كلمة المرور بأي شكل من الأشكال .</a:t>
            </a:r>
          </a:p>
          <a:p>
            <a:pPr algn="r" rtl="1"/>
            <a:r>
              <a:rPr lang="ar-YE" b="1" u="sng" dirty="0" smtClean="0"/>
              <a:t>كيفية استخدام الـ </a:t>
            </a:r>
            <a:r>
              <a:rPr lang="en-US" b="1" u="sng" dirty="0" smtClean="0"/>
              <a:t>password</a:t>
            </a:r>
            <a:r>
              <a:rPr lang="ar-YE" b="1" u="sng" dirty="0" smtClean="0"/>
              <a:t> والـ </a:t>
            </a:r>
            <a:r>
              <a:rPr lang="en-US" b="1" u="sng" dirty="0" smtClean="0"/>
              <a:t>secret </a:t>
            </a:r>
            <a:r>
              <a:rPr lang="en-US" b="1" u="sng" dirty="0" err="1" smtClean="0"/>
              <a:t>passsword</a:t>
            </a:r>
            <a:r>
              <a:rPr lang="ar-YE" b="1" u="sng" dirty="0" smtClean="0"/>
              <a:t> ؟</a:t>
            </a:r>
          </a:p>
          <a:p>
            <a:pPr algn="r" rtl="1"/>
            <a:r>
              <a:rPr lang="ar-YE" b="1" u="sng" dirty="0" smtClean="0"/>
              <a:t>أولاَ :</a:t>
            </a:r>
            <a:r>
              <a:rPr lang="en-US" b="1" u="sng" dirty="0" smtClean="0"/>
              <a:t> password command</a:t>
            </a:r>
            <a:r>
              <a:rPr lang="ar-YE" b="1" u="sng" dirty="0" smtClean="0"/>
              <a:t> :</a:t>
            </a:r>
          </a:p>
          <a:p>
            <a:pPr algn="ctr"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)#enable password  &lt;</a:t>
            </a:r>
            <a:r>
              <a:rPr lang="en-US" b="1" dirty="0" err="1" smtClean="0"/>
              <a:t>passord</a:t>
            </a:r>
            <a:r>
              <a:rPr lang="en-US" b="1" dirty="0" smtClean="0"/>
              <a:t> word&gt;</a:t>
            </a:r>
            <a:endParaRPr lang="ar-YE" b="1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88" y="3055960"/>
            <a:ext cx="8069240" cy="1008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Help Commands.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362200" cy="10086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2971800" y="4114800"/>
            <a:ext cx="557819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الغاء كلمة المرور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)#no enable password</a:t>
            </a:r>
            <a:endParaRPr lang="ar-YE" b="1" u="sng" dirty="0" smtClean="0"/>
          </a:p>
        </p:txBody>
      </p:sp>
      <p:pic>
        <p:nvPicPr>
          <p:cNvPr id="11" name="Picture 10" descr="Help Commands.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257800"/>
            <a:ext cx="7696200" cy="1008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Make Password</a:t>
            </a:r>
            <a:endParaRPr lang="en-US" sz="2400" b="1" cap="all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4200"/>
            <a:ext cx="8069240" cy="1056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57200" y="668736"/>
            <a:ext cx="8016597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يوجد نوعان من الـ </a:t>
            </a:r>
            <a:r>
              <a:rPr lang="en-US" b="1" u="sng" dirty="0" smtClean="0"/>
              <a:t>Password</a:t>
            </a:r>
            <a:r>
              <a:rPr lang="ar-YE" b="1" u="sng" dirty="0" smtClean="0"/>
              <a:t> وهما :</a:t>
            </a:r>
          </a:p>
          <a:p>
            <a:pPr algn="r" rtl="1"/>
            <a:r>
              <a:rPr lang="ar-YE" b="1" dirty="0" smtClean="0"/>
              <a:t>1- </a:t>
            </a:r>
            <a:r>
              <a:rPr lang="en-US" b="1" dirty="0" smtClean="0"/>
              <a:t>password</a:t>
            </a:r>
            <a:r>
              <a:rPr lang="ar-YE" b="1" dirty="0" smtClean="0"/>
              <a:t> :</a:t>
            </a:r>
          </a:p>
          <a:p>
            <a:pPr algn="r" rtl="1"/>
            <a:r>
              <a:rPr lang="ar-YE" b="1" dirty="0" smtClean="0"/>
              <a:t>غير مشفرة وتستخدم في الـ </a:t>
            </a:r>
            <a:r>
              <a:rPr lang="en-US" b="1" dirty="0" smtClean="0"/>
              <a:t>Telnet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dirty="0" smtClean="0"/>
              <a:t>2- </a:t>
            </a:r>
            <a:r>
              <a:rPr lang="en-US" b="1" dirty="0" smtClean="0"/>
              <a:t>secret password</a:t>
            </a:r>
            <a:r>
              <a:rPr lang="ar-YE" b="1" dirty="0" smtClean="0"/>
              <a:t> :</a:t>
            </a:r>
          </a:p>
          <a:p>
            <a:pPr algn="r" rtl="1"/>
            <a:r>
              <a:rPr lang="ar-YE" b="1" dirty="0" smtClean="0"/>
              <a:t>مشفر أي لا تظهر كلمة المرور بأي شكل من الأشكال .</a:t>
            </a:r>
          </a:p>
          <a:p>
            <a:pPr algn="r" rtl="1"/>
            <a:r>
              <a:rPr lang="ar-YE" b="1" u="sng" dirty="0" smtClean="0"/>
              <a:t>كيفية استخدام الـ </a:t>
            </a:r>
            <a:r>
              <a:rPr lang="en-US" b="1" u="sng" dirty="0" smtClean="0"/>
              <a:t>password</a:t>
            </a:r>
            <a:r>
              <a:rPr lang="ar-YE" b="1" u="sng" dirty="0" smtClean="0"/>
              <a:t> والـ </a:t>
            </a:r>
            <a:r>
              <a:rPr lang="en-US" b="1" u="sng" dirty="0" smtClean="0"/>
              <a:t>secret </a:t>
            </a:r>
            <a:r>
              <a:rPr lang="en-US" b="1" u="sng" dirty="0" err="1" smtClean="0"/>
              <a:t>passsword</a:t>
            </a:r>
            <a:r>
              <a:rPr lang="ar-YE" b="1" u="sng" dirty="0" smtClean="0"/>
              <a:t> ؟</a:t>
            </a:r>
          </a:p>
          <a:p>
            <a:pPr algn="r" rtl="1"/>
            <a:r>
              <a:rPr lang="ar-YE" b="1" u="sng" dirty="0" smtClean="0"/>
              <a:t>ثانياَ :</a:t>
            </a:r>
            <a:r>
              <a:rPr lang="en-US" b="1" u="sng" dirty="0" smtClean="0"/>
              <a:t> secret password command</a:t>
            </a:r>
            <a:r>
              <a:rPr lang="ar-YE" b="1" u="sng" dirty="0" smtClean="0"/>
              <a:t> :</a:t>
            </a:r>
          </a:p>
          <a:p>
            <a:pPr algn="ctr"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)#enable secret &lt;</a:t>
            </a:r>
            <a:r>
              <a:rPr lang="en-US" b="1" dirty="0" err="1" smtClean="0"/>
              <a:t>passord</a:t>
            </a:r>
            <a:r>
              <a:rPr lang="en-US" b="1" dirty="0" smtClean="0"/>
              <a:t> word&gt;</a:t>
            </a:r>
            <a:endParaRPr lang="ar-YE" b="1" dirty="0" smtClean="0"/>
          </a:p>
        </p:txBody>
      </p:sp>
      <p:pic>
        <p:nvPicPr>
          <p:cNvPr id="10" name="Picture 9" descr="Help Commands.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10336"/>
            <a:ext cx="2362200" cy="10086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2971800" y="4210336"/>
            <a:ext cx="557819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الغاء كلمة المرور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)#no enable secret</a:t>
            </a:r>
            <a:endParaRPr lang="ar-YE" b="1" u="sng" dirty="0" smtClean="0"/>
          </a:p>
        </p:txBody>
      </p:sp>
      <p:pic>
        <p:nvPicPr>
          <p:cNvPr id="12" name="Picture 11" descr="Help Commands.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44626"/>
            <a:ext cx="8069240" cy="1035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280482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Privileged mode</a:t>
            </a:r>
          </a:p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143000"/>
          <a:ext cx="7848600" cy="2966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{D7AC3CCA-C797-4891-BE02-D94E43425B78}</a:tableStyleId>
              </a:tblPr>
              <a:tblGrid>
                <a:gridCol w="3924300"/>
                <a:gridCol w="39243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</a:t>
                      </a:r>
                      <a:r>
                        <a:rPr lang="en-US" b="1" baseline="0" dirty="0" smtClean="0"/>
                        <a:t> version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يظهر</a:t>
                      </a:r>
                      <a:r>
                        <a:rPr lang="ar-YE" b="1" baseline="0" dirty="0" smtClean="0"/>
                        <a:t> اصدارات الـ </a:t>
                      </a:r>
                      <a:r>
                        <a:rPr lang="en-US" b="1" baseline="0" dirty="0" smtClean="0"/>
                        <a:t>Router</a:t>
                      </a:r>
                      <a:r>
                        <a:rPr lang="ar-YE" b="1" baseline="0" dirty="0" smtClean="0"/>
                        <a:t>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history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يظهر الأوامر المدخلة</a:t>
                      </a:r>
                      <a:r>
                        <a:rPr lang="ar-YE" b="1" baseline="0" dirty="0" smtClean="0"/>
                        <a:t> سابقا َ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</a:t>
                      </a:r>
                      <a:r>
                        <a:rPr lang="en-US" b="1" dirty="0" err="1" smtClean="0"/>
                        <a:t>mac</a:t>
                      </a:r>
                      <a:r>
                        <a:rPr lang="en-US" b="1" dirty="0" smtClean="0"/>
                        <a:t>-address-table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يظهر</a:t>
                      </a:r>
                      <a:r>
                        <a:rPr lang="ar-YE" b="1" baseline="0" dirty="0" smtClean="0"/>
                        <a:t> جدول الـ </a:t>
                      </a:r>
                      <a:r>
                        <a:rPr lang="en-US" b="1" baseline="0" dirty="0" smtClean="0"/>
                        <a:t>Mac Address</a:t>
                      </a:r>
                      <a:r>
                        <a:rPr lang="ar-YE" b="1" baseline="0" dirty="0" smtClean="0"/>
                        <a:t>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running-</a:t>
                      </a:r>
                      <a:r>
                        <a:rPr lang="en-US" b="1" dirty="0" err="1" smtClean="0"/>
                        <a:t>config</a:t>
                      </a:r>
                      <a:r>
                        <a:rPr lang="en-US" b="1" baseline="0" dirty="0" smtClean="0"/>
                        <a:t>  / run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يظهر</a:t>
                      </a:r>
                      <a:r>
                        <a:rPr lang="ar-YE" b="1" baseline="0" dirty="0" smtClean="0"/>
                        <a:t> المعلومات الموجودة في الـ </a:t>
                      </a:r>
                      <a:r>
                        <a:rPr lang="en-US" b="1" baseline="0" dirty="0" smtClean="0"/>
                        <a:t>RAM</a:t>
                      </a:r>
                      <a:r>
                        <a:rPr lang="ar-YE" b="1" baseline="0" dirty="0" smtClean="0"/>
                        <a:t>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startup-</a:t>
                      </a:r>
                      <a:r>
                        <a:rPr lang="en-US" b="1" dirty="0" err="1" smtClean="0"/>
                        <a:t>config</a:t>
                      </a:r>
                      <a:r>
                        <a:rPr lang="en-US" b="1" dirty="0" smtClean="0"/>
                        <a:t>   / start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يظهر</a:t>
                      </a:r>
                      <a:r>
                        <a:rPr lang="ar-YE" b="1" baseline="0" dirty="0" smtClean="0"/>
                        <a:t> المعلومات الموجودة في الـ </a:t>
                      </a:r>
                      <a:r>
                        <a:rPr lang="en-US" b="1" baseline="0" dirty="0" smtClean="0"/>
                        <a:t>NVRAM</a:t>
                      </a:r>
                      <a:r>
                        <a:rPr lang="ar-YE" b="1" baseline="0" dirty="0" smtClean="0"/>
                        <a:t>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flash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يظهر المعلومات الموجودة</a:t>
                      </a:r>
                      <a:r>
                        <a:rPr lang="ar-YE" b="1" baseline="0" dirty="0" smtClean="0"/>
                        <a:t> في الـ </a:t>
                      </a:r>
                      <a:r>
                        <a:rPr lang="en-US" b="1" baseline="0" dirty="0" smtClean="0"/>
                        <a:t>Flash</a:t>
                      </a:r>
                      <a:r>
                        <a:rPr lang="ar-YE" b="1" baseline="0" dirty="0" smtClean="0"/>
                        <a:t>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interface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يعرض</a:t>
                      </a:r>
                      <a:r>
                        <a:rPr lang="ar-YE" b="1" baseline="0" dirty="0" smtClean="0"/>
                        <a:t> معلومات عن منافذ الـ</a:t>
                      </a:r>
                      <a:r>
                        <a:rPr lang="en-US" b="1" baseline="0" dirty="0" smtClean="0"/>
                        <a:t> Router </a:t>
                      </a:r>
                      <a:r>
                        <a:rPr lang="ar-YE" b="1" baseline="0" dirty="0" smtClean="0"/>
                        <a:t> .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show processes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YE" b="1" dirty="0" smtClean="0"/>
                        <a:t>يعرض المعلومات</a:t>
                      </a:r>
                      <a:r>
                        <a:rPr lang="ar-YE" b="1" baseline="0" dirty="0" smtClean="0"/>
                        <a:t> العمليات النشطة .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interfaces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يوجد نوعان من الـ </a:t>
            </a:r>
            <a:r>
              <a:rPr lang="en-US" b="1" u="sng" dirty="0" smtClean="0"/>
              <a:t>interface </a:t>
            </a:r>
            <a:r>
              <a:rPr lang="ar-YE" b="1" u="sng" dirty="0" smtClean="0"/>
              <a:t> هما :</a:t>
            </a:r>
          </a:p>
          <a:p>
            <a:pPr algn="r" rtl="1"/>
            <a:r>
              <a:rPr lang="ar-YE" b="1" dirty="0" smtClean="0"/>
              <a:t>1- </a:t>
            </a:r>
            <a:r>
              <a:rPr lang="en-US" b="1" dirty="0" smtClean="0"/>
              <a:t>Ethernet</a:t>
            </a:r>
            <a:r>
              <a:rPr lang="ar-YE" b="1" dirty="0" smtClean="0"/>
              <a:t> .</a:t>
            </a:r>
          </a:p>
          <a:p>
            <a:pPr algn="r" rtl="1"/>
            <a:r>
              <a:rPr lang="ar-YE" b="1" dirty="0" smtClean="0"/>
              <a:t>2- </a:t>
            </a:r>
            <a:r>
              <a:rPr lang="en-US" b="1" dirty="0" smtClean="0"/>
              <a:t>Serial</a:t>
            </a:r>
            <a:r>
              <a:rPr lang="ar-YE" b="1" dirty="0" smtClean="0"/>
              <a:t> .</a:t>
            </a:r>
            <a:endParaRPr lang="en-US" b="1" dirty="0" smtClean="0"/>
          </a:p>
          <a:p>
            <a:pPr algn="r" rtl="1"/>
            <a:r>
              <a:rPr lang="ar-YE" b="1" u="sng" dirty="0" smtClean="0"/>
              <a:t>مقارنة بين أوامر الـ </a:t>
            </a:r>
            <a:r>
              <a:rPr lang="en-US" b="1" u="sng" dirty="0" smtClean="0"/>
              <a:t>interfaces</a:t>
            </a:r>
            <a:r>
              <a:rPr lang="ar-YE" b="1" u="sng" dirty="0" smtClean="0"/>
              <a:t>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7712" y="2024416"/>
          <a:ext cx="7848600" cy="175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24300"/>
                <a:gridCol w="39243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Ethernet interfaces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Serial</a:t>
                      </a:r>
                      <a:r>
                        <a:rPr lang="en-US" baseline="0" dirty="0" smtClean="0"/>
                        <a:t> interfaces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 shutdown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shutdown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ip</a:t>
                      </a:r>
                      <a:r>
                        <a:rPr lang="en-US" dirty="0" smtClean="0"/>
                        <a:t> address  {</a:t>
                      </a:r>
                      <a:r>
                        <a:rPr lang="en-US" dirty="0" err="1" smtClean="0"/>
                        <a:t>ip</a:t>
                      </a:r>
                      <a:r>
                        <a:rPr lang="en-US" dirty="0" smtClean="0"/>
                        <a:t> address}</a:t>
                      </a:r>
                      <a:r>
                        <a:rPr lang="en-US" baseline="0" dirty="0" smtClean="0"/>
                        <a:t> {subnet mask}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ip</a:t>
                      </a:r>
                      <a:r>
                        <a:rPr lang="en-US" dirty="0" smtClean="0"/>
                        <a:t> address  {</a:t>
                      </a:r>
                      <a:r>
                        <a:rPr lang="en-US" dirty="0" err="1" smtClean="0"/>
                        <a:t>ip</a:t>
                      </a:r>
                      <a:r>
                        <a:rPr lang="en-US" dirty="0" smtClean="0"/>
                        <a:t> address}</a:t>
                      </a:r>
                      <a:r>
                        <a:rPr lang="en-US" baseline="0" dirty="0" smtClean="0"/>
                        <a:t> {subnet mask}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DCE  or  DCT  interface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interfaces</a:t>
            </a:r>
            <a:endParaRPr lang="en-US" sz="2400" b="1" cap="all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en-US" b="1" u="sng" dirty="0" err="1" smtClean="0"/>
              <a:t>Eathernet</a:t>
            </a:r>
            <a:r>
              <a:rPr lang="en-US" b="1" u="sng" dirty="0" smtClean="0"/>
              <a:t>  </a:t>
            </a:r>
            <a:r>
              <a:rPr lang="en-US" b="1" u="sng" dirty="0" err="1" smtClean="0"/>
              <a:t>interfast</a:t>
            </a:r>
            <a:r>
              <a:rPr lang="en-US" b="1" u="sng" dirty="0" smtClean="0"/>
              <a:t> commands</a:t>
            </a:r>
          </a:p>
          <a:p>
            <a:pPr rtl="1"/>
            <a:r>
              <a:rPr lang="en-US" b="1" dirty="0" smtClean="0"/>
              <a:t>Router&gt;enable</a:t>
            </a:r>
          </a:p>
          <a:p>
            <a:pPr rtl="1"/>
            <a:r>
              <a:rPr lang="en-US" b="1" dirty="0" err="1" smtClean="0"/>
              <a:t>Router#configure</a:t>
            </a:r>
            <a:r>
              <a:rPr lang="en-US" b="1" dirty="0" smtClean="0"/>
              <a:t> terminal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)#interface </a:t>
            </a:r>
            <a:r>
              <a:rPr lang="en-US" b="1" dirty="0" err="1" smtClean="0"/>
              <a:t>fastethernet</a:t>
            </a:r>
            <a:r>
              <a:rPr lang="en-US" b="1" dirty="0" smtClean="0"/>
              <a:t> 0/0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192.168.1.1 255.255.255.0</a:t>
            </a:r>
            <a:endParaRPr lang="ar-YE" b="1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667000"/>
            <a:ext cx="8069240" cy="22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interfaces</a:t>
            </a:r>
            <a:endParaRPr lang="en-US" sz="2400" b="1" cap="all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3139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en-US" b="1" u="sng" dirty="0" err="1" smtClean="0"/>
              <a:t>Eathernet</a:t>
            </a:r>
            <a:r>
              <a:rPr lang="en-US" b="1" u="sng" dirty="0" smtClean="0"/>
              <a:t>  </a:t>
            </a:r>
            <a:r>
              <a:rPr lang="en-US" b="1" u="sng" dirty="0" err="1" smtClean="0"/>
              <a:t>interfast</a:t>
            </a:r>
            <a:r>
              <a:rPr lang="en-US" b="1" u="sng" dirty="0" smtClean="0"/>
              <a:t> commands</a:t>
            </a:r>
          </a:p>
          <a:p>
            <a:pPr rtl="1"/>
            <a:r>
              <a:rPr lang="en-US" b="1" dirty="0" smtClean="0"/>
              <a:t>Router1&gt;enable</a:t>
            </a:r>
          </a:p>
          <a:p>
            <a:pPr rtl="1"/>
            <a:r>
              <a:rPr lang="en-US" b="1" dirty="0" smtClean="0"/>
              <a:t>Router1#configure terminal</a:t>
            </a:r>
          </a:p>
          <a:p>
            <a:pPr rtl="1"/>
            <a:r>
              <a:rPr lang="en-US" b="1" dirty="0" smtClean="0"/>
              <a:t>Router1(</a:t>
            </a:r>
            <a:r>
              <a:rPr lang="en-US" b="1" dirty="0" err="1" smtClean="0"/>
              <a:t>config</a:t>
            </a:r>
            <a:r>
              <a:rPr lang="en-US" b="1" dirty="0" smtClean="0"/>
              <a:t>)# interface serial 0/0/0</a:t>
            </a:r>
          </a:p>
          <a:p>
            <a:pPr rtl="1"/>
            <a:r>
              <a:rPr lang="en-US" b="1" dirty="0" smtClean="0"/>
              <a:t>Router1(</a:t>
            </a:r>
            <a:r>
              <a:rPr lang="en-US" b="1" dirty="0" err="1" smtClean="0"/>
              <a:t>config</a:t>
            </a:r>
            <a:r>
              <a:rPr lang="en-US" b="1" dirty="0" smtClean="0"/>
              <a:t>-if)#no shutdown</a:t>
            </a:r>
          </a:p>
          <a:p>
            <a:pPr rtl="1"/>
            <a:r>
              <a:rPr lang="en-US" b="1" dirty="0" smtClean="0"/>
              <a:t>Router1(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10.0.0.1 255.0.0.0</a:t>
            </a:r>
          </a:p>
          <a:p>
            <a:pPr rtl="1"/>
            <a:r>
              <a:rPr lang="en-US" b="1" dirty="0" smtClean="0"/>
              <a:t>-----------------------------------------------------------------------------</a:t>
            </a:r>
          </a:p>
          <a:p>
            <a:pPr rtl="1"/>
            <a:r>
              <a:rPr lang="en-US" b="1" dirty="0" smtClean="0"/>
              <a:t>Router2(</a:t>
            </a:r>
            <a:r>
              <a:rPr lang="en-US" b="1" dirty="0" err="1" smtClean="0"/>
              <a:t>config</a:t>
            </a:r>
            <a:r>
              <a:rPr lang="en-US" b="1" dirty="0" smtClean="0"/>
              <a:t>)#interface serial 0/0/0</a:t>
            </a:r>
          </a:p>
          <a:p>
            <a:pPr rtl="1"/>
            <a:r>
              <a:rPr lang="en-US" b="1" dirty="0" smtClean="0"/>
              <a:t>Router2(</a:t>
            </a:r>
            <a:r>
              <a:rPr lang="en-US" b="1" dirty="0" err="1" smtClean="0"/>
              <a:t>config</a:t>
            </a:r>
            <a:r>
              <a:rPr lang="en-US" b="1" dirty="0" smtClean="0"/>
              <a:t>-if)#no shutdown </a:t>
            </a:r>
          </a:p>
          <a:p>
            <a:pPr rtl="1"/>
            <a:r>
              <a:rPr lang="en-US" b="1" dirty="0" smtClean="0"/>
              <a:t>Router2(</a:t>
            </a:r>
            <a:r>
              <a:rPr lang="en-US" b="1" dirty="0" err="1" smtClean="0"/>
              <a:t>config</a:t>
            </a:r>
            <a:r>
              <a:rPr lang="en-US" b="1" dirty="0" smtClean="0"/>
              <a:t>-if</a:t>
            </a:r>
            <a:r>
              <a:rPr lang="en-US" b="1" dirty="0" smtClean="0"/>
              <a:t>)#</a:t>
            </a:r>
            <a:r>
              <a:rPr lang="en-US" b="1" dirty="0" err="1" smtClean="0"/>
              <a:t>ip</a:t>
            </a:r>
            <a:r>
              <a:rPr lang="en-US" b="1" dirty="0" smtClean="0"/>
              <a:t> address 10.0.0.2 </a:t>
            </a:r>
            <a:r>
              <a:rPr lang="en-US" b="1" dirty="0" smtClean="0"/>
              <a:t>255.0.0.0</a:t>
            </a:r>
          </a:p>
          <a:p>
            <a:pPr rtl="1"/>
            <a:r>
              <a:rPr lang="en-US" b="1" dirty="0" smtClean="0"/>
              <a:t>Router2(</a:t>
            </a:r>
            <a:r>
              <a:rPr lang="en-US" b="1" dirty="0" err="1" smtClean="0"/>
              <a:t>config</a:t>
            </a:r>
            <a:r>
              <a:rPr lang="en-US" b="1" dirty="0" smtClean="0"/>
              <a:t>-if)#clock rate 64000</a:t>
            </a:r>
            <a:endParaRPr lang="ar-YE" b="1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6" name="Picture 5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910369"/>
            <a:ext cx="7848600" cy="22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685800" y="365760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kumimoji="0" lang="ar-YE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مــــــــــــــتلاحظة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267200"/>
            <a:ext cx="801659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dirty="0" smtClean="0"/>
              <a:t>1- لعرض جميع السرعات الموجودة في الـ </a:t>
            </a:r>
            <a:r>
              <a:rPr lang="en-US" b="1" dirty="0" smtClean="0"/>
              <a:t>Router</a:t>
            </a:r>
            <a:r>
              <a:rPr lang="ar-YE" b="1" dirty="0" smtClean="0"/>
              <a:t> نكتب الأمر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-if)#clock rate ?</a:t>
            </a:r>
          </a:p>
          <a:p>
            <a:pPr algn="r" rtl="1"/>
            <a:r>
              <a:rPr lang="ar-YE" b="1" dirty="0" smtClean="0"/>
              <a:t>2- كل روتر في الشبكة لدية أسم وحيد لا يتكرر .</a:t>
            </a:r>
          </a:p>
          <a:p>
            <a:pPr algn="r" rtl="1"/>
            <a:r>
              <a:rPr lang="ar-YE" b="1" dirty="0" smtClean="0"/>
              <a:t>3- السرعة المستخدمة عالميا هي 640000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5800" y="27296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ea typeface="+mj-ea"/>
                <a:cs typeface="+mj-cs"/>
              </a:rPr>
              <a:t>interfaces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09600"/>
            <a:ext cx="801659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لاعطاء (</a:t>
            </a:r>
            <a:r>
              <a:rPr lang="en-US" b="1" u="sng" dirty="0" smtClean="0"/>
              <a:t>Bandwidth</a:t>
            </a:r>
            <a:r>
              <a:rPr lang="ar-YE" b="1" u="sng" dirty="0" smtClean="0"/>
              <a:t>) للـ </a:t>
            </a:r>
            <a:r>
              <a:rPr lang="en-US" b="1" u="sng" dirty="0" smtClean="0"/>
              <a:t>Serial interface</a:t>
            </a:r>
            <a:r>
              <a:rPr lang="ar-YE" b="1" u="sng" dirty="0" smtClean="0"/>
              <a:t> :</a:t>
            </a:r>
            <a:endParaRPr lang="en-US" b="1" u="sng" dirty="0" smtClean="0"/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 bandwidth 100000</a:t>
            </a:r>
          </a:p>
          <a:p>
            <a:pPr algn="r" rtl="1"/>
            <a:r>
              <a:rPr lang="ar-YE" b="1" u="sng" dirty="0" smtClean="0"/>
              <a:t>لمعرفة سرعات الـ </a:t>
            </a:r>
            <a:r>
              <a:rPr lang="en-US" b="1" u="sng" dirty="0" smtClean="0"/>
              <a:t>Bandwidth </a:t>
            </a:r>
            <a:r>
              <a:rPr lang="ar-YE" b="1" u="sng" dirty="0" smtClean="0"/>
              <a:t> الموجود ة نكبت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-if)#bandwidth ?</a:t>
            </a:r>
            <a:endParaRPr lang="ar-YE" b="1" dirty="0" smtClean="0"/>
          </a:p>
        </p:txBody>
      </p:sp>
      <p:pic>
        <p:nvPicPr>
          <p:cNvPr id="11" name="Picture 10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1200"/>
            <a:ext cx="8069240" cy="99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Copy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setting from ram to </a:t>
            </a:r>
            <a:r>
              <a:rPr kumimoji="0" lang="en-US" sz="2400" b="1" i="0" strike="noStrike" kern="1200" cap="all" normalizeH="0" noProof="0" dirty="0" err="1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nvram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838200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 عمل (</a:t>
            </a:r>
            <a:r>
              <a:rPr lang="en-US" b="1" u="sng" dirty="0" smtClean="0"/>
              <a:t>Backup</a:t>
            </a:r>
            <a:r>
              <a:rPr lang="ar-YE" b="1" u="sng" dirty="0" smtClean="0"/>
              <a:t>) للاعدادات الجديدة من الـ </a:t>
            </a:r>
            <a:r>
              <a:rPr lang="en-US" b="1" u="sng" dirty="0" smtClean="0"/>
              <a:t>RAM</a:t>
            </a:r>
            <a:r>
              <a:rPr lang="ar-YE" b="1" u="sng" dirty="0" smtClean="0"/>
              <a:t> الى الـ </a:t>
            </a:r>
            <a:r>
              <a:rPr lang="en-US" b="1" u="sng" dirty="0" smtClean="0"/>
              <a:t>NVRAM</a:t>
            </a:r>
            <a:r>
              <a:rPr lang="ar-YE" b="1" u="sng" dirty="0" smtClean="0"/>
              <a:t> 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133600" y="1447800"/>
            <a:ext cx="4876800" cy="587992"/>
            <a:chOff x="2133600" y="1012208"/>
            <a:chExt cx="4876800" cy="587992"/>
          </a:xfrm>
        </p:grpSpPr>
        <p:sp>
          <p:nvSpPr>
            <p:cNvPr id="7" name="Rectangle 6"/>
            <p:cNvSpPr/>
            <p:nvPr/>
          </p:nvSpPr>
          <p:spPr>
            <a:xfrm>
              <a:off x="2133600" y="1143000"/>
              <a:ext cx="10668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91200" y="1143000"/>
              <a:ext cx="1219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NVRAM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7" idx="3"/>
              <a:endCxn id="10" idx="1"/>
            </p:cNvCxnSpPr>
            <p:nvPr/>
          </p:nvCxnSpPr>
          <p:spPr>
            <a:xfrm>
              <a:off x="3200400" y="1371600"/>
              <a:ext cx="2590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073856" y="101220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Copy</a:t>
              </a:r>
              <a:endParaRPr lang="en-US" b="1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81000" y="2286000"/>
            <a:ext cx="8016597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dirty="0" err="1" smtClean="0"/>
              <a:t>Router#copy</a:t>
            </a:r>
            <a:r>
              <a:rPr lang="en-US" b="1" dirty="0" smtClean="0"/>
              <a:t>  run  start</a:t>
            </a:r>
            <a:endParaRPr lang="ar-YE" b="1" dirty="0" smtClean="0"/>
          </a:p>
          <a:p>
            <a:pPr algn="r" rtl="1"/>
            <a:r>
              <a:rPr lang="ar-YE" b="1" u="sng" dirty="0" smtClean="0"/>
              <a:t>مــــــــــــــــلاحظة</a:t>
            </a:r>
            <a:endParaRPr lang="en-US" b="1" u="sng" dirty="0" smtClean="0"/>
          </a:p>
          <a:p>
            <a:pPr algn="r" rtl="1"/>
            <a:r>
              <a:rPr lang="ar-YE" b="1" dirty="0" smtClean="0"/>
              <a:t>حيث ترمز كلمة (</a:t>
            </a:r>
            <a:r>
              <a:rPr lang="en-US" b="1" dirty="0" smtClean="0"/>
              <a:t>run</a:t>
            </a:r>
            <a:r>
              <a:rPr lang="ar-YE" b="1" dirty="0" smtClean="0"/>
              <a:t>) بالـ </a:t>
            </a:r>
            <a:r>
              <a:rPr lang="en-US" b="1" dirty="0" smtClean="0"/>
              <a:t>RAM</a:t>
            </a:r>
            <a:r>
              <a:rPr lang="ar-YE" b="1" dirty="0" smtClean="0"/>
              <a:t> وكلمة (</a:t>
            </a:r>
            <a:r>
              <a:rPr lang="en-US" b="1" dirty="0" smtClean="0"/>
              <a:t>start</a:t>
            </a:r>
            <a:r>
              <a:rPr lang="ar-YE" b="1" dirty="0" smtClean="0"/>
              <a:t>) بالـ </a:t>
            </a:r>
            <a:r>
              <a:rPr lang="en-US" b="1" dirty="0" smtClean="0"/>
              <a:t>NVRAM</a:t>
            </a:r>
            <a:r>
              <a:rPr lang="ar-YE" b="1" dirty="0" smtClean="0"/>
              <a:t>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3352800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كيفبة إسترجاع (</a:t>
            </a:r>
            <a:r>
              <a:rPr lang="en-US" b="1" u="sng" dirty="0" smtClean="0"/>
              <a:t>Restore</a:t>
            </a:r>
            <a:r>
              <a:rPr lang="ar-YE" b="1" u="sng" dirty="0" smtClean="0"/>
              <a:t>) للاعدادات من الـ </a:t>
            </a:r>
            <a:r>
              <a:rPr lang="en-US" b="1" u="sng" dirty="0" smtClean="0"/>
              <a:t>NVRAM</a:t>
            </a:r>
            <a:r>
              <a:rPr lang="ar-YE" b="1" u="sng" dirty="0" smtClean="0"/>
              <a:t> الى الـ </a:t>
            </a:r>
            <a:r>
              <a:rPr lang="en-US" b="1" u="sng" dirty="0" smtClean="0"/>
              <a:t>RAM</a:t>
            </a:r>
            <a:r>
              <a:rPr lang="ar-YE" b="1" u="sng" dirty="0" smtClean="0"/>
              <a:t> ؟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981200" y="3886200"/>
            <a:ext cx="4876800" cy="587992"/>
            <a:chOff x="2133600" y="1012208"/>
            <a:chExt cx="4876800" cy="587992"/>
          </a:xfrm>
        </p:grpSpPr>
        <p:sp>
          <p:nvSpPr>
            <p:cNvPr id="21" name="Rectangle 20"/>
            <p:cNvSpPr/>
            <p:nvPr/>
          </p:nvSpPr>
          <p:spPr>
            <a:xfrm>
              <a:off x="2133600" y="1143000"/>
              <a:ext cx="10668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91200" y="1143000"/>
              <a:ext cx="1219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NVRAM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21" idx="3"/>
              <a:endCxn id="22" idx="1"/>
            </p:cNvCxnSpPr>
            <p:nvPr/>
          </p:nvCxnSpPr>
          <p:spPr>
            <a:xfrm>
              <a:off x="3200400" y="1371600"/>
              <a:ext cx="2590800" cy="158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073856" y="1012208"/>
              <a:ext cx="1045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restore</a:t>
              </a:r>
              <a:endParaRPr lang="en-US" b="1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59392" y="4558352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dirty="0" err="1" smtClean="0"/>
              <a:t>Router#copy</a:t>
            </a:r>
            <a:r>
              <a:rPr lang="en-US" b="1" dirty="0" smtClean="0"/>
              <a:t>  start   run</a:t>
            </a:r>
            <a:endParaRPr lang="ar-YE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kumimoji="0" lang="en-US" sz="2400" b="1" i="0" strike="noStrike" kern="1200" cap="all" normalizeH="0" baseline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Copy</a:t>
            </a:r>
            <a:r>
              <a:rPr kumimoji="0" lang="en-US" sz="2400" b="1" i="0" strike="noStrike" kern="1200" cap="all" normalizeH="0" noProof="0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setting from ram to </a:t>
            </a:r>
            <a:r>
              <a:rPr kumimoji="0" lang="en-US" sz="2400" b="1" i="0" strike="noStrike" kern="1200" cap="all" normalizeH="0" noProof="0" dirty="0" err="1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Tftp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838200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 عمل (</a:t>
            </a:r>
            <a:r>
              <a:rPr lang="en-US" b="1" u="sng" dirty="0" smtClean="0"/>
              <a:t>Backup</a:t>
            </a:r>
            <a:r>
              <a:rPr lang="ar-YE" b="1" u="sng" dirty="0" smtClean="0"/>
              <a:t>) للاعدادات الجديدة من الـ </a:t>
            </a:r>
            <a:r>
              <a:rPr lang="en-US" b="1" u="sng" dirty="0" smtClean="0"/>
              <a:t>RAM</a:t>
            </a:r>
            <a:r>
              <a:rPr lang="ar-YE" b="1" u="sng" dirty="0" smtClean="0"/>
              <a:t> الى الـ </a:t>
            </a:r>
            <a:r>
              <a:rPr lang="en-US" b="1" u="sng" dirty="0" smtClean="0"/>
              <a:t>NVRAM</a:t>
            </a:r>
            <a:r>
              <a:rPr lang="ar-YE" b="1" u="sng" dirty="0" smtClean="0"/>
              <a:t> 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2133600" y="1229432"/>
            <a:ext cx="4876800" cy="587992"/>
            <a:chOff x="2133600" y="1012208"/>
            <a:chExt cx="4876800" cy="587992"/>
          </a:xfrm>
        </p:grpSpPr>
        <p:sp>
          <p:nvSpPr>
            <p:cNvPr id="7" name="Rectangle 6"/>
            <p:cNvSpPr/>
            <p:nvPr/>
          </p:nvSpPr>
          <p:spPr>
            <a:xfrm>
              <a:off x="2133600" y="1143000"/>
              <a:ext cx="10668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91200" y="1143000"/>
              <a:ext cx="1219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chemeClr val="tx1"/>
                  </a:solidFill>
                </a:rPr>
                <a:t>tftp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7" idx="3"/>
              <a:endCxn id="10" idx="1"/>
            </p:cNvCxnSpPr>
            <p:nvPr/>
          </p:nvCxnSpPr>
          <p:spPr>
            <a:xfrm>
              <a:off x="3200400" y="1371600"/>
              <a:ext cx="2590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073856" y="101220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Copy</a:t>
              </a:r>
              <a:endParaRPr lang="en-US" b="1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81000" y="1852680"/>
            <a:ext cx="8016597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dirty="0" err="1" smtClean="0"/>
              <a:t>Router#copy</a:t>
            </a:r>
            <a:r>
              <a:rPr lang="en-US" b="1" dirty="0" smtClean="0"/>
              <a:t>  run  </a:t>
            </a:r>
            <a:r>
              <a:rPr lang="en-US" b="1" dirty="0" err="1" smtClean="0"/>
              <a:t>tftp</a:t>
            </a:r>
            <a:endParaRPr lang="ar-YE" b="1" dirty="0" smtClean="0"/>
          </a:p>
          <a:p>
            <a:pPr algn="r" rtl="1"/>
            <a:r>
              <a:rPr lang="ar-YE" b="1" u="sng" dirty="0" smtClean="0"/>
              <a:t>مــــــــــــــــلاحظة</a:t>
            </a:r>
            <a:endParaRPr lang="en-US" b="1" u="sng" dirty="0" smtClean="0"/>
          </a:p>
          <a:p>
            <a:pPr algn="r" rtl="1"/>
            <a:r>
              <a:rPr lang="ar-YE" b="1" dirty="0" smtClean="0"/>
              <a:t>الـ </a:t>
            </a:r>
            <a:r>
              <a:rPr lang="en-US" b="1" dirty="0" err="1" smtClean="0"/>
              <a:t>tftp</a:t>
            </a:r>
            <a:r>
              <a:rPr lang="ar-YE" b="1" dirty="0" smtClean="0"/>
              <a:t> هو موجود في الـ </a:t>
            </a:r>
            <a:r>
              <a:rPr lang="en-US" b="1" dirty="0" smtClean="0"/>
              <a:t>server</a:t>
            </a:r>
            <a:r>
              <a:rPr lang="ar-YE" b="1" dirty="0" smtClean="0"/>
              <a:t>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2847824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كيفبة إسترجاع (</a:t>
            </a:r>
            <a:r>
              <a:rPr lang="en-US" b="1" u="sng" dirty="0" smtClean="0"/>
              <a:t>Restore</a:t>
            </a:r>
            <a:r>
              <a:rPr lang="ar-YE" b="1" u="sng" dirty="0" smtClean="0"/>
              <a:t>) للاعدادات من الـ </a:t>
            </a:r>
            <a:r>
              <a:rPr lang="en-US" b="1" u="sng" dirty="0" smtClean="0"/>
              <a:t>NVRAM</a:t>
            </a:r>
            <a:r>
              <a:rPr lang="ar-YE" b="1" u="sng" dirty="0" smtClean="0"/>
              <a:t> الى الـ </a:t>
            </a:r>
            <a:r>
              <a:rPr lang="en-US" b="1" u="sng" dirty="0" smtClean="0"/>
              <a:t>RAM</a:t>
            </a:r>
            <a:r>
              <a:rPr lang="ar-YE" b="1" u="sng" dirty="0" smtClean="0"/>
              <a:t> ؟ </a:t>
            </a:r>
          </a:p>
        </p:txBody>
      </p:sp>
      <p:grpSp>
        <p:nvGrpSpPr>
          <p:cNvPr id="3" name="Group 19"/>
          <p:cNvGrpSpPr/>
          <p:nvPr/>
        </p:nvGrpSpPr>
        <p:grpSpPr>
          <a:xfrm>
            <a:off x="1981200" y="3145808"/>
            <a:ext cx="4876800" cy="587992"/>
            <a:chOff x="2133600" y="1012208"/>
            <a:chExt cx="4876800" cy="587992"/>
          </a:xfrm>
        </p:grpSpPr>
        <p:sp>
          <p:nvSpPr>
            <p:cNvPr id="21" name="Rectangle 20"/>
            <p:cNvSpPr/>
            <p:nvPr/>
          </p:nvSpPr>
          <p:spPr>
            <a:xfrm>
              <a:off x="2133600" y="1143000"/>
              <a:ext cx="10668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91200" y="1143000"/>
              <a:ext cx="1219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chemeClr val="tx1"/>
                  </a:solidFill>
                </a:rPr>
                <a:t>tftp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21" idx="3"/>
              <a:endCxn id="22" idx="1"/>
            </p:cNvCxnSpPr>
            <p:nvPr/>
          </p:nvCxnSpPr>
          <p:spPr>
            <a:xfrm>
              <a:off x="3200400" y="1371600"/>
              <a:ext cx="2590800" cy="158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073856" y="1012208"/>
              <a:ext cx="1045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restore</a:t>
              </a:r>
              <a:endParaRPr lang="en-US" b="1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59392" y="3821668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dirty="0" err="1" smtClean="0"/>
              <a:t>Router#copy</a:t>
            </a:r>
            <a:r>
              <a:rPr lang="en-US" b="1" dirty="0" smtClean="0"/>
              <a:t>  </a:t>
            </a:r>
            <a:r>
              <a:rPr lang="en-US" b="1" dirty="0" err="1" smtClean="0"/>
              <a:t>tftp</a:t>
            </a:r>
            <a:r>
              <a:rPr lang="en-US" b="1" dirty="0" smtClean="0"/>
              <a:t>  run</a:t>
            </a:r>
            <a:endParaRPr lang="ar-YE" b="1" dirty="0" smtClean="0"/>
          </a:p>
        </p:txBody>
      </p:sp>
      <p:grpSp>
        <p:nvGrpSpPr>
          <p:cNvPr id="18" name="Group 19"/>
          <p:cNvGrpSpPr/>
          <p:nvPr/>
        </p:nvGrpSpPr>
        <p:grpSpPr>
          <a:xfrm>
            <a:off x="4267200" y="4165976"/>
            <a:ext cx="4114800" cy="587992"/>
            <a:chOff x="1635967" y="1012208"/>
            <a:chExt cx="5374433" cy="587992"/>
          </a:xfrm>
        </p:grpSpPr>
        <p:sp>
          <p:nvSpPr>
            <p:cNvPr id="20" name="Rectangle 19"/>
            <p:cNvSpPr/>
            <p:nvPr/>
          </p:nvSpPr>
          <p:spPr>
            <a:xfrm>
              <a:off x="1635967" y="1143000"/>
              <a:ext cx="1564433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NVRAM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91200" y="1143000"/>
              <a:ext cx="1219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chemeClr val="tx1"/>
                  </a:solidFill>
                </a:rPr>
                <a:t>tftp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Arrow Connector 26"/>
            <p:cNvCxnSpPr>
              <a:stCxn id="20" idx="3"/>
              <a:endCxn id="26" idx="1"/>
            </p:cNvCxnSpPr>
            <p:nvPr/>
          </p:nvCxnSpPr>
          <p:spPr>
            <a:xfrm>
              <a:off x="3200400" y="1371600"/>
              <a:ext cx="2590800" cy="158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073856" y="1012208"/>
              <a:ext cx="1045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restore</a:t>
              </a:r>
              <a:endParaRPr lang="en-US" b="1" dirty="0"/>
            </a:p>
          </p:txBody>
        </p:sp>
      </p:grpSp>
      <p:grpSp>
        <p:nvGrpSpPr>
          <p:cNvPr id="35" name="Group 14"/>
          <p:cNvGrpSpPr/>
          <p:nvPr/>
        </p:nvGrpSpPr>
        <p:grpSpPr>
          <a:xfrm>
            <a:off x="228600" y="4171664"/>
            <a:ext cx="3886200" cy="587992"/>
            <a:chOff x="1603513" y="1012208"/>
            <a:chExt cx="5406887" cy="587992"/>
          </a:xfrm>
        </p:grpSpPr>
        <p:sp>
          <p:nvSpPr>
            <p:cNvPr id="36" name="Rectangle 35"/>
            <p:cNvSpPr/>
            <p:nvPr/>
          </p:nvSpPr>
          <p:spPr>
            <a:xfrm>
              <a:off x="1603513" y="1143000"/>
              <a:ext cx="1596888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NVRAM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791200" y="1143000"/>
              <a:ext cx="1219200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chemeClr val="tx1"/>
                  </a:solidFill>
                </a:rPr>
                <a:t>tftp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Arrow Connector 37"/>
            <p:cNvCxnSpPr>
              <a:stCxn id="36" idx="3"/>
              <a:endCxn id="37" idx="1"/>
            </p:cNvCxnSpPr>
            <p:nvPr/>
          </p:nvCxnSpPr>
          <p:spPr>
            <a:xfrm>
              <a:off x="3200401" y="1371600"/>
              <a:ext cx="2590799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4073856" y="101220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Copy</a:t>
              </a:r>
              <a:endParaRPr lang="en-US" b="1" dirty="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228601" y="4876800"/>
            <a:ext cx="38862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dirty="0" err="1" smtClean="0"/>
              <a:t>Router#copy</a:t>
            </a:r>
            <a:r>
              <a:rPr lang="en-US" b="1" dirty="0" smtClean="0"/>
              <a:t>  start  </a:t>
            </a:r>
            <a:r>
              <a:rPr lang="en-US" b="1" dirty="0" err="1" smtClean="0"/>
              <a:t>tftp</a:t>
            </a:r>
            <a:endParaRPr lang="ar-YE" b="1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4267200" y="4876800"/>
            <a:ext cx="41148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dirty="0" err="1" smtClean="0"/>
              <a:t>Router#copy</a:t>
            </a:r>
            <a:r>
              <a:rPr lang="en-US" b="1" dirty="0" smtClean="0"/>
              <a:t>  </a:t>
            </a:r>
            <a:r>
              <a:rPr lang="en-US" b="1" dirty="0" err="1" smtClean="0"/>
              <a:t>tftp</a:t>
            </a:r>
            <a:r>
              <a:rPr lang="en-US" b="1" dirty="0" smtClean="0"/>
              <a:t>  start</a:t>
            </a:r>
            <a:endParaRPr lang="ar-YE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example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صمم شبكة كما في الشكل التالي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7" name="Picture 6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20162"/>
            <a:ext cx="8077200" cy="3356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example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u="sng" dirty="0" err="1" smtClean="0"/>
              <a:t>FastEthernet</a:t>
            </a:r>
            <a:r>
              <a:rPr lang="en-US" b="1" u="sng" dirty="0" smtClean="0"/>
              <a:t> 0/0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 # interface </a:t>
            </a:r>
            <a:r>
              <a:rPr lang="en-US" b="1" dirty="0" err="1" smtClean="0"/>
              <a:t>fastethernet</a:t>
            </a:r>
            <a:r>
              <a:rPr lang="en-US" b="1" dirty="0" smtClean="0"/>
              <a:t> 0/0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 # 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192.168.1.1 255.255.255.0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 exit </a:t>
            </a:r>
            <a:endParaRPr lang="ar-YE" b="1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016597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u="sng" dirty="0" err="1" smtClean="0"/>
              <a:t>FastEthernet</a:t>
            </a:r>
            <a:r>
              <a:rPr lang="en-US" b="1" u="sng" dirty="0" smtClean="0"/>
              <a:t> 0/1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 # interface </a:t>
            </a:r>
            <a:r>
              <a:rPr lang="en-US" b="1" dirty="0" err="1" smtClean="0"/>
              <a:t>fastethernet</a:t>
            </a:r>
            <a:r>
              <a:rPr lang="en-US" b="1" dirty="0" smtClean="0"/>
              <a:t> 0/1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 # 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192.168.2.1 255.255.255.0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 exit </a:t>
            </a:r>
            <a:endParaRPr lang="ar-YE" b="1" dirty="0" smtClean="0"/>
          </a:p>
        </p:txBody>
      </p:sp>
      <p:pic>
        <p:nvPicPr>
          <p:cNvPr id="10" name="Picture 9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4" y="3810001"/>
            <a:ext cx="6607533" cy="2743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0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example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68736"/>
            <a:ext cx="80165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ar-YE" b="1" u="sng" dirty="0" smtClean="0"/>
              <a:t>صمم شبكة كما في الشكل التالي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7" name="Picture 6" descr="Help Commands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43" y="1143000"/>
            <a:ext cx="6578714" cy="5321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533400" y="-150128"/>
            <a:ext cx="7696200" cy="533400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spcBef>
                <a:spcPct val="0"/>
              </a:spcBef>
            </a:pPr>
            <a:r>
              <a:rPr lang="en-US" sz="2400" b="1" cap="all" dirty="0" smtClean="0">
                <a:ln/>
                <a:solidFill>
                  <a:sysClr val="windowText" lastClr="00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example</a:t>
            </a:r>
            <a:endParaRPr kumimoji="0" lang="en-US" sz="2400" b="1" i="0" strike="noStrike" kern="1200" cap="all" normalizeH="0" baseline="0" noProof="0" dirty="0">
              <a:ln/>
              <a:solidFill>
                <a:sysClr val="windowText" lastClr="00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48016"/>
            <a:ext cx="8016597" cy="3139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u="sng" dirty="0" smtClean="0"/>
              <a:t>Router(0) : Serial 0/0/0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)#interface serial 0/0/0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10.0.0.2 255.0.0.0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-if)#clock rate 64000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-if)#exit</a:t>
            </a:r>
            <a:endParaRPr lang="en-US" b="1" dirty="0" smtClean="0"/>
          </a:p>
          <a:p>
            <a:pPr rtl="1"/>
            <a:r>
              <a:rPr lang="en-US" b="1" u="sng" dirty="0" err="1" smtClean="0"/>
              <a:t>FastEthernet</a:t>
            </a:r>
            <a:r>
              <a:rPr lang="en-US" b="1" u="sng" dirty="0" smtClean="0"/>
              <a:t> </a:t>
            </a:r>
            <a:r>
              <a:rPr lang="en-US" b="1" u="sng" dirty="0" smtClean="0"/>
              <a:t>0/0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 # interface </a:t>
            </a:r>
            <a:r>
              <a:rPr lang="en-US" b="1" dirty="0" err="1" smtClean="0"/>
              <a:t>fastethernet</a:t>
            </a:r>
            <a:r>
              <a:rPr lang="en-US" b="1" dirty="0" smtClean="0"/>
              <a:t> 0/0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 # 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</a:t>
            </a:r>
            <a:r>
              <a:rPr lang="en-US" b="1" dirty="0" smtClean="0"/>
              <a:t>172.16.0.1 255.255.0.0</a:t>
            </a:r>
            <a:endParaRPr lang="en-US" b="1" dirty="0" smtClean="0"/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 exit </a:t>
            </a:r>
            <a:endParaRPr lang="ar-YE" b="1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6440269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ar-YE" b="1" cap="all" dirty="0" smtClean="0">
                <a:ln w="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أ.حسن عبدالرقيب أسعد</a:t>
            </a:r>
            <a:endParaRPr lang="en-US" b="1" cap="all" dirty="0" smtClean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r"/>
            <a:endParaRPr lang="en-US" b="1" cap="all" dirty="0">
              <a:ln w="0">
                <a:solidFill>
                  <a:schemeClr val="tx1">
                    <a:lumMod val="95000"/>
                    <a:lumOff val="5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536" y="3603008"/>
            <a:ext cx="8016597" cy="2862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1"/>
            <a:r>
              <a:rPr lang="en-US" b="1" u="sng" dirty="0" smtClean="0"/>
              <a:t>Router(1) : Serial </a:t>
            </a:r>
            <a:r>
              <a:rPr lang="en-US" b="1" u="sng" dirty="0" smtClean="0"/>
              <a:t>0/0/0 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)#interface serial 0/0/0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10.0.0.1 255.0.0.0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</a:t>
            </a:r>
            <a:r>
              <a:rPr lang="en-US" b="1" dirty="0" smtClean="0"/>
              <a:t>)#no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smtClean="0"/>
              <a:t>exit</a:t>
            </a:r>
            <a:endParaRPr lang="en-US" b="1" u="sng" dirty="0" smtClean="0"/>
          </a:p>
          <a:p>
            <a:pPr rtl="1"/>
            <a:r>
              <a:rPr lang="en-US" b="1" u="sng" dirty="0" err="1" smtClean="0"/>
              <a:t>FastEthernet</a:t>
            </a:r>
            <a:r>
              <a:rPr lang="en-US" b="1" u="sng" dirty="0" smtClean="0"/>
              <a:t> 0/0 </a:t>
            </a:r>
            <a:r>
              <a:rPr lang="en-US" b="1" u="sng" dirty="0" smtClean="0"/>
              <a:t>: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) # interface </a:t>
            </a:r>
            <a:r>
              <a:rPr lang="en-US" b="1" dirty="0" err="1" smtClean="0"/>
              <a:t>fastethernet</a:t>
            </a:r>
            <a:r>
              <a:rPr lang="en-US" b="1" dirty="0" smtClean="0"/>
              <a:t> 0/1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 # no shutdown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</a:t>
            </a:r>
            <a:r>
              <a:rPr lang="en-US" b="1" dirty="0" err="1" smtClean="0"/>
              <a:t>ip</a:t>
            </a:r>
            <a:r>
              <a:rPr lang="en-US" b="1" dirty="0" smtClean="0"/>
              <a:t> address </a:t>
            </a:r>
            <a:r>
              <a:rPr lang="en-US" b="1" dirty="0" smtClean="0"/>
              <a:t>192.168.0.1 </a:t>
            </a:r>
            <a:r>
              <a:rPr lang="en-US" b="1" dirty="0" smtClean="0"/>
              <a:t>255.255.255.0</a:t>
            </a:r>
          </a:p>
          <a:p>
            <a:pPr rtl="1"/>
            <a:r>
              <a:rPr lang="en-US" b="1" dirty="0" smtClean="0"/>
              <a:t>Router(</a:t>
            </a:r>
            <a:r>
              <a:rPr lang="en-US" b="1" dirty="0" err="1" smtClean="0"/>
              <a:t>config</a:t>
            </a:r>
            <a:r>
              <a:rPr lang="en-US" b="1" dirty="0" smtClean="0"/>
              <a:t>-if)# exit </a:t>
            </a:r>
            <a:endParaRPr lang="ar-YE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21619</TotalTime>
  <Words>2673</Words>
  <Application>Microsoft Office PowerPoint</Application>
  <PresentationFormat>On-screen Show (4:3)</PresentationFormat>
  <Paragraphs>562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Oriel</vt:lpstr>
      <vt:lpstr>Router</vt:lpstr>
      <vt:lpstr> Router Modul 1</vt:lpstr>
      <vt:lpstr>Router &amp; Ports</vt:lpstr>
      <vt:lpstr>Routers &amp; Ports</vt:lpstr>
      <vt:lpstr>Routers &amp; Ports</vt:lpstr>
      <vt:lpstr>Routers Ports</vt:lpstr>
      <vt:lpstr>Number Ethernet ports in router</vt:lpstr>
      <vt:lpstr>Number Ethernet ports in router</vt:lpstr>
      <vt:lpstr>Number Ethernet ports in router</vt:lpstr>
      <vt:lpstr>Serial ports</vt:lpstr>
      <vt:lpstr>Serial ports</vt:lpstr>
      <vt:lpstr>Serial ports</vt:lpstr>
      <vt:lpstr>DCE/DTE Cable</vt:lpstr>
      <vt:lpstr>Router  Internal configurations</vt:lpstr>
      <vt:lpstr>Router Internal configurations</vt:lpstr>
      <vt:lpstr>Router Internal configurations</vt:lpstr>
      <vt:lpstr>Router Internal configurations</vt:lpstr>
      <vt:lpstr>Router Internal configurations</vt:lpstr>
      <vt:lpstr>Example (Packet Buffring)</vt:lpstr>
      <vt:lpstr>Router Internal configurations</vt:lpstr>
      <vt:lpstr>Router Internal configurations</vt:lpstr>
      <vt:lpstr>Router Internal configurations</vt:lpstr>
      <vt:lpstr>Router Internal configurations</vt:lpstr>
      <vt:lpstr>Router Internal configurations</vt:lpstr>
      <vt:lpstr>Router Internal configurations</vt:lpstr>
      <vt:lpstr>Router Internal configurations</vt:lpstr>
      <vt:lpstr>Router Internal configurations</vt:lpstr>
      <vt:lpstr>Router Internal configurations</vt:lpstr>
      <vt:lpstr>Router</vt:lpstr>
      <vt:lpstr> Router Modul 1</vt:lpstr>
      <vt:lpstr>Router &amp; Ports</vt:lpstr>
      <vt:lpstr>Slide 32</vt:lpstr>
      <vt:lpstr>Slide 33</vt:lpstr>
      <vt:lpstr>Slide 34</vt:lpstr>
      <vt:lpstr>Slide 35</vt:lpstr>
      <vt:lpstr>Router Modes</vt:lpstr>
      <vt:lpstr>Slide 37</vt:lpstr>
      <vt:lpstr>Slide 38</vt:lpstr>
      <vt:lpstr>Slide 39</vt:lpstr>
      <vt:lpstr>Basic commands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</dc:title>
  <dc:creator>HASAN</dc:creator>
  <cp:lastModifiedBy>HASAN</cp:lastModifiedBy>
  <cp:revision>940</cp:revision>
  <dcterms:created xsi:type="dcterms:W3CDTF">2012-10-01T13:57:26Z</dcterms:created>
  <dcterms:modified xsi:type="dcterms:W3CDTF">2012-11-17T16:53:50Z</dcterms:modified>
</cp:coreProperties>
</file>