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67" r:id="rId4"/>
    <p:sldId id="289" r:id="rId5"/>
    <p:sldId id="268" r:id="rId6"/>
    <p:sldId id="280" r:id="rId7"/>
    <p:sldId id="281" r:id="rId8"/>
    <p:sldId id="282" r:id="rId9"/>
    <p:sldId id="290" r:id="rId10"/>
    <p:sldId id="291" r:id="rId11"/>
    <p:sldId id="283" r:id="rId12"/>
    <p:sldId id="284" r:id="rId13"/>
    <p:sldId id="285" r:id="rId14"/>
    <p:sldId id="286" r:id="rId15"/>
    <p:sldId id="287" r:id="rId16"/>
    <p:sldId id="288" r:id="rId17"/>
    <p:sldId id="296" r:id="rId18"/>
    <p:sldId id="292" r:id="rId19"/>
    <p:sldId id="293" r:id="rId20"/>
    <p:sldId id="297" r:id="rId21"/>
    <p:sldId id="294" r:id="rId22"/>
    <p:sldId id="295" r:id="rId23"/>
  </p:sldIdLst>
  <p:sldSz cx="9144000" cy="6858000" type="screen4x3"/>
  <p:notesSz cx="6858000" cy="9144000"/>
  <p:defaultTextStyle>
    <a:defPPr>
      <a:defRPr lang="ar-Y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4409" autoAdjust="0"/>
    <p:restoredTop sz="94576" autoAdjust="0"/>
  </p:normalViewPr>
  <p:slideViewPr>
    <p:cSldViewPr>
      <p:cViewPr>
        <p:scale>
          <a:sx n="70" d="100"/>
          <a:sy n="70" d="100"/>
        </p:scale>
        <p:origin x="-1158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C474917-7105-4C25-A512-6E026823641C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Y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67578C4-2301-45C3-B774-BE11507FB602}" type="slidenum">
              <a:rPr lang="ar-YE" smtClean="0"/>
              <a:pPr/>
              <a:t>‹#›</a:t>
            </a:fld>
            <a:endParaRPr lang="ar-Y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Y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  <a:alpha val="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Y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Y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B363-0EF1-473D-BA50-BD5C825620BB}" type="datetimeFigureOut">
              <a:rPr lang="ar-YE" smtClean="0"/>
              <a:pPr/>
              <a:t>01/04/1433</a:t>
            </a:fld>
            <a:endParaRPr lang="ar-Y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Y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59EC4-6BF5-4569-AB0E-15C3940B0298}" type="slidenum">
              <a:rPr lang="ar-YE" smtClean="0"/>
              <a:pPr/>
              <a:t>‹#›</a:t>
            </a:fld>
            <a:endParaRPr lang="ar-Y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Y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sz="6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Ip address</a:t>
            </a:r>
            <a:br>
              <a:rPr lang="en-US" sz="6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</a:b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(Internet protocol)</a:t>
            </a:r>
            <a:b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</a:b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chapter 6</a:t>
            </a:r>
            <a:endParaRPr lang="ar-YE" sz="6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T.HASAN ABDULRAQIB ASAAD</a:t>
            </a:r>
          </a:p>
          <a:p>
            <a:endParaRPr lang="ar-YE" sz="24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IP Address (Internet Protocol)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YE" sz="2000" b="1" u="sng" dirty="0" smtClean="0">
                <a:solidFill>
                  <a:srgbClr val="C00000"/>
                </a:solidFill>
              </a:rPr>
              <a:t>* ما هو الـ </a:t>
            </a:r>
            <a:r>
              <a:rPr lang="en-US" sz="2000" b="1" u="sng" dirty="0" smtClean="0">
                <a:solidFill>
                  <a:srgbClr val="C00000"/>
                </a:solidFill>
              </a:rPr>
              <a:t>IP Address</a:t>
            </a:r>
            <a:r>
              <a:rPr lang="ar-YE" sz="2000" b="1" u="sng" dirty="0" smtClean="0">
                <a:solidFill>
                  <a:srgbClr val="C00000"/>
                </a:solidFill>
              </a:rPr>
              <a:t>: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هو عبارة عن بروتوكول يقوم باعطاء عنوان وحيد لكل جهاز متصل بالشبكة .</a:t>
            </a:r>
          </a:p>
          <a:p>
            <a:pPr marL="0" indent="0" algn="r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ويتكون من نسختين وهما (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IPV4,IPV6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حيث أن المستخدم حالياَ هو (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IPV4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اما الـ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IPV6 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فهو للمستقبل .</a:t>
            </a:r>
          </a:p>
          <a:p>
            <a:pPr marL="0" indent="0">
              <a:buNone/>
            </a:pP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يتكون </a:t>
            </a:r>
            <a:r>
              <a:rPr 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IPV4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من اربع خانات تسمى (</a:t>
            </a:r>
            <a:r>
              <a:rPr lang="en-US" sz="1800" b="1" dirty="0" smtClean="0"/>
              <a:t>:</a:t>
            </a:r>
            <a:r>
              <a:rPr lang="en-US" sz="1800" b="1" u="sng" dirty="0" smtClean="0"/>
              <a:t>Byte</a:t>
            </a:r>
            <a:r>
              <a:rPr lang="en-US" sz="1800" b="1" dirty="0" smtClean="0"/>
              <a:t> </a:t>
            </a:r>
            <a:r>
              <a:rPr lang="ar-YE" sz="1800" b="1" dirty="0" smtClean="0"/>
              <a:t>و يتكون من 8 </a:t>
            </a:r>
            <a:r>
              <a:rPr lang="en-US" sz="1800" b="1" dirty="0" smtClean="0"/>
              <a:t>bit </a:t>
            </a:r>
            <a:r>
              <a:rPr lang="ar-YE" sz="1800" b="1" dirty="0" smtClean="0"/>
              <a:t>و يطلق عليه أحيانا </a:t>
            </a:r>
            <a:r>
              <a:rPr lang="en-US" sz="1800" b="1" u="sng" dirty="0" smtClean="0"/>
              <a:t>Octet</a:t>
            </a:r>
            <a:r>
              <a:rPr lang="ar-YE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 وتحتوي كل </a:t>
            </a:r>
            <a:r>
              <a:rPr lang="en-US" sz="1800" b="1" dirty="0" smtClean="0"/>
              <a:t>Byte </a:t>
            </a:r>
            <a:r>
              <a:rPr lang="ar-YE" sz="1800" b="1" dirty="0" smtClean="0"/>
              <a:t> على ثمان (</a:t>
            </a:r>
            <a:r>
              <a:rPr lang="en-US" sz="1800" b="1" u="sng" dirty="0" smtClean="0"/>
              <a:t>Bit</a:t>
            </a:r>
            <a:r>
              <a:rPr lang="en-US" sz="1800" b="1" dirty="0" smtClean="0"/>
              <a:t> </a:t>
            </a:r>
            <a:r>
              <a:rPr lang="ar-YE" sz="1800" b="1" dirty="0" smtClean="0"/>
              <a:t>:و هو عبارة عن رقم و له قيمة 1 أو صفر).</a:t>
            </a: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r">
              <a:buNone/>
            </a:pPr>
            <a:endParaRPr lang="ar-YE" sz="1800" b="1" u="sng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28800" y="374396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255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255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255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255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>
          <a:xfrm>
            <a:off x="5486400" y="2743200"/>
            <a:ext cx="2286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>
            <a:off x="1905000" y="2743200"/>
            <a:ext cx="2286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95800" y="2514600"/>
            <a:ext cx="838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32 Bits</a:t>
            </a:r>
            <a:endParaRPr lang="ar-YE" b="1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828800" y="28956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Host</a:t>
                      </a:r>
                      <a:endParaRPr lang="ar-YE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Network</a:t>
                      </a:r>
                      <a:endParaRPr lang="ar-YE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828800" y="45720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11111111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11111111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11111111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11111111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1828800" y="4963180"/>
            <a:ext cx="6172200" cy="294620"/>
            <a:chOff x="1828800" y="4462790"/>
            <a:chExt cx="6172200" cy="294620"/>
          </a:xfrm>
        </p:grpSpPr>
        <p:sp>
          <p:nvSpPr>
            <p:cNvPr id="13" name="TextBox 12"/>
            <p:cNvSpPr txBox="1"/>
            <p:nvPr/>
          </p:nvSpPr>
          <p:spPr>
            <a:xfrm>
              <a:off x="1828800" y="4462790"/>
              <a:ext cx="1600200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/>
              <a:r>
                <a:rPr lang="en-US" sz="1100" b="1" dirty="0" smtClean="0"/>
                <a:t>128/64/32/16/8/4/2/1</a:t>
              </a:r>
              <a:endParaRPr lang="ar-YE" sz="1100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52800" y="4495800"/>
              <a:ext cx="1600200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/>
              <a:r>
                <a:rPr lang="en-US" sz="1100" b="1" dirty="0" smtClean="0"/>
                <a:t>128/64/32/16/8/4/2/1</a:t>
              </a:r>
              <a:endParaRPr lang="ar-YE" sz="1100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76800" y="4495800"/>
              <a:ext cx="1600200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/>
              <a:r>
                <a:rPr lang="en-US" sz="1100" b="1" dirty="0" smtClean="0"/>
                <a:t>128/64/32/16/8/4/2/1</a:t>
              </a:r>
              <a:endParaRPr lang="ar-YE" sz="1100" b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0800" y="4495800"/>
              <a:ext cx="1600200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/>
              <a:r>
                <a:rPr lang="en-US" sz="1100" b="1" dirty="0" smtClean="0"/>
                <a:t>128/64/32/16/8/4/2/1</a:t>
              </a:r>
              <a:endParaRPr lang="ar-YE" sz="1100" b="1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981200" y="4191000"/>
            <a:ext cx="5791200" cy="369332"/>
            <a:chOff x="1981200" y="4191000"/>
            <a:chExt cx="5791200" cy="369332"/>
          </a:xfrm>
        </p:grpSpPr>
        <p:sp>
          <p:nvSpPr>
            <p:cNvPr id="33" name="TextBox 32"/>
            <p:cNvSpPr txBox="1"/>
            <p:nvPr/>
          </p:nvSpPr>
          <p:spPr>
            <a:xfrm>
              <a:off x="19812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29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53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77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981200" y="3288268"/>
            <a:ext cx="5791200" cy="369332"/>
            <a:chOff x="1981200" y="4191000"/>
            <a:chExt cx="5791200" cy="369332"/>
          </a:xfrm>
        </p:grpSpPr>
        <p:sp>
          <p:nvSpPr>
            <p:cNvPr id="39" name="TextBox 38"/>
            <p:cNvSpPr txBox="1"/>
            <p:nvPr/>
          </p:nvSpPr>
          <p:spPr>
            <a:xfrm>
              <a:off x="19812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1Byte</a:t>
              </a:r>
              <a:endParaRPr lang="ar-YE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29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1Byte</a:t>
              </a:r>
              <a:endParaRPr lang="ar-YE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953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1Byte</a:t>
              </a:r>
              <a:endParaRPr lang="ar-YE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77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1Byte</a:t>
              </a:r>
              <a:endParaRPr lang="ar-YE" b="1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85800" y="373380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Decimal</a:t>
            </a:r>
            <a:endParaRPr lang="ar-YE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685800" y="457200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Binary</a:t>
            </a:r>
            <a:endParaRPr lang="ar-YE" b="1" dirty="0"/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828800" y="58674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11001100س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01111010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00010000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10101100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1828800" y="54102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204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122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16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YE" b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172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457200" y="5334000"/>
            <a:ext cx="7620000" cy="1066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YE"/>
          </a:p>
        </p:txBody>
      </p:sp>
      <p:sp>
        <p:nvSpPr>
          <p:cNvPr id="48" name="TextBox 47"/>
          <p:cNvSpPr txBox="1"/>
          <p:nvPr/>
        </p:nvSpPr>
        <p:spPr>
          <a:xfrm>
            <a:off x="609600" y="563880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Example</a:t>
            </a:r>
            <a:endParaRPr lang="ar-YE" b="1" dirty="0"/>
          </a:p>
        </p:txBody>
      </p:sp>
      <p:sp>
        <p:nvSpPr>
          <p:cNvPr id="49" name="Rectangle 48"/>
          <p:cNvSpPr/>
          <p:nvPr/>
        </p:nvSpPr>
        <p:spPr>
          <a:xfrm>
            <a:off x="457200" y="3657600"/>
            <a:ext cx="7620000" cy="16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Y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IP Address Classes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400" y="1219200"/>
            <a:ext cx="800100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IP Address Classes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33600" y="12954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Host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Host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Host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Network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90600" y="128524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Class A</a:t>
            </a:r>
            <a:endParaRPr lang="ar-YE" b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2209800" y="914400"/>
            <a:ext cx="5791200" cy="369332"/>
            <a:chOff x="1981200" y="4191000"/>
            <a:chExt cx="5791200" cy="369332"/>
          </a:xfrm>
        </p:grpSpPr>
        <p:sp>
          <p:nvSpPr>
            <p:cNvPr id="13" name="TextBox 12"/>
            <p:cNvSpPr txBox="1"/>
            <p:nvPr/>
          </p:nvSpPr>
          <p:spPr>
            <a:xfrm>
              <a:off x="19812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29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53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77000" y="4191000"/>
              <a:ext cx="12954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b="1" dirty="0" smtClean="0"/>
                <a:t>8Bits</a:t>
              </a:r>
              <a:endParaRPr lang="ar-YE" b="1" dirty="0"/>
            </a:p>
          </p:txBody>
        </p:sp>
      </p:grp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133600" y="18288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Host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Host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Network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Network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90600" y="181864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Class B</a:t>
            </a:r>
            <a:endParaRPr lang="ar-YE" b="1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133600" y="23622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Host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Network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Network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Network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90600" y="235204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Class C</a:t>
            </a:r>
            <a:endParaRPr lang="ar-YE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990600" y="289560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Class D</a:t>
            </a:r>
            <a:endParaRPr lang="ar-YE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90600" y="3429000"/>
            <a:ext cx="10229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Class E</a:t>
            </a:r>
            <a:endParaRPr lang="ar-YE" b="1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133600" y="28956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6096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Multicast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133600" y="34290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6096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Research</a:t>
                      </a:r>
                      <a:endParaRPr lang="ar-YE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066800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Priority Bit Concept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400" y="990600"/>
            <a:ext cx="8001000" cy="495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Class A Nomber of Networks &amp; Host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33400" y="990600"/>
            <a:ext cx="8077200" cy="480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Class B Nomber of Networks &amp; Host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400"/>
            <a:ext cx="8077200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Class C Nomber of Networks &amp; Host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09600" y="914400"/>
            <a:ext cx="8001000" cy="434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Octet Format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04800" y="975360"/>
          <a:ext cx="8534400" cy="5425440"/>
        </p:xfrm>
        <a:graphic>
          <a:graphicData uri="http://schemas.openxmlformats.org/drawingml/2006/table">
            <a:tbl>
              <a:tblPr rtl="1" firstRow="1" bandRow="1">
                <a:tableStyleId>{D7AC3CCA-C797-4891-BE02-D94E43425B78}</a:tableStyleId>
              </a:tblPr>
              <a:tblGrid>
                <a:gridCol w="2082420"/>
                <a:gridCol w="1423918"/>
                <a:gridCol w="1680948"/>
                <a:gridCol w="1264694"/>
                <a:gridCol w="1056564"/>
                <a:gridCol w="1025856"/>
              </a:tblGrid>
              <a:tr h="598714"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Networks and Hosts per Network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Default</a:t>
                      </a:r>
                      <a:r>
                        <a:rPr lang="en-US" sz="1600" baseline="0" dirty="0" smtClean="0"/>
                        <a:t> Subnet mask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Network (N) and Host (H) part of address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Binary</a:t>
                      </a:r>
                      <a:r>
                        <a:rPr lang="en-US" sz="1600" baseline="0" dirty="0" smtClean="0"/>
                        <a:t> Range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Decimal</a:t>
                      </a:r>
                      <a:endParaRPr lang="ar-YE" sz="1600" dirty="0" smtClean="0"/>
                    </a:p>
                    <a:p>
                      <a:pPr algn="ctr" rtl="1"/>
                      <a:r>
                        <a:rPr lang="en-US" sz="1600" dirty="0" smtClean="0"/>
                        <a:t>Range</a:t>
                      </a:r>
                      <a:endParaRPr lang="ar-Y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 smtClean="0"/>
                        <a:t>Address</a:t>
                      </a:r>
                      <a:r>
                        <a:rPr lang="en-US" sz="1600" baseline="0" dirty="0" smtClean="0"/>
                        <a:t> Class</a:t>
                      </a:r>
                      <a:endParaRPr lang="ar-YE" sz="1600" dirty="0"/>
                    </a:p>
                  </a:txBody>
                  <a:tcPr/>
                </a:tc>
              </a:tr>
              <a:tr h="598714"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N:2^8-1-2=126</a:t>
                      </a:r>
                    </a:p>
                    <a:p>
                      <a:pPr algn="ctr" rtl="1"/>
                      <a:endParaRPr lang="en-US" sz="1600" b="1" dirty="0" smtClean="0"/>
                    </a:p>
                    <a:p>
                      <a:pPr algn="ctr" rtl="1"/>
                      <a:r>
                        <a:rPr lang="en-US" sz="1600" b="1" dirty="0" smtClean="0"/>
                        <a:t>H:2 ^24-2=16,777,214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255</a:t>
                      </a:r>
                      <a:r>
                        <a:rPr lang="en-US" sz="1600" b="1" u="none" dirty="0" smtClean="0"/>
                        <a:t>.0.0.0</a:t>
                      </a:r>
                      <a:endParaRPr lang="ar-YE" sz="16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N</a:t>
                      </a:r>
                      <a:r>
                        <a:rPr lang="en-US" sz="1600" b="1" dirty="0" smtClean="0"/>
                        <a:t>.H.H.H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kern="1200" dirty="0" smtClean="0"/>
                        <a:t>0</a:t>
                      </a:r>
                      <a:r>
                        <a:rPr lang="en-US" sz="1600" b="1" dirty="0" smtClean="0"/>
                        <a:t>0000000</a:t>
                      </a:r>
                    </a:p>
                    <a:p>
                      <a:pPr algn="ctr" rtl="1"/>
                      <a:r>
                        <a:rPr lang="en-US" sz="1600" b="1" dirty="0" smtClean="0"/>
                        <a:t>-</a:t>
                      </a:r>
                    </a:p>
                    <a:p>
                      <a:pPr algn="ctr" rtl="1"/>
                      <a:r>
                        <a:rPr lang="en-US" sz="1600" b="1" u="sng" dirty="0" smtClean="0"/>
                        <a:t>0</a:t>
                      </a:r>
                      <a:r>
                        <a:rPr lang="en-US" sz="1600" b="1" u="none" dirty="0" smtClean="0"/>
                        <a:t>1111111</a:t>
                      </a:r>
                      <a:endParaRPr lang="ar-YE" sz="1600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1-127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A</a:t>
                      </a:r>
                      <a:endParaRPr lang="ar-YE" sz="1600" b="1" dirty="0"/>
                    </a:p>
                  </a:txBody>
                  <a:tcPr/>
                </a:tc>
              </a:tr>
              <a:tr h="598714"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 N:2^16-2=16,382</a:t>
                      </a:r>
                    </a:p>
                    <a:p>
                      <a:pPr algn="ctr" rtl="1"/>
                      <a:endParaRPr lang="en-US" sz="1600" b="1" dirty="0" smtClean="0"/>
                    </a:p>
                    <a:p>
                      <a:pPr algn="ctr" rtl="1"/>
                      <a:r>
                        <a:rPr lang="en-US" sz="1600" b="1" dirty="0" smtClean="0"/>
                        <a:t>H:2^16-2=65,532</a:t>
                      </a:r>
                      <a:endParaRPr lang="ar-YE" sz="1600" b="1" dirty="0" smtClean="0"/>
                    </a:p>
                    <a:p>
                      <a:pPr algn="ctr" rtl="1"/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255</a:t>
                      </a:r>
                      <a:r>
                        <a:rPr lang="en-US" sz="1600" b="1" u="none" dirty="0" smtClean="0"/>
                        <a:t>.</a:t>
                      </a:r>
                      <a:r>
                        <a:rPr lang="en-US" sz="1600" b="1" u="sng" dirty="0" smtClean="0"/>
                        <a:t>255</a:t>
                      </a:r>
                      <a:r>
                        <a:rPr lang="en-US" sz="1600" b="1" u="none" dirty="0" smtClean="0"/>
                        <a:t>.0.0</a:t>
                      </a:r>
                      <a:endParaRPr lang="ar-YE" sz="16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N</a:t>
                      </a:r>
                      <a:r>
                        <a:rPr lang="en-US" sz="1600" b="1" dirty="0" smtClean="0"/>
                        <a:t>.</a:t>
                      </a:r>
                      <a:r>
                        <a:rPr lang="en-US" sz="1600" b="1" u="sng" dirty="0" smtClean="0"/>
                        <a:t>N</a:t>
                      </a:r>
                      <a:r>
                        <a:rPr lang="en-US" sz="1600" b="1" dirty="0" smtClean="0"/>
                        <a:t>.H.H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10</a:t>
                      </a:r>
                      <a:r>
                        <a:rPr lang="en-US" sz="1600" b="1" dirty="0" smtClean="0"/>
                        <a:t>000000</a:t>
                      </a:r>
                    </a:p>
                    <a:p>
                      <a:pPr algn="ctr" rtl="1"/>
                      <a:r>
                        <a:rPr lang="en-US" sz="1600" b="1" dirty="0" smtClean="0"/>
                        <a:t>-</a:t>
                      </a:r>
                    </a:p>
                    <a:p>
                      <a:pPr algn="ctr" rtl="1"/>
                      <a:r>
                        <a:rPr lang="en-US" sz="1600" b="1" u="sng" dirty="0" smtClean="0"/>
                        <a:t>10</a:t>
                      </a:r>
                      <a:r>
                        <a:rPr lang="en-US" sz="1600" b="1" dirty="0" smtClean="0"/>
                        <a:t>111111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128-191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B</a:t>
                      </a:r>
                      <a:endParaRPr lang="ar-YE" sz="1600" b="1" dirty="0"/>
                    </a:p>
                  </a:txBody>
                  <a:tcPr/>
                </a:tc>
              </a:tr>
              <a:tr h="598714"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 N:2^24-3=2,097,150</a:t>
                      </a:r>
                    </a:p>
                    <a:p>
                      <a:pPr algn="ctr" rtl="1"/>
                      <a:endParaRPr lang="en-US" sz="1600" b="1" dirty="0" smtClean="0"/>
                    </a:p>
                    <a:p>
                      <a:pPr algn="ctr" rtl="1"/>
                      <a:r>
                        <a:rPr lang="en-US" sz="1600" b="1" dirty="0" smtClean="0"/>
                        <a:t>H:2^8-2=254</a:t>
                      </a:r>
                      <a:endParaRPr lang="ar-YE" sz="1600" b="1" dirty="0" smtClean="0"/>
                    </a:p>
                    <a:p>
                      <a:pPr algn="ctr" rtl="1"/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255</a:t>
                      </a:r>
                      <a:r>
                        <a:rPr lang="en-US" sz="1600" b="1" u="none" dirty="0" smtClean="0"/>
                        <a:t>.</a:t>
                      </a:r>
                      <a:r>
                        <a:rPr lang="en-US" sz="1600" b="1" u="sng" dirty="0" smtClean="0"/>
                        <a:t>255</a:t>
                      </a:r>
                      <a:r>
                        <a:rPr lang="en-US" sz="1600" b="1" u="none" dirty="0" smtClean="0"/>
                        <a:t>.</a:t>
                      </a:r>
                      <a:r>
                        <a:rPr lang="en-US" sz="1600" b="1" u="sng" dirty="0" smtClean="0"/>
                        <a:t>255</a:t>
                      </a:r>
                      <a:r>
                        <a:rPr lang="en-US" sz="1600" b="1" u="none" dirty="0" smtClean="0"/>
                        <a:t>.0</a:t>
                      </a:r>
                      <a:endParaRPr lang="ar-YE" sz="16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N</a:t>
                      </a:r>
                      <a:r>
                        <a:rPr lang="en-US" sz="1600" b="1" dirty="0" smtClean="0"/>
                        <a:t>.</a:t>
                      </a:r>
                      <a:r>
                        <a:rPr lang="en-US" sz="1600" b="1" u="sng" dirty="0" smtClean="0"/>
                        <a:t>N</a:t>
                      </a:r>
                      <a:r>
                        <a:rPr lang="en-US" sz="1600" b="1" dirty="0" smtClean="0"/>
                        <a:t>.</a:t>
                      </a:r>
                      <a:r>
                        <a:rPr lang="en-US" sz="1600" b="1" u="sng" dirty="0" smtClean="0"/>
                        <a:t>N</a:t>
                      </a:r>
                      <a:r>
                        <a:rPr lang="en-US" sz="1600" b="1" dirty="0" smtClean="0"/>
                        <a:t>.H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110</a:t>
                      </a:r>
                      <a:r>
                        <a:rPr lang="en-US" sz="1600" b="1" dirty="0" smtClean="0"/>
                        <a:t>00000</a:t>
                      </a:r>
                    </a:p>
                    <a:p>
                      <a:pPr algn="ctr" rtl="1"/>
                      <a:r>
                        <a:rPr lang="en-US" sz="1600" b="1" dirty="0" smtClean="0"/>
                        <a:t>-</a:t>
                      </a:r>
                    </a:p>
                    <a:p>
                      <a:pPr algn="ctr" rtl="1"/>
                      <a:r>
                        <a:rPr lang="en-US" sz="1600" b="1" u="sng" dirty="0" smtClean="0"/>
                        <a:t>110</a:t>
                      </a:r>
                      <a:r>
                        <a:rPr lang="en-US" sz="1600" b="1" dirty="0" smtClean="0"/>
                        <a:t>11111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192-223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C</a:t>
                      </a:r>
                      <a:endParaRPr lang="ar-YE" sz="1600" b="1" dirty="0"/>
                    </a:p>
                  </a:txBody>
                  <a:tcPr/>
                </a:tc>
              </a:tr>
              <a:tr h="598714">
                <a:tc>
                  <a:txBody>
                    <a:bodyPr/>
                    <a:lstStyle/>
                    <a:p>
                      <a:pPr algn="ctr" rtl="1"/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MULTICAST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1110</a:t>
                      </a:r>
                      <a:r>
                        <a:rPr lang="en-US" sz="1600" b="1" dirty="0" smtClean="0"/>
                        <a:t>0000</a:t>
                      </a:r>
                    </a:p>
                    <a:p>
                      <a:pPr algn="ctr" rtl="1"/>
                      <a:r>
                        <a:rPr lang="en-US" sz="1600" b="1" dirty="0" smtClean="0"/>
                        <a:t>-</a:t>
                      </a:r>
                    </a:p>
                    <a:p>
                      <a:pPr algn="ctr" rtl="1"/>
                      <a:r>
                        <a:rPr lang="en-US" sz="1600" b="1" u="sng" dirty="0" smtClean="0"/>
                        <a:t>1110</a:t>
                      </a:r>
                      <a:r>
                        <a:rPr lang="en-US" sz="1600" b="1" dirty="0" smtClean="0"/>
                        <a:t>1111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224-239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D</a:t>
                      </a:r>
                      <a:endParaRPr lang="ar-YE" sz="1600" b="1" dirty="0"/>
                    </a:p>
                  </a:txBody>
                  <a:tcPr/>
                </a:tc>
              </a:tr>
              <a:tr h="598714">
                <a:tc>
                  <a:txBody>
                    <a:bodyPr/>
                    <a:lstStyle/>
                    <a:p>
                      <a:pPr algn="ctr" rtl="1"/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Research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u="sng" dirty="0" smtClean="0"/>
                        <a:t>1111</a:t>
                      </a:r>
                      <a:r>
                        <a:rPr lang="en-US" sz="1600" b="1" dirty="0" smtClean="0"/>
                        <a:t>0000</a:t>
                      </a:r>
                    </a:p>
                    <a:p>
                      <a:pPr algn="ctr" rtl="1"/>
                      <a:r>
                        <a:rPr lang="en-US" sz="1600" b="1" dirty="0" smtClean="0"/>
                        <a:t>-</a:t>
                      </a:r>
                    </a:p>
                    <a:p>
                      <a:pPr algn="ctr" rtl="1"/>
                      <a:r>
                        <a:rPr lang="en-US" sz="1600" b="1" u="sng" dirty="0" smtClean="0"/>
                        <a:t>1111</a:t>
                      </a:r>
                      <a:r>
                        <a:rPr lang="en-US" sz="1600" b="1" dirty="0" smtClean="0"/>
                        <a:t>1111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240-255</a:t>
                      </a:r>
                      <a:endParaRPr lang="ar-Y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b="1" dirty="0" smtClean="0"/>
                        <a:t>E</a:t>
                      </a:r>
                      <a:endParaRPr lang="ar-YE" sz="16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/>
          <a:lstStyle/>
          <a:p>
            <a:pPr algn="r"/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Power Table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990600"/>
            <a:ext cx="7543800" cy="426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Example-Class A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2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" y="1066800"/>
            <a:ext cx="7772400" cy="464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Example-Class B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1066800"/>
            <a:ext cx="7696200" cy="464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Example-Class C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90600"/>
            <a:ext cx="7315200" cy="446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all" spc="0" normalizeH="0" baseline="0" noProof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+mn-lt"/>
                <a:ea typeface="+mj-ea"/>
                <a:cs typeface="+mj-cs"/>
              </a:rPr>
              <a:t>Subnet Mask</a:t>
            </a:r>
            <a:endParaRPr kumimoji="0" lang="ar-YE" sz="6600" b="1" i="0" u="none" strike="noStrike" kern="1200" cap="all" spc="0" normalizeH="0" baseline="0" noProof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36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Subnet Mask</a:t>
            </a:r>
            <a:endParaRPr lang="en-US" sz="40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066800"/>
            <a:ext cx="7391400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3707962" y="1600200"/>
            <a:ext cx="4445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YE" b="1" dirty="0" smtClean="0"/>
              <a:t>قناع الشبكة : هو قسم مختلف عن عنوان الشبكة والجهاز</a:t>
            </a:r>
            <a:endParaRPr lang="ar-YE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469351" y="2590800"/>
            <a:ext cx="470994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YE" b="1" dirty="0" smtClean="0"/>
              <a:t>قناع الشبكة : هو تعريف بهوية الجهاز والى اي شبكة ينتمي </a:t>
            </a:r>
            <a:endParaRPr lang="ar-YE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309360" y="4114800"/>
            <a:ext cx="282962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YE" b="1" dirty="0" smtClean="0"/>
              <a:t>يمثل 1 لقسم الشبكة 0 لقسم الجهاز</a:t>
            </a:r>
            <a:endParaRPr lang="ar-YE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Subnet Mask-Example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14400"/>
            <a:ext cx="754380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685800"/>
            <a:ext cx="6351676" cy="510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ar-YE" sz="32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تمارين (4,5,6)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69610" y="914400"/>
            <a:ext cx="5290679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342900" indent="-342900">
              <a:buAutoNum type="arabicParenR"/>
            </a:pPr>
            <a:r>
              <a:rPr lang="ar-YE" b="1" dirty="0" smtClean="0"/>
              <a:t>ماهو الفرق بين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(BUS,STAR,RING)</a:t>
            </a:r>
            <a:r>
              <a:rPr lang="ar-YE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مع ذكر مثل على كل نوع ؟</a:t>
            </a:r>
          </a:p>
          <a:p>
            <a:pPr marL="342900" indent="-342900">
              <a:buAutoNum type="arabicParenR"/>
            </a:pPr>
            <a:r>
              <a:rPr lang="ar-YE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قارن بين جميع اسلاك الشبكة ؟</a:t>
            </a:r>
          </a:p>
          <a:p>
            <a:pPr marL="342900" indent="-342900">
              <a:buAutoNum type="arabicParenR"/>
            </a:pPr>
            <a:r>
              <a:rPr lang="ar-YE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اذكر طرق الربط المستخدمة ؟</a:t>
            </a:r>
          </a:p>
          <a:p>
            <a:pPr marL="342900" indent="-342900">
              <a:buAutoNum type="arabicParenR"/>
            </a:pPr>
            <a:r>
              <a:rPr lang="ar-YE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ماهي الطريقة المستخدمة في ربط الأجهزة التالية :</a:t>
            </a:r>
            <a:r>
              <a:rPr lang="en-US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</a:t>
            </a:r>
            <a:endParaRPr lang="ar-YE" b="1" dirty="0"/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209800"/>
            <a:ext cx="419100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2400" y="1295400"/>
            <a:ext cx="4191000" cy="533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ar-YE" sz="32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تابع تمارين (4,5,6)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29000" y="1143000"/>
            <a:ext cx="5562600" cy="510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2400" y="1219200"/>
            <a:ext cx="3200400" cy="518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" y="381000"/>
            <a:ext cx="5410200" cy="6019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91200" y="304800"/>
            <a:ext cx="3033636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ar-YE" sz="32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تمارين (4,5,6)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16799" y="914400"/>
            <a:ext cx="684354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342900" indent="-342900"/>
            <a:r>
              <a:rPr lang="ar-YE" b="1" dirty="0" smtClean="0"/>
              <a:t>5) كم عدد الكلاسات المستخدمة وفيما تستخدم كلاَ منها ؟</a:t>
            </a:r>
          </a:p>
          <a:p>
            <a:pPr marL="342900" indent="-342900"/>
            <a:r>
              <a:rPr lang="ar-YE" b="1" dirty="0" smtClean="0"/>
              <a:t>6) في أي كلاس ينتمي  كلاَ من العناوين التالية مع كتابة ال </a:t>
            </a:r>
            <a:r>
              <a:rPr lang="en-US" b="1" dirty="0" smtClean="0"/>
              <a:t>Subnet mask </a:t>
            </a:r>
            <a:r>
              <a:rPr lang="ar-YE" b="1" dirty="0" smtClean="0"/>
              <a:t> كل عنوان :</a:t>
            </a:r>
            <a:endParaRPr lang="ar-YE" b="1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600200"/>
          <a:ext cx="6096000" cy="2595880"/>
        </p:xfrm>
        <a:graphic>
          <a:graphicData uri="http://schemas.openxmlformats.org/drawingml/2006/table">
            <a:tbl>
              <a:tblPr rtl="1" firstRow="1" bandRow="1">
                <a:tableStyleId>{D7AC3CCA-C797-4891-BE02-D94E43425B78}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129.160.0.0</a:t>
                      </a:r>
                      <a:endParaRPr lang="ar-YE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222.194.0.0</a:t>
                      </a:r>
                      <a:endParaRPr lang="ar-YE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192.168.0.0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244.200.10.0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127.0.0.0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156.160.0.0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200.168.0.0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5.5.5.1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166.160.0.0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101.11.1.1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250.250.0.0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235.223.0.0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155.123.0.0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0.0.0.0</a:t>
                      </a:r>
                      <a:endParaRPr lang="ar-YE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4389120"/>
          <a:ext cx="6096000" cy="1097280"/>
        </p:xfrm>
        <a:graphic>
          <a:graphicData uri="http://schemas.openxmlformats.org/drawingml/2006/table">
            <a:tbl>
              <a:tblPr rtl="1" firstRow="1" bandRow="1">
                <a:tableStyleId>{D7AC3CCA-C797-4891-BE02-D94E43425B78}</a:tableStyleId>
              </a:tblPr>
              <a:tblGrid>
                <a:gridCol w="3048000"/>
                <a:gridCol w="3048000"/>
              </a:tblGrid>
              <a:tr h="196669">
                <a:tc>
                  <a:txBody>
                    <a:bodyPr/>
                    <a:lstStyle/>
                    <a:p>
                      <a:pPr algn="ctr" rtl="1"/>
                      <a:r>
                        <a:rPr lang="en-US" u="sng" dirty="0" smtClean="0"/>
                        <a:t>11010110</a:t>
                      </a:r>
                      <a:r>
                        <a:rPr lang="en-US" dirty="0" smtClean="0"/>
                        <a:t>.162.0.0</a:t>
                      </a:r>
                      <a:endParaRPr lang="ar-YE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u="sng" dirty="0" smtClean="0"/>
                        <a:t>01110110</a:t>
                      </a:r>
                      <a:r>
                        <a:rPr lang="en-US" dirty="0" smtClean="0"/>
                        <a:t>.122.0.0</a:t>
                      </a:r>
                      <a:endParaRPr lang="ar-YE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9666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 smtClean="0"/>
                        <a:t>11110110</a:t>
                      </a:r>
                      <a:r>
                        <a:rPr lang="en-US" b="1" dirty="0" smtClean="0"/>
                        <a:t>.190.0.0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 smtClean="0"/>
                        <a:t>10110110</a:t>
                      </a:r>
                      <a:r>
                        <a:rPr lang="en-US" b="1" dirty="0" smtClean="0"/>
                        <a:t>.182.0.0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9666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 smtClean="0"/>
                        <a:t>10110110</a:t>
                      </a:r>
                      <a:r>
                        <a:rPr lang="en-US" b="1" dirty="0" smtClean="0"/>
                        <a:t>.122.0.0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 smtClean="0"/>
                        <a:t>11100110</a:t>
                      </a:r>
                      <a:r>
                        <a:rPr lang="en-US" b="1" dirty="0" smtClean="0"/>
                        <a:t>.122.0.0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2"/>
          <a:srcRect l="17862" r="18344"/>
          <a:stretch>
            <a:fillRect/>
          </a:stretch>
        </p:blipFill>
        <p:spPr bwMode="auto">
          <a:xfrm>
            <a:off x="7010400" y="1524000"/>
            <a:ext cx="1905000" cy="411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219200"/>
          </a:xfrm>
        </p:spPr>
        <p:txBody>
          <a:bodyPr>
            <a:normAutofit/>
          </a:bodyPr>
          <a:lstStyle/>
          <a:p>
            <a:pPr algn="r"/>
            <a:r>
              <a:rPr lang="ar-YE" sz="3200" dirty="0" smtClean="0">
                <a:solidFill>
                  <a:schemeClr val="tx2">
                    <a:lumMod val="75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تمارين (4,5,6)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562600" y="685800"/>
            <a:ext cx="2971800" cy="76200"/>
            <a:chOff x="5562600" y="1066800"/>
            <a:chExt cx="2971800" cy="7620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5562600" y="1066800"/>
              <a:ext cx="2971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6096000" y="1143000"/>
              <a:ext cx="2438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ubtitle 2"/>
          <p:cNvSpPr txBox="1">
            <a:spLocks/>
          </p:cNvSpPr>
          <p:nvPr/>
        </p:nvSpPr>
        <p:spPr>
          <a:xfrm>
            <a:off x="7391400" y="6553200"/>
            <a:ext cx="1752600" cy="304800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pPr marL="342900" indent="-342900">
              <a:spcBef>
                <a:spcPct val="20000"/>
              </a:spcBef>
            </a:pPr>
            <a:r>
              <a:rPr lang="ar-YE" sz="1600" b="1" dirty="0" smtClean="0">
                <a:solidFill>
                  <a:schemeClr val="accent1">
                    <a:lumMod val="75000"/>
                  </a:schemeClr>
                </a:solidFill>
              </a:rPr>
              <a:t>أ.حسن عبدالرقيب أسعد</a:t>
            </a:r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YE" sz="1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23362" y="914400"/>
            <a:ext cx="493699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342900" indent="-342900"/>
            <a:r>
              <a:rPr lang="ar-YE" b="1" dirty="0" smtClean="0"/>
              <a:t>7) حول العناوين التالية من </a:t>
            </a:r>
            <a:r>
              <a:rPr lang="en-US" b="1" dirty="0" smtClean="0"/>
              <a:t>Binary </a:t>
            </a:r>
            <a:r>
              <a:rPr lang="ar-YE" b="1" dirty="0" smtClean="0"/>
              <a:t> الى </a:t>
            </a:r>
            <a:r>
              <a:rPr lang="en-US" b="1" dirty="0" smtClean="0"/>
              <a:t>Decimal </a:t>
            </a:r>
            <a:r>
              <a:rPr lang="ar-YE" b="1" dirty="0" smtClean="0"/>
              <a:t> والعكس ؟</a:t>
            </a:r>
            <a:endParaRPr lang="ar-YE" b="1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8600" y="1600200"/>
          <a:ext cx="6096000" cy="2595880"/>
        </p:xfrm>
        <a:graphic>
          <a:graphicData uri="http://schemas.openxmlformats.org/drawingml/2006/table">
            <a:tbl>
              <a:tblPr rtl="1" firstRow="1" bandRow="1">
                <a:tableStyleId>{D7AC3CCA-C797-4891-BE02-D94E43425B78}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129.160.0.0</a:t>
                      </a:r>
                      <a:endParaRPr lang="ar-YE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222.194.0.0</a:t>
                      </a:r>
                      <a:endParaRPr lang="ar-YE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192.168.0.0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244.200.10.0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127.0.0.0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156.160.0.0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200.168.0.0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5.5.5.1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166.160.0.0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101.11.1.1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250.250.0.0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235.223.0.0</a:t>
                      </a:r>
                      <a:endParaRPr lang="ar-YE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155.123.0.0</a:t>
                      </a:r>
                      <a:endParaRPr lang="ar-Y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 smtClean="0"/>
                        <a:t>0.0.0.0</a:t>
                      </a:r>
                      <a:endParaRPr lang="ar-YE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28600" y="4693920"/>
          <a:ext cx="8763000" cy="1097280"/>
        </p:xfrm>
        <a:graphic>
          <a:graphicData uri="http://schemas.openxmlformats.org/drawingml/2006/table">
            <a:tbl>
              <a:tblPr rtl="1" firstRow="1" bandRow="1">
                <a:tableStyleId>{D7AC3CCA-C797-4891-BE02-D94E43425B78}</a:tableStyleId>
              </a:tblPr>
              <a:tblGrid>
                <a:gridCol w="4381500"/>
                <a:gridCol w="4381500"/>
              </a:tblGrid>
              <a:tr h="196669"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01111010.11000101.0000000.0000000</a:t>
                      </a:r>
                      <a:endParaRPr lang="ar-YE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11111010.11010101.0001100.0000000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9666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11011010.11000100.0011000.0000000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10101010.11100101.0000000.0000000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9666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01111010.11000111.0000000.0000000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11010010.11001101.0001110.0011100</a:t>
                      </a:r>
                      <a:endParaRPr lang="ar-YE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/>
          <a:srcRect l="17862" r="18344"/>
          <a:stretch>
            <a:fillRect/>
          </a:stretch>
        </p:blipFill>
        <p:spPr bwMode="auto">
          <a:xfrm>
            <a:off x="6858000" y="1447800"/>
            <a:ext cx="1905000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16175</TotalTime>
  <Words>488</Words>
  <Application>Microsoft Office PowerPoint</Application>
  <PresentationFormat>On-screen Show (4:3)</PresentationFormat>
  <Paragraphs>207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Ip address (Internet protocol) chapter 6</vt:lpstr>
      <vt:lpstr>IP Address (Internet Protocol)</vt:lpstr>
      <vt:lpstr>IP Address Classes</vt:lpstr>
      <vt:lpstr>IP Address Classes</vt:lpstr>
      <vt:lpstr>Priority Bit Concept</vt:lpstr>
      <vt:lpstr>Class A Nomber of Networks &amp; Host</vt:lpstr>
      <vt:lpstr>Class B Nomber of Networks &amp; Host</vt:lpstr>
      <vt:lpstr>Class C Nomber of Networks &amp; Host</vt:lpstr>
      <vt:lpstr>Octet Format</vt:lpstr>
      <vt:lpstr>Power Table</vt:lpstr>
      <vt:lpstr>Example-Class A</vt:lpstr>
      <vt:lpstr>Example-Class B</vt:lpstr>
      <vt:lpstr>Example-Class C</vt:lpstr>
      <vt:lpstr>Slide 14</vt:lpstr>
      <vt:lpstr>Subnet Mask</vt:lpstr>
      <vt:lpstr>Subnet Mask-Example</vt:lpstr>
      <vt:lpstr>Slide 17</vt:lpstr>
      <vt:lpstr>تمارين (4,5,6)</vt:lpstr>
      <vt:lpstr>تابع تمارين (4,5,6)</vt:lpstr>
      <vt:lpstr>Slide 20</vt:lpstr>
      <vt:lpstr>تمارين (4,5,6)</vt:lpstr>
      <vt:lpstr>تمارين (4,5,6)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PC</dc:creator>
  <cp:lastModifiedBy>PC</cp:lastModifiedBy>
  <cp:revision>598</cp:revision>
  <dcterms:created xsi:type="dcterms:W3CDTF">2011-12-20T11:36:44Z</dcterms:created>
  <dcterms:modified xsi:type="dcterms:W3CDTF">2012-02-23T19:07:24Z</dcterms:modified>
</cp:coreProperties>
</file>