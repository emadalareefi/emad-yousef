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handoutMasterIdLst>
    <p:handoutMasterId r:id="rId51"/>
  </p:handoutMasterIdLst>
  <p:sldIdLst>
    <p:sldId id="355" r:id="rId2"/>
    <p:sldId id="257" r:id="rId3"/>
    <p:sldId id="258" r:id="rId4"/>
    <p:sldId id="259" r:id="rId5"/>
    <p:sldId id="260" r:id="rId6"/>
    <p:sldId id="327" r:id="rId7"/>
    <p:sldId id="317" r:id="rId8"/>
    <p:sldId id="261" r:id="rId9"/>
    <p:sldId id="348" r:id="rId10"/>
    <p:sldId id="328" r:id="rId11"/>
    <p:sldId id="262" r:id="rId12"/>
    <p:sldId id="316" r:id="rId13"/>
    <p:sldId id="329" r:id="rId14"/>
    <p:sldId id="330" r:id="rId15"/>
    <p:sldId id="331" r:id="rId16"/>
    <p:sldId id="349" r:id="rId17"/>
    <p:sldId id="332" r:id="rId18"/>
    <p:sldId id="333" r:id="rId19"/>
    <p:sldId id="264" r:id="rId20"/>
    <p:sldId id="335" r:id="rId21"/>
    <p:sldId id="350" r:id="rId22"/>
    <p:sldId id="318" r:id="rId23"/>
    <p:sldId id="287" r:id="rId24"/>
    <p:sldId id="336" r:id="rId25"/>
    <p:sldId id="319" r:id="rId26"/>
    <p:sldId id="337" r:id="rId27"/>
    <p:sldId id="352" r:id="rId28"/>
    <p:sldId id="351" r:id="rId29"/>
    <p:sldId id="265" r:id="rId30"/>
    <p:sldId id="339" r:id="rId31"/>
    <p:sldId id="320" r:id="rId32"/>
    <p:sldId id="340" r:id="rId33"/>
    <p:sldId id="357" r:id="rId34"/>
    <p:sldId id="321" r:id="rId35"/>
    <p:sldId id="266" r:id="rId36"/>
    <p:sldId id="341" r:id="rId37"/>
    <p:sldId id="342" r:id="rId38"/>
    <p:sldId id="343" r:id="rId39"/>
    <p:sldId id="353" r:id="rId40"/>
    <p:sldId id="298" r:id="rId41"/>
    <p:sldId id="358" r:id="rId42"/>
    <p:sldId id="359" r:id="rId43"/>
    <p:sldId id="267" r:id="rId44"/>
    <p:sldId id="295" r:id="rId45"/>
    <p:sldId id="315" r:id="rId46"/>
    <p:sldId id="345" r:id="rId47"/>
    <p:sldId id="346" r:id="rId48"/>
    <p:sldId id="360" r:id="rId49"/>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92" autoAdjust="0"/>
    <p:restoredTop sz="94636" autoAdjust="0"/>
  </p:normalViewPr>
  <p:slideViewPr>
    <p:cSldViewPr>
      <p:cViewPr varScale="1">
        <p:scale>
          <a:sx n="70" d="100"/>
          <a:sy n="70" d="100"/>
        </p:scale>
        <p:origin x="152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376"/>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961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19"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0"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1"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fld id="{F74EBB1A-32E5-47A0-BEA6-601E41B0F552}" type="slidenum">
              <a:rPr lang="en-US"/>
              <a:pPr>
                <a:defRPr/>
              </a:pPr>
              <a:t>‹#›</a:t>
            </a:fld>
            <a:endParaRPr lang="en-US"/>
          </a:p>
        </p:txBody>
      </p:sp>
    </p:spTree>
    <p:extLst>
      <p:ext uri="{BB962C8B-B14F-4D97-AF65-F5344CB8AC3E}">
        <p14:creationId xmlns:p14="http://schemas.microsoft.com/office/powerpoint/2010/main" val="845287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B5FD88E8-D844-439F-8FF8-7DCC2E279990}" type="slidenum">
              <a:rPr lang="en-US"/>
              <a:pPr>
                <a:defRPr/>
              </a:pPr>
              <a:t>‹#›</a:t>
            </a:fld>
            <a:endParaRPr lang="en-US"/>
          </a:p>
        </p:txBody>
      </p:sp>
    </p:spTree>
    <p:extLst>
      <p:ext uri="{BB962C8B-B14F-4D97-AF65-F5344CB8AC3E}">
        <p14:creationId xmlns:p14="http://schemas.microsoft.com/office/powerpoint/2010/main" val="1394836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ln>
            <a:miter lim="800000"/>
            <a:headEnd/>
            <a:tailEnd/>
          </a:ln>
        </p:spPr>
        <p:txBody>
          <a:bodyPr/>
          <a:lstStyle/>
          <a:p>
            <a:fld id="{6BFFCDD7-C9EE-4096-A00B-C989AD6F51EC}" type="slidenum">
              <a:rPr lang="en-US" smtClean="0">
                <a:cs typeface="Arial" charset="0"/>
              </a:rPr>
              <a:pPr/>
              <a:t>1</a:t>
            </a:fld>
            <a:endParaRPr lang="en-US" smtClean="0">
              <a:cs typeface="Arial" charset="0"/>
            </a:endParaRPr>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207874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Rot="1" noChangeAspect="1" noChangeArrowheads="1" noTextEdit="1"/>
          </p:cNvSpPr>
          <p:nvPr>
            <p:ph type="sldImg"/>
          </p:nvPr>
        </p:nvSpPr>
        <p:spPr>
          <a:xfrm>
            <a:off x="1152525" y="692150"/>
            <a:ext cx="4554538" cy="3416300"/>
          </a:xfrm>
          <a:ln/>
        </p:spPr>
      </p:sp>
      <p:sp>
        <p:nvSpPr>
          <p:cNvPr id="379907"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342934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a:lvl1pPr>
          </a:lstStyle>
          <a:p>
            <a:pPr>
              <a:defRPr/>
            </a:pPr>
            <a:r>
              <a:rPr lang="en-US" dirty="0"/>
              <a:t>Copyright © </a:t>
            </a:r>
            <a:r>
              <a:rPr lang="en-US" dirty="0" smtClean="0"/>
              <a:t>2015 </a:t>
            </a:r>
            <a:r>
              <a:rPr lang="en-US" dirty="0"/>
              <a:t>Pearson Education, Inc. Publishing as Prentice Hall</a:t>
            </a:r>
          </a:p>
        </p:txBody>
      </p:sp>
      <p:sp>
        <p:nvSpPr>
          <p:cNvPr id="13" name="Slide Number Placeholder 28"/>
          <p:cNvSpPr>
            <a:spLocks noGrp="1"/>
          </p:cNvSpPr>
          <p:nvPr>
            <p:ph type="sldNum" sz="quarter" idx="12"/>
          </p:nvPr>
        </p:nvSpPr>
        <p:spPr>
          <a:xfrm>
            <a:off x="8391525" y="5753100"/>
            <a:ext cx="503238" cy="365125"/>
          </a:xfrm>
        </p:spPr>
        <p:txBody>
          <a:bodyPr anchor="ctr"/>
          <a:lstStyle>
            <a:lvl1pPr algn="ctr">
              <a:defRPr sz="1300">
                <a:solidFill>
                  <a:srgbClr val="FFFFFF"/>
                </a:solidFill>
              </a:defRPr>
            </a:lvl1pPr>
          </a:lstStyle>
          <a:p>
            <a:pPr>
              <a:defRPr/>
            </a:pPr>
            <a:fld id="{92EBC2CF-FCAF-4389-8782-278AB518B2F4}"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p:txBody>
          <a:bodyPr/>
          <a:lstStyle>
            <a:lvl1pPr>
              <a:defRPr/>
            </a:lvl1pPr>
          </a:lstStyle>
          <a:p>
            <a:pPr>
              <a:defRPr/>
            </a:pPr>
            <a:fld id="{5DC45E7D-77EF-4B53-80F5-7AF806DA0F52}"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E99F6353-3642-431A-B9F3-1DE047A8A919}"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1" name="Slide Number Placeholder 6"/>
          <p:cNvSpPr>
            <a:spLocks noGrp="1"/>
          </p:cNvSpPr>
          <p:nvPr>
            <p:ph type="sldNum" sz="quarter" idx="12"/>
          </p:nvPr>
        </p:nvSpPr>
        <p:spPr/>
        <p:txBody>
          <a:bodyPr/>
          <a:lstStyle>
            <a:lvl1pPr>
              <a:defRPr/>
            </a:lvl1pPr>
          </a:lstStyle>
          <a:p>
            <a:pPr>
              <a:defRPr/>
            </a:pPr>
            <a:fld id="{B6DD40F9-DF38-49F5-BD1F-21AD6C3A382E}"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additive="base">
                                        <p:cTn id="4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anim calcmode="lin" valueType="num">
                                      <p:cBhvr additive="base">
                                        <p:cTn id="4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 calcmode="lin" valueType="num">
                                      <p:cBhvr additive="base">
                                        <p:cTn id="4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9" name="Slide Number Placeholder 8"/>
          <p:cNvSpPr>
            <a:spLocks noGrp="1"/>
          </p:cNvSpPr>
          <p:nvPr>
            <p:ph type="sldNum" sz="quarter" idx="12"/>
          </p:nvPr>
        </p:nvSpPr>
        <p:spPr>
          <a:xfrm>
            <a:off x="7589838" y="6483350"/>
            <a:ext cx="503237" cy="301625"/>
          </a:xfrm>
        </p:spPr>
        <p:txBody>
          <a:bodyPr/>
          <a:lstStyle>
            <a:lvl1pPr algn="ctr">
              <a:defRPr/>
            </a:lvl1pPr>
          </a:lstStyle>
          <a:p>
            <a:pPr>
              <a:defRPr/>
            </a:pPr>
            <a:fld id="{13C93846-CE1D-48C3-AAAA-1BC9B1CF7331}"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5" name="Slide Number Placeholder 22"/>
          <p:cNvSpPr>
            <a:spLocks noGrp="1"/>
          </p:cNvSpPr>
          <p:nvPr>
            <p:ph type="sldNum" sz="quarter" idx="12"/>
          </p:nvPr>
        </p:nvSpPr>
        <p:spPr/>
        <p:txBody>
          <a:bodyPr/>
          <a:lstStyle>
            <a:lvl1pPr>
              <a:defRPr/>
            </a:lvl1pPr>
          </a:lstStyle>
          <a:p>
            <a:pPr>
              <a:defRPr/>
            </a:pPr>
            <a:fld id="{78AEFCDF-FBF2-4485-9BBC-9D04CBA0C54B}" type="slidenum">
              <a:rPr lang="en-US"/>
              <a:pPr>
                <a:defRPr/>
              </a:pPr>
              <a:t>‹#›</a:t>
            </a:fld>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4" name="Slide Number Placeholder 22"/>
          <p:cNvSpPr>
            <a:spLocks noGrp="1"/>
          </p:cNvSpPr>
          <p:nvPr>
            <p:ph type="sldNum" sz="quarter" idx="12"/>
          </p:nvPr>
        </p:nvSpPr>
        <p:spPr/>
        <p:txBody>
          <a:bodyPr/>
          <a:lstStyle>
            <a:lvl1pPr>
              <a:defRPr/>
            </a:lvl1pPr>
          </a:lstStyle>
          <a:p>
            <a:pPr>
              <a:defRPr/>
            </a:pPr>
            <a:fld id="{26384DC0-79C1-477B-B4D5-071DAA8417DF}" type="slidenum">
              <a:rPr lang="en-US"/>
              <a:pPr>
                <a:defRPr/>
              </a:pPr>
              <a:t>‹#›</a:t>
            </a:fld>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410575" y="6556375"/>
            <a:ext cx="503238" cy="301625"/>
          </a:xfrm>
        </p:spPr>
        <p:txBody>
          <a:bodyPr/>
          <a:lstStyle>
            <a:lvl1pPr>
              <a:defRPr sz="900"/>
            </a:lvl1pPr>
          </a:lstStyle>
          <a:p>
            <a:pPr>
              <a:defRPr/>
            </a:pPr>
            <a:fld id="{24126D88-6249-4BD7-96C6-E42917F7FEEF}"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a:lvl1pPr>
          </a:lstStyle>
          <a:p>
            <a:pPr>
              <a:defRPr/>
            </a:pPr>
            <a:fld id="{8F47E100-CDC5-4B10-ADA2-92935B460E61}"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867FC0C2-B179-4DE1-A181-75A6BB71E0CD}" type="slidenum">
              <a:rPr lang="en-US"/>
              <a:pPr>
                <a:defRPr/>
              </a:pPr>
              <a:t>‹#›</a:t>
            </a:fld>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D6348503-8256-4BD2-81FF-9B67CB41B278}" type="slidenum">
              <a:rPr lang="en-US"/>
              <a:pPr>
                <a:defRPr/>
              </a:pPr>
              <a:t>‹#›</a:t>
            </a:fld>
            <a:endParaRPr lang="en-US"/>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bl">
  <p:cSld name="Title and Tabl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609600" y="3048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838200" y="1905000"/>
            <a:ext cx="7772400" cy="4114800"/>
          </a:xfrm>
        </p:spPr>
        <p:txBody>
          <a:bodyPr>
            <a:normAutofit/>
          </a:bodyPr>
          <a:lstStyle/>
          <a:p>
            <a:pPr lvl="0"/>
            <a:endParaRPr lang="en-US" noProof="0"/>
          </a:p>
        </p:txBody>
      </p:sp>
      <p:sp>
        <p:nvSpPr>
          <p:cNvPr id="8" name="Date Placeholder 3"/>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1905000" y="6324600"/>
            <a:ext cx="5105400" cy="304800"/>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a:xfrm>
            <a:off x="6553200" y="6248400"/>
            <a:ext cx="1905000" cy="457200"/>
          </a:xfrm>
        </p:spPr>
        <p:txBody>
          <a:bodyPr/>
          <a:lstStyle>
            <a:lvl1pPr>
              <a:defRPr/>
            </a:lvl1pPr>
          </a:lstStyle>
          <a:p>
            <a:pPr>
              <a:defRPr/>
            </a:pPr>
            <a:fld id="{5EBF4315-2F24-42ED-8F73-1306FF397A71}"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a:solidFill>
                  <a:schemeClr val="tx1"/>
                </a:solidFill>
                <a:cs typeface="+mn-cs"/>
              </a:defRPr>
            </a:lvl1pPr>
          </a:lstStyle>
          <a:p>
            <a:pPr>
              <a:defRPr/>
            </a:pPr>
            <a:r>
              <a:rPr lang="en-US" dirty="0"/>
              <a:t>Copyright © </a:t>
            </a:r>
            <a:r>
              <a:rPr lang="en-US" dirty="0" smtClean="0"/>
              <a:t>2015 </a:t>
            </a:r>
            <a:r>
              <a:rPr lang="en-US" dirty="0"/>
              <a:t>Pearson Education, Inc. Publishing as Prentice Hall</a:t>
            </a:r>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a:solidFill>
                  <a:schemeClr val="tx1"/>
                </a:solidFill>
                <a:cs typeface="+mn-cs"/>
              </a:defRPr>
            </a:lvl1pPr>
          </a:lstStyle>
          <a:p>
            <a:pPr>
              <a:defRPr/>
            </a:pPr>
            <a:fld id="{006CFEF7-2DC6-4F8E-9289-DB6E268D31BB}" type="slidenum">
              <a:rPr lang="en-US"/>
              <a:pPr>
                <a:defRPr/>
              </a:pPr>
              <a:t>‹#›</a:t>
            </a:fld>
            <a:endParaRPr lang="en-US"/>
          </a:p>
        </p:txBody>
      </p: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7" r:id="rId6"/>
    <p:sldLayoutId id="2147483658" r:id="rId7"/>
    <p:sldLayoutId id="2147483666" r:id="rId8"/>
    <p:sldLayoutId id="2147483667" r:id="rId9"/>
    <p:sldLayoutId id="2147483659" r:id="rId10"/>
    <p:sldLayoutId id="2147483660" r:id="rId11"/>
    <p:sldLayoutId id="2147483668" r:id="rId12"/>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eaLnBrk="0" fontAlgn="base" hangingPunct="0">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eaLnBrk="0" fontAlgn="base" hangingPunct="0">
        <a:spcBef>
          <a:spcPct val="0"/>
        </a:spcBef>
        <a:spcAft>
          <a:spcPct val="0"/>
        </a:spcAft>
        <a:defRPr sz="4200">
          <a:solidFill>
            <a:srgbClr val="FF5C9C"/>
          </a:solidFill>
          <a:latin typeface="Century Gothic" pitchFamily="34" charset="0"/>
        </a:defRPr>
      </a:lvl2pPr>
      <a:lvl3pPr marL="484188" algn="l" rtl="0" eaLnBrk="0" fontAlgn="base" hangingPunct="0">
        <a:spcBef>
          <a:spcPct val="0"/>
        </a:spcBef>
        <a:spcAft>
          <a:spcPct val="0"/>
        </a:spcAft>
        <a:defRPr sz="4200">
          <a:solidFill>
            <a:srgbClr val="FF5C9C"/>
          </a:solidFill>
          <a:latin typeface="Century Gothic" pitchFamily="34" charset="0"/>
        </a:defRPr>
      </a:lvl3pPr>
      <a:lvl4pPr marL="484188" algn="l" rtl="0" eaLnBrk="0" fontAlgn="base" hangingPunct="0">
        <a:spcBef>
          <a:spcPct val="0"/>
        </a:spcBef>
        <a:spcAft>
          <a:spcPct val="0"/>
        </a:spcAft>
        <a:defRPr sz="4200">
          <a:solidFill>
            <a:srgbClr val="FF5C9C"/>
          </a:solidFill>
          <a:latin typeface="Century Gothic" pitchFamily="34" charset="0"/>
        </a:defRPr>
      </a:lvl4pPr>
      <a:lvl5pPr marL="484188" algn="l" rtl="0" eaLnBrk="0" fontAlgn="base" hangingPunct="0">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eaLnBrk="0" fontAlgn="base" hangingPunct="0">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eaLnBrk="0" fontAlgn="base" hangingPunct="0">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eaLnBrk="0" fontAlgn="base" hangingPunct="0">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eaLnBrk="0" fontAlgn="base" hangingPunct="0">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ctrTitle"/>
          </p:nvPr>
        </p:nvSpPr>
        <p:spPr>
          <a:xfrm>
            <a:off x="914400" y="1143000"/>
            <a:ext cx="7772400" cy="1981200"/>
          </a:xfrm>
        </p:spPr>
        <p:txBody>
          <a:bodyPr>
            <a:normAutofit fontScale="90000"/>
          </a:bodyPr>
          <a:lstStyle/>
          <a:p>
            <a:pPr marL="484632" eaLnBrk="1" fontAlgn="auto" hangingPunct="1">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smtClean="0">
                <a:solidFill>
                  <a:schemeClr val="accent1">
                    <a:tint val="83000"/>
                    <a:satMod val="150000"/>
                  </a:schemeClr>
                </a:solidFill>
              </a:rPr>
              <a:t>Sixth </a:t>
            </a:r>
            <a:r>
              <a:rPr lang="en-US" sz="3600" b="1" dirty="0">
                <a:solidFill>
                  <a:schemeClr val="accent1">
                    <a:tint val="83000"/>
                    <a:satMod val="150000"/>
                  </a:schemeClr>
                </a:solidFill>
              </a:rPr>
              <a:t>Edition</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a:t>
            </a:r>
          </a:p>
        </p:txBody>
      </p:sp>
      <p:sp>
        <p:nvSpPr>
          <p:cNvPr id="313347"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a:bodyPr>
          <a:lstStyle/>
          <a:p>
            <a:pPr algn="ctr" eaLnBrk="1" fontAlgn="auto" hangingPunct="1">
              <a:lnSpc>
                <a:spcPct val="90000"/>
              </a:lnSpc>
              <a:spcAft>
                <a:spcPts val="0"/>
              </a:spcAft>
              <a:buFont typeface="Wingdings 2"/>
              <a:buNone/>
              <a:defRPr/>
            </a:pPr>
            <a:r>
              <a:rPr lang="en-US" sz="3600" b="1"/>
              <a:t>Chapter 10</a:t>
            </a:r>
          </a:p>
          <a:p>
            <a:pPr algn="ctr" eaLnBrk="1" fontAlgn="auto" hangingPunct="1">
              <a:lnSpc>
                <a:spcPct val="90000"/>
              </a:lnSpc>
              <a:spcAft>
                <a:spcPts val="0"/>
              </a:spcAft>
              <a:buFont typeface="Wingdings 2"/>
              <a:buNone/>
              <a:defRPr/>
            </a:pPr>
            <a:r>
              <a:rPr lang="en-US" b="1"/>
              <a:t>Systems Implementation and Operation</a:t>
            </a:r>
          </a:p>
        </p:txBody>
      </p:sp>
      <p:sp>
        <p:nvSpPr>
          <p:cNvPr id="16387"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smtClean="0">
                <a:cs typeface="Arial" charset="0"/>
              </a:rPr>
              <a:t>Copyright © 2015 Pearson Education, Inc. Publishing as Prentice Hall</a:t>
            </a:r>
          </a:p>
        </p:txBody>
      </p:sp>
      <p:sp>
        <p:nvSpPr>
          <p:cNvPr id="31334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10.1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609600" y="304800"/>
            <a:ext cx="7772400" cy="1066800"/>
          </a:xfrm>
        </p:spPr>
        <p:txBody>
          <a:bodyPr/>
          <a:lstStyle/>
          <a:p>
            <a:pPr marL="484632" eaLnBrk="1" fontAlgn="auto" hangingPunct="1">
              <a:spcAft>
                <a:spcPts val="0"/>
              </a:spcAft>
              <a:defRPr/>
            </a:pPr>
            <a:r>
              <a:rPr lang="en-US">
                <a:solidFill>
                  <a:schemeClr val="accent1">
                    <a:tint val="83000"/>
                    <a:satMod val="150000"/>
                  </a:schemeClr>
                </a:solidFill>
              </a:rPr>
              <a:t>Learning Objectives</a:t>
            </a:r>
          </a:p>
        </p:txBody>
      </p:sp>
      <p:sp>
        <p:nvSpPr>
          <p:cNvPr id="1027"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normAutofit/>
          </a:bodyPr>
          <a:lstStyle/>
          <a:p>
            <a:pPr marL="448056" indent="-384048" eaLnBrk="1" fontAlgn="auto" hangingPunct="1">
              <a:lnSpc>
                <a:spcPct val="90000"/>
              </a:lnSpc>
              <a:spcAft>
                <a:spcPts val="0"/>
              </a:spcAft>
              <a:buClr>
                <a:srgbClr val="BA2212"/>
              </a:buClr>
              <a:buFont typeface="Wingdings" pitchFamily="2" charset="2"/>
              <a:buChar char="ü"/>
              <a:defRPr/>
            </a:pPr>
            <a:r>
              <a:rPr lang="en-US" sz="2800"/>
              <a:t>Describe the process of coding, testing, and converting an organizational information system</a:t>
            </a:r>
          </a:p>
          <a:p>
            <a:pPr marL="448056" indent="-384048" eaLnBrk="1" fontAlgn="auto" hangingPunct="1">
              <a:lnSpc>
                <a:spcPct val="90000"/>
              </a:lnSpc>
              <a:spcAft>
                <a:spcPts val="0"/>
              </a:spcAft>
              <a:buClr>
                <a:srgbClr val="BA2212"/>
              </a:buClr>
              <a:buFont typeface="Wingdings" pitchFamily="2" charset="2"/>
              <a:buChar char="ü"/>
              <a:defRPr/>
            </a:pPr>
            <a:r>
              <a:rPr lang="en-US" sz="2800"/>
              <a:t>Discuss four installation strategies</a:t>
            </a:r>
          </a:p>
          <a:p>
            <a:pPr marL="822960" lvl="1" eaLnBrk="1" fontAlgn="auto" hangingPunct="1">
              <a:lnSpc>
                <a:spcPct val="90000"/>
              </a:lnSpc>
              <a:spcAft>
                <a:spcPts val="0"/>
              </a:spcAft>
              <a:buClr>
                <a:srgbClr val="BA2212"/>
              </a:buClr>
              <a:buFont typeface="Wingdings" pitchFamily="2" charset="2"/>
              <a:buChar char="ü"/>
              <a:defRPr/>
            </a:pPr>
            <a:r>
              <a:rPr lang="en-US" sz="2400"/>
              <a:t>Direct</a:t>
            </a:r>
          </a:p>
          <a:p>
            <a:pPr marL="822960" lvl="1" eaLnBrk="1" fontAlgn="auto" hangingPunct="1">
              <a:lnSpc>
                <a:spcPct val="90000"/>
              </a:lnSpc>
              <a:spcAft>
                <a:spcPts val="0"/>
              </a:spcAft>
              <a:buClr>
                <a:srgbClr val="BA2212"/>
              </a:buClr>
              <a:buFont typeface="Wingdings" pitchFamily="2" charset="2"/>
              <a:buChar char="ü"/>
              <a:defRPr/>
            </a:pPr>
            <a:r>
              <a:rPr lang="en-US" sz="2400"/>
              <a:t>Parallel</a:t>
            </a:r>
          </a:p>
          <a:p>
            <a:pPr marL="822960" lvl="1" eaLnBrk="1" fontAlgn="auto" hangingPunct="1">
              <a:lnSpc>
                <a:spcPct val="90000"/>
              </a:lnSpc>
              <a:spcAft>
                <a:spcPts val="0"/>
              </a:spcAft>
              <a:buClr>
                <a:srgbClr val="BA2212"/>
              </a:buClr>
              <a:buFont typeface="Wingdings" pitchFamily="2" charset="2"/>
              <a:buChar char="ü"/>
              <a:defRPr/>
            </a:pPr>
            <a:r>
              <a:rPr lang="en-US" sz="2400"/>
              <a:t>Single location</a:t>
            </a:r>
          </a:p>
          <a:p>
            <a:pPr marL="822960" lvl="1" eaLnBrk="1" fontAlgn="auto" hangingPunct="1">
              <a:lnSpc>
                <a:spcPct val="90000"/>
              </a:lnSpc>
              <a:spcAft>
                <a:spcPts val="0"/>
              </a:spcAft>
              <a:buClr>
                <a:srgbClr val="BA2212"/>
              </a:buClr>
              <a:buFont typeface="Wingdings" pitchFamily="2" charset="2"/>
              <a:buChar char="ü"/>
              <a:defRPr/>
            </a:pPr>
            <a:r>
              <a:rPr lang="en-US" sz="2400"/>
              <a:t>Phased installation</a:t>
            </a:r>
          </a:p>
          <a:p>
            <a:pPr marL="448056" indent="-384048" eaLnBrk="1" fontAlgn="auto" hangingPunct="1">
              <a:lnSpc>
                <a:spcPct val="90000"/>
              </a:lnSpc>
              <a:spcAft>
                <a:spcPts val="0"/>
              </a:spcAft>
              <a:buClr>
                <a:srgbClr val="BA2212"/>
              </a:buClr>
              <a:buFont typeface="Wingdings" pitchFamily="2" charset="2"/>
              <a:buChar char="ü"/>
              <a:defRPr/>
            </a:pPr>
            <a:r>
              <a:rPr lang="en-US" sz="2800"/>
              <a:t>Describe the deliverables for documenting the system and for training and supporting the users</a:t>
            </a:r>
          </a:p>
        </p:txBody>
      </p:sp>
      <p:sp>
        <p:nvSpPr>
          <p:cNvPr id="184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10.2</a:t>
            </a: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Learning Objectives (continued)</a:t>
            </a:r>
          </a:p>
        </p:txBody>
      </p:sp>
      <p:sp>
        <p:nvSpPr>
          <p:cNvPr id="1945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buClr>
                <a:srgbClr val="BA2212"/>
              </a:buClr>
              <a:buFont typeface="Wingdings" pitchFamily="2" charset="2"/>
              <a:buChar char="ü"/>
            </a:pPr>
            <a:r>
              <a:rPr lang="en-US" sz="2800" smtClean="0"/>
              <a:t>Compare the many modes available for organizational system training, including self-training and electronic performance support systems</a:t>
            </a:r>
          </a:p>
          <a:p>
            <a:pPr eaLnBrk="1" hangingPunct="1">
              <a:lnSpc>
                <a:spcPct val="80000"/>
              </a:lnSpc>
              <a:buClr>
                <a:srgbClr val="BA2212"/>
              </a:buClr>
              <a:buFont typeface="Wingdings" pitchFamily="2" charset="2"/>
              <a:buChar char="ü"/>
            </a:pPr>
            <a:r>
              <a:rPr lang="en-US" sz="2800" smtClean="0"/>
              <a:t>Discuss the issues of providing support to end users</a:t>
            </a:r>
          </a:p>
          <a:p>
            <a:pPr eaLnBrk="1" hangingPunct="1">
              <a:lnSpc>
                <a:spcPct val="80000"/>
              </a:lnSpc>
              <a:buClr>
                <a:srgbClr val="BA2212"/>
              </a:buClr>
              <a:buFont typeface="Wingdings" pitchFamily="2" charset="2"/>
              <a:buChar char="ü"/>
            </a:pPr>
            <a:r>
              <a:rPr lang="en-US" sz="2800" smtClean="0"/>
              <a:t>Discuss system implementation failure</a:t>
            </a:r>
          </a:p>
          <a:p>
            <a:pPr eaLnBrk="1" hangingPunct="1">
              <a:lnSpc>
                <a:spcPct val="80000"/>
              </a:lnSpc>
              <a:buClr>
                <a:srgbClr val="BA2212"/>
              </a:buClr>
              <a:buFont typeface="Wingdings" pitchFamily="2" charset="2"/>
              <a:buChar char="ü"/>
            </a:pPr>
            <a:r>
              <a:rPr lang="en-US" sz="2800" smtClean="0"/>
              <a:t>Explain four types of maintenance</a:t>
            </a:r>
          </a:p>
          <a:p>
            <a:pPr eaLnBrk="1" hangingPunct="1">
              <a:lnSpc>
                <a:spcPct val="80000"/>
              </a:lnSpc>
              <a:buClr>
                <a:srgbClr val="BA2212"/>
              </a:buClr>
              <a:buFont typeface="Wingdings" pitchFamily="2" charset="2"/>
              <a:buChar char="ü"/>
            </a:pPr>
            <a:r>
              <a:rPr lang="en-US" sz="2800" smtClean="0"/>
              <a:t>Describe several factors that influence the cost of maintaining an information system</a:t>
            </a:r>
          </a:p>
          <a:p>
            <a:pPr eaLnBrk="1" hangingPunct="1">
              <a:lnSpc>
                <a:spcPct val="80000"/>
              </a:lnSpc>
              <a:buClr>
                <a:srgbClr val="BA2212"/>
              </a:buClr>
              <a:buFont typeface="Wingdings" pitchFamily="2" charset="2"/>
              <a:buNone/>
            </a:pPr>
            <a:endParaRPr lang="en-US" sz="2800" smtClean="0"/>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310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475C975C-2689-4F6E-92DC-6ED1D231C8A6}" type="slidenum">
              <a:rPr lang="en-US" sz="1600">
                <a:solidFill>
                  <a:schemeClr val="tx1"/>
                </a:solidFill>
                <a:cs typeface="+mn-cs"/>
              </a:rPr>
              <a:pPr algn="ctr" eaLnBrk="0" hangingPunct="0">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6" name="Rectangle 6"/>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System Implementation and Operation </a:t>
            </a:r>
          </a:p>
        </p:txBody>
      </p:sp>
      <p:sp>
        <p:nvSpPr>
          <p:cNvPr id="20482" name="Rectangle 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400" smtClean="0"/>
              <a:t>Seven major activities</a:t>
            </a:r>
          </a:p>
          <a:p>
            <a:pPr lvl="1" eaLnBrk="1" hangingPunct="1">
              <a:lnSpc>
                <a:spcPct val="80000"/>
              </a:lnSpc>
            </a:pPr>
            <a:r>
              <a:rPr lang="en-US" sz="2000" smtClean="0"/>
              <a:t>Coding</a:t>
            </a:r>
          </a:p>
          <a:p>
            <a:pPr lvl="1" eaLnBrk="1" hangingPunct="1">
              <a:lnSpc>
                <a:spcPct val="80000"/>
              </a:lnSpc>
            </a:pPr>
            <a:r>
              <a:rPr lang="en-US" sz="2000" smtClean="0"/>
              <a:t>Testing</a:t>
            </a:r>
          </a:p>
          <a:p>
            <a:pPr lvl="1" eaLnBrk="1" hangingPunct="1">
              <a:lnSpc>
                <a:spcPct val="80000"/>
              </a:lnSpc>
            </a:pPr>
            <a:r>
              <a:rPr lang="en-US" sz="2000" smtClean="0"/>
              <a:t>Installation</a:t>
            </a:r>
          </a:p>
          <a:p>
            <a:pPr lvl="1" eaLnBrk="1" hangingPunct="1">
              <a:lnSpc>
                <a:spcPct val="80000"/>
              </a:lnSpc>
            </a:pPr>
            <a:r>
              <a:rPr lang="en-US" sz="2000" smtClean="0"/>
              <a:t>Documentation</a:t>
            </a:r>
          </a:p>
          <a:p>
            <a:pPr lvl="1" eaLnBrk="1" hangingPunct="1">
              <a:lnSpc>
                <a:spcPct val="80000"/>
              </a:lnSpc>
            </a:pPr>
            <a:r>
              <a:rPr lang="en-US" sz="2000" smtClean="0"/>
              <a:t>Training</a:t>
            </a:r>
          </a:p>
          <a:p>
            <a:pPr lvl="1" eaLnBrk="1" hangingPunct="1">
              <a:lnSpc>
                <a:spcPct val="80000"/>
              </a:lnSpc>
            </a:pPr>
            <a:r>
              <a:rPr lang="en-US" sz="2000" smtClean="0"/>
              <a:t>Support</a:t>
            </a:r>
          </a:p>
          <a:p>
            <a:pPr lvl="1" eaLnBrk="1" hangingPunct="1">
              <a:lnSpc>
                <a:spcPct val="80000"/>
              </a:lnSpc>
            </a:pPr>
            <a:r>
              <a:rPr lang="en-US" sz="2000" smtClean="0"/>
              <a:t>Maintenance</a:t>
            </a:r>
          </a:p>
          <a:p>
            <a:pPr eaLnBrk="1" hangingPunct="1">
              <a:lnSpc>
                <a:spcPct val="80000"/>
              </a:lnSpc>
            </a:pPr>
            <a:r>
              <a:rPr lang="en-US" sz="2400" smtClean="0"/>
              <a:t>Purpose</a:t>
            </a:r>
          </a:p>
          <a:p>
            <a:pPr lvl="1" eaLnBrk="1" hangingPunct="1">
              <a:lnSpc>
                <a:spcPct val="80000"/>
              </a:lnSpc>
            </a:pPr>
            <a:r>
              <a:rPr lang="en-US" sz="2000" smtClean="0"/>
              <a:t>To convert final physical system specifications into working and reliable software</a:t>
            </a:r>
          </a:p>
          <a:p>
            <a:pPr lvl="1" eaLnBrk="1" hangingPunct="1">
              <a:lnSpc>
                <a:spcPct val="80000"/>
              </a:lnSpc>
            </a:pPr>
            <a:r>
              <a:rPr lang="en-US" sz="2000" smtClean="0"/>
              <a:t>To document work that has been done</a:t>
            </a:r>
          </a:p>
          <a:p>
            <a:pPr lvl="1" eaLnBrk="1" hangingPunct="1">
              <a:lnSpc>
                <a:spcPct val="80000"/>
              </a:lnSpc>
            </a:pPr>
            <a:r>
              <a:rPr lang="en-US" sz="2000" smtClean="0"/>
              <a:t>To provide help for current and future users</a:t>
            </a:r>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8944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8724B191-8D5E-451F-A823-4A5530B637DF}" type="slidenum">
              <a:rPr lang="en-US" sz="1600">
                <a:solidFill>
                  <a:schemeClr val="tx1"/>
                </a:solidFill>
                <a:cs typeface="+mn-cs"/>
              </a:rPr>
              <a:pPr algn="ctr" eaLnBrk="0" hangingPunct="0">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70" name="Rectangle 6"/>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The Processes of Coding, Testing and Installation</a:t>
            </a:r>
          </a:p>
        </p:txBody>
      </p:sp>
      <p:sp>
        <p:nvSpPr>
          <p:cNvPr id="21506" name="Rectangle 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z="2800" smtClean="0"/>
              <a:t>Coding</a:t>
            </a:r>
          </a:p>
          <a:p>
            <a:pPr lvl="1" eaLnBrk="1" hangingPunct="1"/>
            <a:r>
              <a:rPr lang="en-US" sz="2400" smtClean="0"/>
              <a:t>Physical design specifications are turned into working computer code</a:t>
            </a:r>
          </a:p>
          <a:p>
            <a:pPr eaLnBrk="1" hangingPunct="1"/>
            <a:r>
              <a:rPr lang="en-US" sz="2800" smtClean="0"/>
              <a:t>Testing</a:t>
            </a:r>
          </a:p>
          <a:p>
            <a:pPr lvl="1" eaLnBrk="1" hangingPunct="1"/>
            <a:r>
              <a:rPr lang="en-US" sz="2400" smtClean="0"/>
              <a:t>Tests are performed using various strategies</a:t>
            </a:r>
          </a:p>
          <a:p>
            <a:pPr lvl="1" eaLnBrk="1" hangingPunct="1"/>
            <a:r>
              <a:rPr lang="en-US" sz="2400" smtClean="0"/>
              <a:t>Testing can be performed in parallel with coding</a:t>
            </a:r>
          </a:p>
          <a:p>
            <a:pPr eaLnBrk="1" hangingPunct="1"/>
            <a:r>
              <a:rPr lang="en-US" sz="2800" smtClean="0"/>
              <a:t>Installation</a:t>
            </a:r>
          </a:p>
          <a:p>
            <a:pPr lvl="1" eaLnBrk="1" hangingPunct="1"/>
            <a:r>
              <a:rPr lang="en-US" sz="2400" smtClean="0"/>
              <a:t>Process during which the current system is replaced by the new system</a:t>
            </a:r>
          </a:p>
        </p:txBody>
      </p:sp>
      <p:sp>
        <p:nvSpPr>
          <p:cNvPr id="215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046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95E89417-04E7-4944-B99F-60AD5986F62C}"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a:xfrm>
            <a:off x="609600" y="685800"/>
            <a:ext cx="7772400" cy="1143000"/>
          </a:xfrm>
        </p:spPr>
        <p:txBody>
          <a:bodyPr>
            <a:normAutofit fontScale="90000"/>
          </a:bodyPr>
          <a:lstStyle/>
          <a:p>
            <a:pPr marL="484632" eaLnBrk="1" fontAlgn="auto" hangingPunct="1">
              <a:spcAft>
                <a:spcPts val="0"/>
              </a:spcAft>
              <a:defRPr/>
            </a:pPr>
            <a:r>
              <a:rPr lang="en-US" sz="3200" dirty="0">
                <a:solidFill>
                  <a:schemeClr val="accent1">
                    <a:tint val="83000"/>
                    <a:satMod val="150000"/>
                  </a:schemeClr>
                </a:solidFill>
              </a:rPr>
              <a:t>The Processes of Coding,</a:t>
            </a:r>
            <a:br>
              <a:rPr lang="en-US" sz="3200" dirty="0">
                <a:solidFill>
                  <a:schemeClr val="accent1">
                    <a:tint val="83000"/>
                    <a:satMod val="150000"/>
                  </a:schemeClr>
                </a:solidFill>
              </a:rPr>
            </a:br>
            <a:r>
              <a:rPr lang="en-US" sz="3200" dirty="0">
                <a:solidFill>
                  <a:schemeClr val="accent1">
                    <a:tint val="83000"/>
                    <a:satMod val="150000"/>
                  </a:schemeClr>
                </a:solidFill>
              </a:rPr>
              <a:t> Testing, and Installation:</a:t>
            </a:r>
            <a:br>
              <a:rPr lang="en-US" sz="3200" dirty="0">
                <a:solidFill>
                  <a:schemeClr val="accent1">
                    <a:tint val="83000"/>
                    <a:satMod val="150000"/>
                  </a:schemeClr>
                </a:solidFill>
              </a:rPr>
            </a:br>
            <a:r>
              <a:rPr lang="en-US" sz="3200" dirty="0">
                <a:solidFill>
                  <a:schemeClr val="accent1">
                    <a:tint val="83000"/>
                    <a:satMod val="150000"/>
                  </a:schemeClr>
                </a:solidFill>
              </a:rPr>
              <a:t>Deliverables</a:t>
            </a:r>
          </a:p>
        </p:txBody>
      </p:sp>
      <p:graphicFrame>
        <p:nvGraphicFramePr>
          <p:cNvPr id="327684" name="Object 4"/>
          <p:cNvGraphicFramePr>
            <a:graphicFrameLocks noGrp="1" noChangeAspect="1"/>
          </p:cNvGraphicFramePr>
          <p:nvPr>
            <p:ph type="tbl" idx="1"/>
          </p:nvPr>
        </p:nvGraphicFramePr>
        <p:xfrm>
          <a:off x="1308100" y="1916113"/>
          <a:ext cx="6807200" cy="4090987"/>
        </p:xfrm>
        <a:graphic>
          <a:graphicData uri="http://schemas.openxmlformats.org/presentationml/2006/ole">
            <mc:AlternateContent xmlns:mc="http://schemas.openxmlformats.org/markup-compatibility/2006">
              <mc:Choice xmlns:v="urn:schemas-microsoft-com:vml" Requires="v">
                <p:oleObj spid="_x0000_s327688" name="Document" r:id="rId3" imgW="7936091" imgH="4793501" progId="Word.Document.8">
                  <p:embed/>
                </p:oleObj>
              </mc:Choice>
              <mc:Fallback>
                <p:oleObj name="Document" r:id="rId3" imgW="7936091" imgH="4793501" progId="Word.Document.8">
                  <p:embed/>
                  <p:pic>
                    <p:nvPicPr>
                      <p:cNvPr id="0" name="Picture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100" y="1916113"/>
                        <a:ext cx="6807200" cy="4090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686"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058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4E8B5211-8A91-4454-BE4C-EAA2F82A1C68}" type="slidenum">
              <a:rPr lang="en-US" sz="1600">
                <a:solidFill>
                  <a:schemeClr val="tx1"/>
                </a:solidFill>
                <a:cs typeface="+mn-cs"/>
              </a:rPr>
              <a:pPr algn="ctr" eaLnBrk="0" hangingPunct="0">
                <a:defRPr/>
              </a:pPr>
              <a:t>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050"/>
          <p:cNvSpPr>
            <a:spLocks noGrp="1" noChangeArrowheads="1"/>
          </p:cNvSpPr>
          <p:nvPr>
            <p:ph type="title"/>
          </p:nvPr>
        </p:nvSpPr>
        <p:spPr/>
        <p:txBody>
          <a:bodyPr>
            <a:normAutofit fontScale="90000"/>
          </a:bodyPr>
          <a:lstStyle/>
          <a:p>
            <a:pPr marL="484632" eaLnBrk="1" fontAlgn="auto" hangingPunct="1">
              <a:spcAft>
                <a:spcPts val="0"/>
              </a:spcAft>
              <a:defRPr/>
            </a:pPr>
            <a:r>
              <a:rPr lang="en-US" sz="3200" dirty="0">
                <a:solidFill>
                  <a:schemeClr val="accent1">
                    <a:tint val="83000"/>
                    <a:satMod val="150000"/>
                  </a:schemeClr>
                </a:solidFill>
              </a:rPr>
              <a:t>The Processes of Documenting the System, Training Users, and Supporting Users</a:t>
            </a:r>
            <a:endParaRPr lang="en-US" dirty="0">
              <a:solidFill>
                <a:schemeClr val="accent1">
                  <a:tint val="83000"/>
                  <a:satMod val="150000"/>
                </a:schemeClr>
              </a:solidFill>
            </a:endParaRPr>
          </a:p>
        </p:txBody>
      </p:sp>
      <p:sp>
        <p:nvSpPr>
          <p:cNvPr id="328706" name="Rectangle 2051" descr="Rectangle: Click to edit Master text styles&#10;Second level&#10;Third level&#10;Fourth level&#10;Fifth level"/>
          <p:cNvSpPr>
            <a:spLocks noGrp="1" noChangeArrowheads="1"/>
          </p:cNvSpPr>
          <p:nvPr>
            <p:ph idx="1"/>
          </p:nvPr>
        </p:nvSpPr>
        <p:spPr>
          <a:xfrm>
            <a:off x="838200" y="1752600"/>
            <a:ext cx="7772400" cy="4876800"/>
          </a:xfrm>
        </p:spPr>
        <p:txBody>
          <a:bodyPr/>
          <a:lstStyle/>
          <a:p>
            <a:pPr marL="339725" indent="-339725" eaLnBrk="1" hangingPunct="1">
              <a:lnSpc>
                <a:spcPct val="55000"/>
              </a:lnSpc>
            </a:pPr>
            <a:r>
              <a:rPr lang="en-US" sz="2400" smtClean="0"/>
              <a:t>Two audiences for documentation</a:t>
            </a:r>
          </a:p>
          <a:p>
            <a:pPr marL="628650" lvl="1" indent="-174625" eaLnBrk="1" hangingPunct="1">
              <a:lnSpc>
                <a:spcPct val="60000"/>
              </a:lnSpc>
            </a:pPr>
            <a:r>
              <a:rPr lang="en-US" sz="2000" smtClean="0"/>
              <a:t>The information systems personnel who will maintain the system throughout its productive life</a:t>
            </a:r>
          </a:p>
          <a:p>
            <a:pPr marL="628650" lvl="1" indent="-174625" eaLnBrk="1" hangingPunct="1">
              <a:lnSpc>
                <a:spcPct val="60000"/>
              </a:lnSpc>
            </a:pPr>
            <a:r>
              <a:rPr lang="en-US" sz="2000" smtClean="0"/>
              <a:t>The people who will use the system as part of their daily lives</a:t>
            </a:r>
          </a:p>
          <a:p>
            <a:pPr marL="628650" lvl="1" indent="-174625" eaLnBrk="1" hangingPunct="1">
              <a:lnSpc>
                <a:spcPct val="60000"/>
              </a:lnSpc>
            </a:pPr>
            <a:endParaRPr lang="en-US" sz="2000" smtClean="0"/>
          </a:p>
          <a:p>
            <a:pPr marL="339725" indent="-339725" eaLnBrk="1" hangingPunct="1">
              <a:lnSpc>
                <a:spcPct val="60000"/>
              </a:lnSpc>
            </a:pPr>
            <a:r>
              <a:rPr lang="en-US" sz="2400" smtClean="0"/>
              <a:t>Deliverables</a:t>
            </a:r>
          </a:p>
          <a:p>
            <a:pPr marL="628650" lvl="1" indent="-174625" eaLnBrk="1" hangingPunct="1">
              <a:lnSpc>
                <a:spcPct val="60000"/>
              </a:lnSpc>
            </a:pPr>
            <a:r>
              <a:rPr lang="en-US" sz="2000" smtClean="0"/>
              <a:t>Documentation</a:t>
            </a:r>
          </a:p>
          <a:p>
            <a:pPr marL="914400" lvl="2" indent="-171450" eaLnBrk="1" hangingPunct="1">
              <a:lnSpc>
                <a:spcPct val="60000"/>
              </a:lnSpc>
            </a:pPr>
            <a:r>
              <a:rPr lang="en-US" sz="1800" smtClean="0"/>
              <a:t>System documentation</a:t>
            </a:r>
          </a:p>
          <a:p>
            <a:pPr marL="914400" lvl="2" indent="-171450" eaLnBrk="1" hangingPunct="1">
              <a:lnSpc>
                <a:spcPct val="60000"/>
              </a:lnSpc>
            </a:pPr>
            <a:r>
              <a:rPr lang="en-US" sz="1800" smtClean="0"/>
              <a:t>User documentation</a:t>
            </a:r>
          </a:p>
          <a:p>
            <a:pPr marL="628650" lvl="1" indent="-174625" eaLnBrk="1" hangingPunct="1">
              <a:lnSpc>
                <a:spcPct val="60000"/>
              </a:lnSpc>
            </a:pPr>
            <a:r>
              <a:rPr lang="en-US" sz="2000" smtClean="0"/>
              <a:t>User training plan</a:t>
            </a:r>
          </a:p>
          <a:p>
            <a:pPr marL="914400" lvl="2" indent="-171450" eaLnBrk="1" hangingPunct="1">
              <a:lnSpc>
                <a:spcPct val="60000"/>
              </a:lnSpc>
            </a:pPr>
            <a:r>
              <a:rPr lang="en-US" sz="1800" smtClean="0"/>
              <a:t>Classes</a:t>
            </a:r>
          </a:p>
          <a:p>
            <a:pPr marL="914400" lvl="2" indent="-171450" eaLnBrk="1" hangingPunct="1">
              <a:lnSpc>
                <a:spcPct val="60000"/>
              </a:lnSpc>
            </a:pPr>
            <a:r>
              <a:rPr lang="en-US" sz="1800" smtClean="0"/>
              <a:t>Tutorials</a:t>
            </a:r>
          </a:p>
          <a:p>
            <a:pPr marL="628650" lvl="1" indent="-174625" eaLnBrk="1" hangingPunct="1">
              <a:lnSpc>
                <a:spcPct val="60000"/>
              </a:lnSpc>
            </a:pPr>
            <a:r>
              <a:rPr lang="en-US" sz="2000" smtClean="0"/>
              <a:t>User training modules</a:t>
            </a:r>
          </a:p>
          <a:p>
            <a:pPr marL="914400" lvl="2" indent="-171450" eaLnBrk="1" hangingPunct="1">
              <a:lnSpc>
                <a:spcPct val="60000"/>
              </a:lnSpc>
            </a:pPr>
            <a:r>
              <a:rPr lang="en-US" sz="1800" smtClean="0"/>
              <a:t>Training materials</a:t>
            </a:r>
          </a:p>
          <a:p>
            <a:pPr marL="914400" lvl="2" indent="-171450" eaLnBrk="1" hangingPunct="1">
              <a:lnSpc>
                <a:spcPct val="60000"/>
              </a:lnSpc>
            </a:pPr>
            <a:r>
              <a:rPr lang="en-US" sz="1800" smtClean="0"/>
              <a:t>Computer-based training aids</a:t>
            </a:r>
          </a:p>
          <a:p>
            <a:pPr marL="628650" lvl="1" indent="-174625" eaLnBrk="1" hangingPunct="1">
              <a:lnSpc>
                <a:spcPct val="60000"/>
              </a:lnSpc>
            </a:pPr>
            <a:r>
              <a:rPr lang="en-US" sz="2000" smtClean="0"/>
              <a:t>User support plan</a:t>
            </a:r>
          </a:p>
          <a:p>
            <a:pPr marL="914400" lvl="2" indent="-171450" eaLnBrk="1" hangingPunct="1">
              <a:lnSpc>
                <a:spcPct val="60000"/>
              </a:lnSpc>
            </a:pPr>
            <a:r>
              <a:rPr lang="en-US" sz="1800" smtClean="0"/>
              <a:t>Help desk</a:t>
            </a:r>
          </a:p>
          <a:p>
            <a:pPr marL="914400" lvl="2" indent="-171450" eaLnBrk="1" hangingPunct="1">
              <a:lnSpc>
                <a:spcPct val="60000"/>
              </a:lnSpc>
            </a:pPr>
            <a:r>
              <a:rPr lang="en-US" sz="1800" smtClean="0"/>
              <a:t>On-line help</a:t>
            </a:r>
          </a:p>
          <a:p>
            <a:pPr marL="914400" lvl="2" indent="-171450" eaLnBrk="1" hangingPunct="1">
              <a:lnSpc>
                <a:spcPct val="60000"/>
              </a:lnSpc>
            </a:pPr>
            <a:r>
              <a:rPr lang="en-US" sz="1800" smtClean="0"/>
              <a:t>Bulletin boards and other support mechanisms</a:t>
            </a:r>
          </a:p>
        </p:txBody>
      </p:sp>
      <p:sp>
        <p:nvSpPr>
          <p:cNvPr id="3287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6244" name="Text Box 205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AA4F7E66-FCCF-4195-B52C-BDC8819EB837}" type="slidenum">
              <a:rPr lang="en-US" sz="1600">
                <a:solidFill>
                  <a:schemeClr val="tx1"/>
                </a:solidFill>
                <a:cs typeface="+mn-cs"/>
              </a:rPr>
              <a:pPr algn="ctr" eaLnBrk="0" hangingPunct="0">
                <a:defRPr/>
              </a:pPr>
              <a:t>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685800" y="533400"/>
            <a:ext cx="7772400" cy="8382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The Process of Maintaining Information Systems</a:t>
            </a:r>
          </a:p>
        </p:txBody>
      </p:sp>
      <p:sp>
        <p:nvSpPr>
          <p:cNvPr id="329730" name="Rectangle 3" descr="Rectangle: Click to edit Master text styles&#10;Second level&#10;Third level&#10;Fourth level&#10;Fifth level"/>
          <p:cNvSpPr>
            <a:spLocks noGrp="1" noChangeArrowheads="1"/>
          </p:cNvSpPr>
          <p:nvPr>
            <p:ph idx="1"/>
          </p:nvPr>
        </p:nvSpPr>
        <p:spPr>
          <a:xfrm>
            <a:off x="838200" y="1524000"/>
            <a:ext cx="7772400" cy="4572000"/>
          </a:xfrm>
        </p:spPr>
        <p:txBody>
          <a:bodyPr/>
          <a:lstStyle/>
          <a:p>
            <a:pPr eaLnBrk="1" hangingPunct="1">
              <a:lnSpc>
                <a:spcPct val="90000"/>
              </a:lnSpc>
            </a:pPr>
            <a:r>
              <a:rPr lang="en-US" smtClean="0"/>
              <a:t>Process of returning to the beginning of the SDLC and repeating development steps focusing on system change until the change is implemented</a:t>
            </a:r>
          </a:p>
          <a:p>
            <a:pPr eaLnBrk="1" hangingPunct="1">
              <a:lnSpc>
                <a:spcPct val="90000"/>
              </a:lnSpc>
            </a:pPr>
            <a:r>
              <a:rPr lang="en-US" smtClean="0"/>
              <a:t>Four major activities:</a:t>
            </a:r>
          </a:p>
          <a:p>
            <a:pPr lvl="1" eaLnBrk="1" hangingPunct="1">
              <a:lnSpc>
                <a:spcPct val="90000"/>
              </a:lnSpc>
              <a:buFont typeface="Wingdings" pitchFamily="2" charset="2"/>
              <a:buNone/>
            </a:pPr>
            <a:r>
              <a:rPr lang="en-US" smtClean="0">
                <a:solidFill>
                  <a:srgbClr val="FF388C"/>
                </a:solidFill>
              </a:rPr>
              <a:t>1.</a:t>
            </a:r>
            <a:r>
              <a:rPr lang="en-US" smtClean="0"/>
              <a:t>	Obtaining maintenance requests</a:t>
            </a:r>
          </a:p>
          <a:p>
            <a:pPr lvl="1" eaLnBrk="1" hangingPunct="1">
              <a:lnSpc>
                <a:spcPct val="90000"/>
              </a:lnSpc>
              <a:buFont typeface="Wingdings" pitchFamily="2" charset="2"/>
              <a:buNone/>
            </a:pPr>
            <a:r>
              <a:rPr lang="en-US" smtClean="0">
                <a:solidFill>
                  <a:srgbClr val="FF388C"/>
                </a:solidFill>
              </a:rPr>
              <a:t>2.</a:t>
            </a:r>
            <a:r>
              <a:rPr lang="en-US" smtClean="0"/>
              <a:t>	Transforming requests into changes</a:t>
            </a:r>
          </a:p>
          <a:p>
            <a:pPr lvl="1" eaLnBrk="1" hangingPunct="1">
              <a:lnSpc>
                <a:spcPct val="90000"/>
              </a:lnSpc>
              <a:buFont typeface="Wingdings" pitchFamily="2" charset="2"/>
              <a:buNone/>
            </a:pPr>
            <a:r>
              <a:rPr lang="en-US" smtClean="0">
                <a:solidFill>
                  <a:srgbClr val="FF388C"/>
                </a:solidFill>
              </a:rPr>
              <a:t>3.</a:t>
            </a:r>
            <a:r>
              <a:rPr lang="en-US" smtClean="0"/>
              <a:t>	Designing changes</a:t>
            </a:r>
          </a:p>
          <a:p>
            <a:pPr lvl="1" eaLnBrk="1" hangingPunct="1">
              <a:lnSpc>
                <a:spcPct val="90000"/>
              </a:lnSpc>
              <a:buFont typeface="Wingdings" pitchFamily="2" charset="2"/>
              <a:buNone/>
            </a:pPr>
            <a:r>
              <a:rPr lang="en-US" smtClean="0">
                <a:solidFill>
                  <a:srgbClr val="FF388C"/>
                </a:solidFill>
              </a:rPr>
              <a:t>4.</a:t>
            </a:r>
            <a:r>
              <a:rPr lang="en-US" smtClean="0"/>
              <a:t>	Implementing changes</a:t>
            </a:r>
          </a:p>
        </p:txBody>
      </p:sp>
      <p:sp>
        <p:nvSpPr>
          <p:cNvPr id="3297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149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AA00221B-3DD2-4B24-8F4B-AAD89D0E9C49}" type="slidenum">
              <a:rPr lang="en-US" sz="1600">
                <a:solidFill>
                  <a:schemeClr val="tx1"/>
                </a:solidFill>
                <a:cs typeface="+mn-cs"/>
              </a:rPr>
              <a:pPr algn="ctr" eaLnBrk="0" hangingPunct="0">
                <a:defRPr/>
              </a:pPr>
              <a:t>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026"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38BD74B6-3AFF-4D7E-B01D-25B032D90361}" type="slidenum">
              <a:rPr lang="en-US" sz="1600">
                <a:solidFill>
                  <a:schemeClr val="tx1"/>
                </a:solidFill>
                <a:cs typeface="+mn-cs"/>
              </a:rPr>
              <a:pPr algn="ctr" eaLnBrk="0" hangingPunct="0">
                <a:defRPr/>
              </a:pPr>
              <a:t>9</a:t>
            </a:fld>
            <a:endParaRPr lang="en-US" sz="1600">
              <a:solidFill>
                <a:schemeClr val="tx1"/>
              </a:solidFill>
              <a:cs typeface="+mn-cs"/>
            </a:endParaRPr>
          </a:p>
        </p:txBody>
      </p:sp>
      <p:pic>
        <p:nvPicPr>
          <p:cNvPr id="328704" name="Picture 0"/>
          <p:cNvPicPr>
            <a:picLocks noChangeAspect="1" noChangeArrowheads="1"/>
          </p:cNvPicPr>
          <p:nvPr/>
        </p:nvPicPr>
        <p:blipFill>
          <a:blip r:embed="rId2"/>
          <a:srcRect/>
          <a:stretch>
            <a:fillRect/>
          </a:stretch>
        </p:blipFill>
        <p:spPr bwMode="auto">
          <a:xfrm>
            <a:off x="206375" y="669925"/>
            <a:ext cx="8620125" cy="5278438"/>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685800" y="685800"/>
            <a:ext cx="7772400" cy="8382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The Process of Maintaining Information Systems (continued)</a:t>
            </a:r>
          </a:p>
        </p:txBody>
      </p:sp>
      <p:sp>
        <p:nvSpPr>
          <p:cNvPr id="331778"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lstStyle/>
          <a:p>
            <a:pPr eaLnBrk="1" hangingPunct="1"/>
            <a:endParaRPr lang="en-US" smtClean="0"/>
          </a:p>
          <a:p>
            <a:pPr eaLnBrk="1" hangingPunct="1"/>
            <a:r>
              <a:rPr lang="en-US" smtClean="0"/>
              <a:t>Deliverables and Outcomes</a:t>
            </a:r>
          </a:p>
          <a:p>
            <a:pPr lvl="1" eaLnBrk="1" hangingPunct="1"/>
            <a:r>
              <a:rPr lang="en-US" smtClean="0"/>
              <a:t>Development of a new version of the software, new versions of all design documents, and training materials created or modified during the maintenance effort</a:t>
            </a:r>
          </a:p>
          <a:p>
            <a:pPr lvl="1" eaLnBrk="1" hangingPunct="1">
              <a:buFont typeface="Wingdings" pitchFamily="2" charset="2"/>
              <a:buNone/>
            </a:pPr>
            <a:endParaRPr lang="en-US" smtClean="0"/>
          </a:p>
          <a:p>
            <a:pPr eaLnBrk="1" hangingPunct="1">
              <a:buFont typeface="Wingdings" pitchFamily="2" charset="2"/>
              <a:buNone/>
            </a:pPr>
            <a:endParaRPr lang="en-US" smtClean="0"/>
          </a:p>
        </p:txBody>
      </p:sp>
      <p:sp>
        <p:nvSpPr>
          <p:cNvPr id="3317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1604"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C70068C3-E7D1-473D-A40A-5D92B1D31FFF}" type="slidenum">
              <a:rPr lang="en-US" sz="1600">
                <a:solidFill>
                  <a:schemeClr val="tx1"/>
                </a:solidFill>
                <a:cs typeface="+mn-cs"/>
              </a:rPr>
              <a:pPr algn="ctr" eaLnBrk="0" hangingPunct="0">
                <a:defRPr/>
              </a:pPr>
              <a:t>10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p>
        </p:txBody>
      </p:sp>
      <p:sp>
        <p:nvSpPr>
          <p:cNvPr id="192515"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normAutofit lnSpcReduction="10000"/>
          </a:bodyPr>
          <a:lstStyle/>
          <a:p>
            <a:pPr marL="448056" indent="-384048" eaLnBrk="1" fontAlgn="auto" hangingPunct="1">
              <a:lnSpc>
                <a:spcPct val="90000"/>
              </a:lnSpc>
              <a:spcAft>
                <a:spcPts val="0"/>
              </a:spcAft>
              <a:buFont typeface="Wingdings 2"/>
              <a:buChar char=""/>
              <a:defRPr/>
            </a:pPr>
            <a:r>
              <a:rPr lang="en-US" sz="2800"/>
              <a:t>A test plan is developed during the analysis phase</a:t>
            </a:r>
          </a:p>
          <a:p>
            <a:pPr marL="448056" indent="-384048" eaLnBrk="1" fontAlgn="auto" hangingPunct="1">
              <a:lnSpc>
                <a:spcPct val="90000"/>
              </a:lnSpc>
              <a:spcAft>
                <a:spcPts val="0"/>
              </a:spcAft>
              <a:buFont typeface="Wingdings 2"/>
              <a:buChar char=""/>
              <a:defRPr/>
            </a:pPr>
            <a:r>
              <a:rPr lang="en-US" sz="2800"/>
              <a:t>During the design phase, a unit test plan and a system test plan are developed</a:t>
            </a:r>
          </a:p>
          <a:p>
            <a:pPr marL="448056" indent="-384048" eaLnBrk="1" fontAlgn="auto" hangingPunct="1">
              <a:lnSpc>
                <a:spcPct val="90000"/>
              </a:lnSpc>
              <a:spcAft>
                <a:spcPts val="0"/>
              </a:spcAft>
              <a:buFont typeface="Wingdings 2"/>
              <a:buChar char=""/>
              <a:defRPr/>
            </a:pPr>
            <a:r>
              <a:rPr lang="en-US" sz="2800"/>
              <a:t>The actual testing is done during implementation</a:t>
            </a:r>
          </a:p>
          <a:p>
            <a:pPr marL="448056" indent="-384048" eaLnBrk="1" fontAlgn="auto" hangingPunct="1">
              <a:lnSpc>
                <a:spcPct val="90000"/>
              </a:lnSpc>
              <a:spcAft>
                <a:spcPts val="0"/>
              </a:spcAft>
              <a:buFont typeface="Wingdings 2"/>
              <a:buChar char=""/>
              <a:defRPr/>
            </a:pPr>
            <a:r>
              <a:rPr lang="en-US" sz="2800"/>
              <a:t>Test plans provide improved communication among all parties involved in testing</a:t>
            </a:r>
          </a:p>
          <a:p>
            <a:pPr marL="822960" lvl="1" eaLnBrk="1" fontAlgn="auto" hangingPunct="1">
              <a:lnSpc>
                <a:spcPct val="90000"/>
              </a:lnSpc>
              <a:spcAft>
                <a:spcPts val="0"/>
              </a:spcAft>
              <a:buFont typeface="Verdana"/>
              <a:buChar char="›"/>
              <a:defRPr/>
            </a:pPr>
            <a:r>
              <a:rPr lang="en-US" sz="2400"/>
              <a:t>Serve as checklists</a:t>
            </a:r>
          </a:p>
          <a:p>
            <a:pPr marL="448056" indent="-384048" eaLnBrk="1" fontAlgn="auto" hangingPunct="1">
              <a:lnSpc>
                <a:spcPct val="90000"/>
              </a:lnSpc>
              <a:spcAft>
                <a:spcPts val="0"/>
              </a:spcAft>
              <a:buFont typeface="Wingdings 2"/>
              <a:buChar char=""/>
              <a:defRPr/>
            </a:pPr>
            <a:endParaRPr lang="en-US" sz="2800"/>
          </a:p>
        </p:txBody>
      </p:sp>
      <p:sp>
        <p:nvSpPr>
          <p:cNvPr id="3328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251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1849AB2C-0BC3-40A3-8407-83071ED28058}" type="slidenum">
              <a:rPr lang="en-US" sz="1600">
                <a:solidFill>
                  <a:schemeClr val="tx1"/>
                </a:solidFill>
                <a:cs typeface="+mn-cs"/>
              </a:rPr>
              <a:pPr algn="ctr" eaLnBrk="0" hangingPunct="0">
                <a:defRPr/>
              </a:pPr>
              <a:t>11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br>
              <a:rPr lang="en-US">
                <a:solidFill>
                  <a:schemeClr val="accent1">
                    <a:tint val="83000"/>
                    <a:satMod val="150000"/>
                  </a:schemeClr>
                </a:solidFill>
              </a:rPr>
            </a:br>
            <a:r>
              <a:rPr lang="en-US">
                <a:solidFill>
                  <a:schemeClr val="accent1">
                    <a:tint val="83000"/>
                    <a:satMod val="150000"/>
                  </a:schemeClr>
                </a:solidFill>
              </a:rPr>
              <a:t>Types of Testing</a:t>
            </a:r>
          </a:p>
        </p:txBody>
      </p:sp>
      <p:sp>
        <p:nvSpPr>
          <p:cNvPr id="265219"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normAutofit fontScale="92500"/>
          </a:bodyPr>
          <a:lstStyle/>
          <a:p>
            <a:pPr marL="448056" indent="-384048" eaLnBrk="1" fontAlgn="auto" hangingPunct="1">
              <a:lnSpc>
                <a:spcPct val="90000"/>
              </a:lnSpc>
              <a:spcAft>
                <a:spcPts val="0"/>
              </a:spcAft>
              <a:buFont typeface="Wingdings 2"/>
              <a:buChar char=""/>
              <a:defRPr/>
            </a:pPr>
            <a:r>
              <a:rPr lang="en-US" sz="2800"/>
              <a:t>Inspection</a:t>
            </a:r>
          </a:p>
          <a:p>
            <a:pPr marL="822960" lvl="1" eaLnBrk="1" fontAlgn="auto" hangingPunct="1">
              <a:lnSpc>
                <a:spcPct val="90000"/>
              </a:lnSpc>
              <a:spcAft>
                <a:spcPts val="0"/>
              </a:spcAft>
              <a:buFont typeface="Verdana"/>
              <a:buChar char="›"/>
              <a:defRPr/>
            </a:pPr>
            <a:r>
              <a:rPr lang="en-US" sz="2400"/>
              <a:t>A testing technique in which participants examine program code for predictable language-specific errors</a:t>
            </a:r>
          </a:p>
          <a:p>
            <a:pPr marL="448056" indent="-384048" eaLnBrk="1" fontAlgn="auto" hangingPunct="1">
              <a:lnSpc>
                <a:spcPct val="90000"/>
              </a:lnSpc>
              <a:spcAft>
                <a:spcPts val="0"/>
              </a:spcAft>
              <a:buFont typeface="Wingdings 2"/>
              <a:buChar char=""/>
              <a:defRPr/>
            </a:pPr>
            <a:r>
              <a:rPr lang="en-US" sz="2800"/>
              <a:t>Walkthrough</a:t>
            </a:r>
          </a:p>
          <a:p>
            <a:pPr marL="822960" lvl="1" eaLnBrk="1" fontAlgn="auto" hangingPunct="1">
              <a:lnSpc>
                <a:spcPct val="90000"/>
              </a:lnSpc>
              <a:spcAft>
                <a:spcPts val="0"/>
              </a:spcAft>
              <a:buFont typeface="Verdana"/>
              <a:buChar char="›"/>
              <a:defRPr/>
            </a:pPr>
            <a:r>
              <a:rPr lang="en-US" sz="2400"/>
              <a:t>A peer group review of any product created during the systems development process;  also called a structured walkthrough</a:t>
            </a:r>
          </a:p>
          <a:p>
            <a:pPr marL="448056" indent="-384048" eaLnBrk="1" fontAlgn="auto" hangingPunct="1">
              <a:lnSpc>
                <a:spcPct val="90000"/>
              </a:lnSpc>
              <a:spcAft>
                <a:spcPts val="0"/>
              </a:spcAft>
              <a:buFont typeface="Wingdings 2"/>
              <a:buChar char=""/>
              <a:defRPr/>
            </a:pPr>
            <a:r>
              <a:rPr lang="en-US" sz="2800"/>
              <a:t>Desk Checking</a:t>
            </a:r>
          </a:p>
          <a:p>
            <a:pPr marL="822960" lvl="1" eaLnBrk="1" fontAlgn="auto" hangingPunct="1">
              <a:lnSpc>
                <a:spcPct val="90000"/>
              </a:lnSpc>
              <a:spcAft>
                <a:spcPts val="0"/>
              </a:spcAft>
              <a:buFont typeface="Verdana"/>
              <a:buChar char="›"/>
              <a:defRPr/>
            </a:pPr>
            <a:r>
              <a:rPr lang="en-US" sz="2400"/>
              <a:t>A testing technique in which the program code is sequentially executed manually by the reviewer</a:t>
            </a:r>
          </a:p>
          <a:p>
            <a:pPr marL="822960" lvl="1" eaLnBrk="1" fontAlgn="auto" hangingPunct="1">
              <a:lnSpc>
                <a:spcPct val="90000"/>
              </a:lnSpc>
              <a:spcAft>
                <a:spcPts val="0"/>
              </a:spcAft>
              <a:buFont typeface="Wingdings" pitchFamily="2" charset="2"/>
              <a:buNone/>
              <a:defRPr/>
            </a:pPr>
            <a:endParaRPr lang="en-US" sz="2400"/>
          </a:p>
          <a:p>
            <a:pPr marL="822960" lvl="1" eaLnBrk="1" fontAlgn="auto" hangingPunct="1">
              <a:lnSpc>
                <a:spcPct val="90000"/>
              </a:lnSpc>
              <a:spcAft>
                <a:spcPts val="0"/>
              </a:spcAft>
              <a:buFont typeface="Verdana"/>
              <a:buChar char="›"/>
              <a:defRPr/>
            </a:pPr>
            <a:endParaRPr lang="en-US" sz="2400"/>
          </a:p>
          <a:p>
            <a:pPr marL="822960" lvl="1" eaLnBrk="1" fontAlgn="auto" hangingPunct="1">
              <a:lnSpc>
                <a:spcPct val="90000"/>
              </a:lnSpc>
              <a:spcAft>
                <a:spcPts val="0"/>
              </a:spcAft>
              <a:buFont typeface="Wingdings" pitchFamily="2" charset="2"/>
              <a:buNone/>
              <a:defRPr/>
            </a:pPr>
            <a:endParaRPr lang="en-US" sz="2400"/>
          </a:p>
        </p:txBody>
      </p:sp>
      <p:sp>
        <p:nvSpPr>
          <p:cNvPr id="3338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522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3D69BF78-57FD-460C-A645-5E30298A7562}" type="slidenum">
              <a:rPr lang="en-US" sz="1600">
                <a:solidFill>
                  <a:schemeClr val="tx1"/>
                </a:solidFill>
                <a:cs typeface="+mn-cs"/>
              </a:rPr>
              <a:pPr algn="ctr" eaLnBrk="0" hangingPunct="0">
                <a:defRPr/>
              </a:pPr>
              <a:t>12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br>
              <a:rPr lang="en-US">
                <a:solidFill>
                  <a:schemeClr val="accent1">
                    <a:tint val="83000"/>
                    <a:satMod val="150000"/>
                  </a:schemeClr>
                </a:solidFill>
              </a:rPr>
            </a:br>
            <a:r>
              <a:rPr lang="en-US">
                <a:solidFill>
                  <a:schemeClr val="accent1">
                    <a:tint val="83000"/>
                    <a:satMod val="150000"/>
                  </a:schemeClr>
                </a:solidFill>
              </a:rPr>
              <a:t>Types of Testing (continued)</a:t>
            </a:r>
          </a:p>
        </p:txBody>
      </p:sp>
      <p:sp>
        <p:nvSpPr>
          <p:cNvPr id="334850"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lstStyle/>
          <a:p>
            <a:pPr eaLnBrk="1" hangingPunct="1"/>
            <a:r>
              <a:rPr lang="en-US" sz="2800" smtClean="0"/>
              <a:t>Unit Testing</a:t>
            </a:r>
          </a:p>
          <a:p>
            <a:pPr lvl="1" eaLnBrk="1" hangingPunct="1"/>
            <a:r>
              <a:rPr lang="en-US" sz="2400" smtClean="0"/>
              <a:t>Each module is tested alone in an attempt to discover any errors in its code, also called module testing</a:t>
            </a:r>
          </a:p>
          <a:p>
            <a:pPr eaLnBrk="1" hangingPunct="1"/>
            <a:r>
              <a:rPr lang="en-US" sz="2800" smtClean="0"/>
              <a:t>Integration Testing</a:t>
            </a:r>
          </a:p>
          <a:p>
            <a:pPr lvl="1" eaLnBrk="1" hangingPunct="1"/>
            <a:r>
              <a:rPr lang="en-US" sz="2400" smtClean="0"/>
              <a:t>The process of bringing together all of the modules that a program comprises for testing purposes; modules are typically integrated in a top-down, incremental fashion</a:t>
            </a:r>
          </a:p>
          <a:p>
            <a:pPr lvl="1" eaLnBrk="1" hangingPunct="1">
              <a:buFont typeface="Wingdings" pitchFamily="2" charset="2"/>
              <a:buNone/>
            </a:pPr>
            <a:endParaRPr lang="en-US" sz="2400" smtClean="0"/>
          </a:p>
        </p:txBody>
      </p:sp>
      <p:sp>
        <p:nvSpPr>
          <p:cNvPr id="3348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2628"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032A5E47-8B30-4F5F-AAA6-DFF4355EE540}" type="slidenum">
              <a:rPr lang="en-US" sz="1600">
                <a:solidFill>
                  <a:schemeClr val="tx1"/>
                </a:solidFill>
                <a:cs typeface="+mn-cs"/>
              </a:rPr>
              <a:pPr algn="ctr" eaLnBrk="0" hangingPunct="0">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br>
              <a:rPr lang="en-US">
                <a:solidFill>
                  <a:schemeClr val="accent1">
                    <a:tint val="83000"/>
                    <a:satMod val="150000"/>
                  </a:schemeClr>
                </a:solidFill>
              </a:rPr>
            </a:br>
            <a:r>
              <a:rPr lang="en-US">
                <a:solidFill>
                  <a:schemeClr val="accent1">
                    <a:tint val="83000"/>
                    <a:satMod val="150000"/>
                  </a:schemeClr>
                </a:solidFill>
              </a:rPr>
              <a:t>Types of Testing (continued)</a:t>
            </a:r>
          </a:p>
        </p:txBody>
      </p:sp>
      <p:sp>
        <p:nvSpPr>
          <p:cNvPr id="335874"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lstStyle/>
          <a:p>
            <a:pPr eaLnBrk="1" hangingPunct="1"/>
            <a:r>
              <a:rPr lang="en-US" sz="2800" dirty="0" smtClean="0"/>
              <a:t>System Testing</a:t>
            </a:r>
          </a:p>
          <a:p>
            <a:pPr lvl="1" eaLnBrk="1" hangingPunct="1"/>
            <a:r>
              <a:rPr lang="en-US" sz="2400" dirty="0" smtClean="0"/>
              <a:t>The bringing together of all the programs that a system comprises for testing purposes; programs are typically integrated in a top-down, incremental fashion</a:t>
            </a:r>
          </a:p>
          <a:p>
            <a:pPr eaLnBrk="1" hangingPunct="1"/>
            <a:r>
              <a:rPr lang="en-US" sz="2800" dirty="0" smtClean="0"/>
              <a:t>Stub Testing</a:t>
            </a:r>
          </a:p>
          <a:p>
            <a:pPr lvl="1" eaLnBrk="1" hangingPunct="1"/>
            <a:r>
              <a:rPr lang="en-US" sz="2400" dirty="0" smtClean="0"/>
              <a:t>A technique used in testing, especially where modules are written and tested in a top-down fashion, where a few lines of code are used to substitute for subordinate modules</a:t>
            </a:r>
          </a:p>
        </p:txBody>
      </p:sp>
      <p:sp>
        <p:nvSpPr>
          <p:cNvPr id="3358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365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F12FD233-1E19-40AA-9AC3-2D907DFA3967}" type="slidenum">
              <a:rPr lang="en-US" sz="1600">
                <a:solidFill>
                  <a:schemeClr val="tx1"/>
                </a:solidFill>
                <a:cs typeface="+mn-cs"/>
              </a:rPr>
              <a:pPr algn="ctr" eaLnBrk="0" hangingPunct="0">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br>
              <a:rPr lang="en-US">
                <a:solidFill>
                  <a:schemeClr val="accent1">
                    <a:tint val="83000"/>
                    <a:satMod val="150000"/>
                  </a:schemeClr>
                </a:solidFill>
              </a:rPr>
            </a:br>
            <a:r>
              <a:rPr lang="en-US">
                <a:solidFill>
                  <a:schemeClr val="accent1">
                    <a:tint val="83000"/>
                    <a:satMod val="150000"/>
                  </a:schemeClr>
                </a:solidFill>
              </a:rPr>
              <a:t>The Testing Process</a:t>
            </a:r>
          </a:p>
        </p:txBody>
      </p:sp>
      <p:sp>
        <p:nvSpPr>
          <p:cNvPr id="336898"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lstStyle/>
          <a:p>
            <a:pPr marL="533400" indent="-533400" eaLnBrk="1" hangingPunct="1">
              <a:lnSpc>
                <a:spcPct val="90000"/>
              </a:lnSpc>
            </a:pPr>
            <a:r>
              <a:rPr lang="en-US" sz="2800" smtClean="0"/>
              <a:t>The purpose of the testing is to confirm that the system satisfies requirements </a:t>
            </a:r>
          </a:p>
          <a:p>
            <a:pPr marL="533400" indent="-533400" eaLnBrk="1" hangingPunct="1">
              <a:lnSpc>
                <a:spcPct val="90000"/>
              </a:lnSpc>
            </a:pPr>
            <a:r>
              <a:rPr lang="en-US" sz="2800" smtClean="0"/>
              <a:t>Testing must be planned</a:t>
            </a:r>
          </a:p>
          <a:p>
            <a:pPr marL="533400" indent="-533400" eaLnBrk="1" hangingPunct="1">
              <a:lnSpc>
                <a:spcPct val="90000"/>
              </a:lnSpc>
            </a:pPr>
            <a:r>
              <a:rPr lang="en-US" sz="2800" smtClean="0"/>
              <a:t>Test Case</a:t>
            </a:r>
          </a:p>
          <a:p>
            <a:pPr marL="914400" lvl="1" indent="-457200" eaLnBrk="1" hangingPunct="1">
              <a:lnSpc>
                <a:spcPct val="90000"/>
              </a:lnSpc>
            </a:pPr>
            <a:r>
              <a:rPr lang="en-US" sz="2400" smtClean="0"/>
              <a:t>A specific scenario of transactions, queries, or navigation paths that represent a typical, critical, or abnormal use of the system</a:t>
            </a:r>
          </a:p>
          <a:p>
            <a:pPr marL="914400" lvl="1" indent="-457200" eaLnBrk="1" hangingPunct="1">
              <a:lnSpc>
                <a:spcPct val="90000"/>
              </a:lnSpc>
            </a:pPr>
            <a:r>
              <a:rPr lang="en-US" sz="2400" smtClean="0"/>
              <a:t>Test cases and results should be thoroughly documented so they can be repeated for each revision of an application</a:t>
            </a:r>
          </a:p>
        </p:txBody>
      </p:sp>
      <p:sp>
        <p:nvSpPr>
          <p:cNvPr id="3368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467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C3636958-8294-4580-89A8-0CE154760D07}" type="slidenum">
              <a:rPr lang="en-US" sz="1600">
                <a:solidFill>
                  <a:schemeClr val="tx1"/>
                </a:solidFill>
                <a:cs typeface="+mn-cs"/>
              </a:rPr>
              <a:pPr algn="ctr" eaLnBrk="0" hangingPunct="0">
                <a:defRPr/>
              </a:pPr>
              <a:t>15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6178"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D899B336-F1D0-4115-9CA9-6CA146E80F8C}" type="slidenum">
              <a:rPr lang="en-US" sz="1600">
                <a:solidFill>
                  <a:schemeClr val="tx1"/>
                </a:solidFill>
                <a:cs typeface="+mn-cs"/>
              </a:rPr>
              <a:pPr algn="ctr" eaLnBrk="0" hangingPunct="0">
                <a:defRPr/>
              </a:pPr>
              <a:t>16</a:t>
            </a:fld>
            <a:endParaRPr lang="en-US" sz="1600">
              <a:solidFill>
                <a:schemeClr val="tx1"/>
              </a:solidFill>
              <a:cs typeface="+mn-cs"/>
            </a:endParaRPr>
          </a:p>
        </p:txBody>
      </p:sp>
      <p:pic>
        <p:nvPicPr>
          <p:cNvPr id="306180" name="Picture 4"/>
          <p:cNvPicPr>
            <a:picLocks noChangeAspect="1" noChangeArrowheads="1"/>
          </p:cNvPicPr>
          <p:nvPr/>
        </p:nvPicPr>
        <p:blipFill>
          <a:blip r:embed="rId2"/>
          <a:srcRect/>
          <a:stretch>
            <a:fillRect/>
          </a:stretch>
        </p:blipFill>
        <p:spPr bwMode="auto">
          <a:xfrm>
            <a:off x="568325" y="819150"/>
            <a:ext cx="8007350" cy="52197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br>
              <a:rPr lang="en-US">
                <a:solidFill>
                  <a:schemeClr val="accent1">
                    <a:tint val="83000"/>
                    <a:satMod val="150000"/>
                  </a:schemeClr>
                </a:solidFill>
              </a:rPr>
            </a:br>
            <a:r>
              <a:rPr lang="en-US">
                <a:solidFill>
                  <a:schemeClr val="accent1">
                    <a:tint val="83000"/>
                    <a:satMod val="150000"/>
                  </a:schemeClr>
                </a:solidFill>
              </a:rPr>
              <a:t>Acceptance Testing by Users</a:t>
            </a:r>
          </a:p>
        </p:txBody>
      </p:sp>
      <p:sp>
        <p:nvSpPr>
          <p:cNvPr id="338946" name="Rectangle 3" descr="Rectangle: Click to edit Master text styles&#10;Second level&#10;Third level&#10;Fourth level&#10;Fifth level"/>
          <p:cNvSpPr>
            <a:spLocks noGrp="1" noChangeArrowheads="1"/>
          </p:cNvSpPr>
          <p:nvPr>
            <p:ph idx="1"/>
          </p:nvPr>
        </p:nvSpPr>
        <p:spPr>
          <a:xfrm>
            <a:off x="762000" y="1828800"/>
            <a:ext cx="7772400" cy="4191000"/>
          </a:xfrm>
        </p:spPr>
        <p:txBody>
          <a:bodyPr/>
          <a:lstStyle/>
          <a:p>
            <a:pPr eaLnBrk="1" hangingPunct="1">
              <a:lnSpc>
                <a:spcPct val="85000"/>
              </a:lnSpc>
              <a:spcBef>
                <a:spcPct val="10000"/>
              </a:spcBef>
            </a:pPr>
            <a:r>
              <a:rPr lang="en-US" sz="2400" smtClean="0"/>
              <a:t>The process whereby actual users test a completed information system, the end result of which is the users’ acceptance of it</a:t>
            </a:r>
          </a:p>
          <a:p>
            <a:pPr eaLnBrk="1" hangingPunct="1">
              <a:lnSpc>
                <a:spcPct val="85000"/>
              </a:lnSpc>
              <a:spcBef>
                <a:spcPct val="10000"/>
              </a:spcBef>
            </a:pPr>
            <a:r>
              <a:rPr lang="en-US" sz="2400" smtClean="0"/>
              <a:t>Alpha Testing</a:t>
            </a:r>
          </a:p>
          <a:p>
            <a:pPr lvl="1" eaLnBrk="1" hangingPunct="1">
              <a:lnSpc>
                <a:spcPct val="85000"/>
              </a:lnSpc>
              <a:spcBef>
                <a:spcPct val="10000"/>
              </a:spcBef>
            </a:pPr>
            <a:r>
              <a:rPr lang="en-US" sz="2000" smtClean="0"/>
              <a:t>User testing of a completed information system using simulated data</a:t>
            </a:r>
          </a:p>
          <a:p>
            <a:pPr lvl="1" eaLnBrk="1" hangingPunct="1">
              <a:lnSpc>
                <a:spcPct val="85000"/>
              </a:lnSpc>
              <a:spcBef>
                <a:spcPct val="10000"/>
              </a:spcBef>
            </a:pPr>
            <a:r>
              <a:rPr lang="en-US" sz="2000" smtClean="0"/>
              <a:t>Recovery testing</a:t>
            </a:r>
          </a:p>
          <a:p>
            <a:pPr lvl="2" eaLnBrk="1" hangingPunct="1">
              <a:lnSpc>
                <a:spcPct val="85000"/>
              </a:lnSpc>
              <a:spcBef>
                <a:spcPct val="10000"/>
              </a:spcBef>
            </a:pPr>
            <a:r>
              <a:rPr lang="en-US" sz="1800" smtClean="0"/>
              <a:t>Forces the software (or environment) to fail in order to verify that recovery is properly performed</a:t>
            </a:r>
          </a:p>
          <a:p>
            <a:pPr lvl="1" eaLnBrk="1" hangingPunct="1">
              <a:lnSpc>
                <a:spcPct val="85000"/>
              </a:lnSpc>
              <a:spcBef>
                <a:spcPct val="10000"/>
              </a:spcBef>
            </a:pPr>
            <a:r>
              <a:rPr lang="en-US" sz="2000" smtClean="0"/>
              <a:t>Security testing</a:t>
            </a:r>
          </a:p>
          <a:p>
            <a:pPr lvl="2" eaLnBrk="1" hangingPunct="1">
              <a:lnSpc>
                <a:spcPct val="85000"/>
              </a:lnSpc>
              <a:spcBef>
                <a:spcPct val="10000"/>
              </a:spcBef>
            </a:pPr>
            <a:r>
              <a:rPr lang="en-US" sz="1800" smtClean="0"/>
              <a:t>Verifies that protection mechanisms built into the system will protect it from improper penetration</a:t>
            </a:r>
          </a:p>
          <a:p>
            <a:pPr lvl="1" eaLnBrk="1" hangingPunct="1">
              <a:lnSpc>
                <a:spcPct val="85000"/>
              </a:lnSpc>
              <a:spcBef>
                <a:spcPct val="10000"/>
              </a:spcBef>
            </a:pPr>
            <a:r>
              <a:rPr lang="en-US" sz="2000" smtClean="0"/>
              <a:t>Stress testing</a:t>
            </a:r>
          </a:p>
          <a:p>
            <a:pPr lvl="2" eaLnBrk="1" hangingPunct="1">
              <a:lnSpc>
                <a:spcPct val="85000"/>
              </a:lnSpc>
              <a:spcBef>
                <a:spcPct val="10000"/>
              </a:spcBef>
            </a:pPr>
            <a:r>
              <a:rPr lang="en-US" sz="1800" smtClean="0"/>
              <a:t>Tries to break the system</a:t>
            </a:r>
          </a:p>
        </p:txBody>
      </p:sp>
      <p:sp>
        <p:nvSpPr>
          <p:cNvPr id="3389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570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825B1324-5DB0-43DB-A748-3A7464A82638}" type="slidenum">
              <a:rPr lang="en-US" sz="1600">
                <a:solidFill>
                  <a:schemeClr val="tx1"/>
                </a:solidFill>
                <a:cs typeface="+mn-cs"/>
              </a:rPr>
              <a:pPr algn="ctr" eaLnBrk="0" hangingPunct="0">
                <a:defRPr/>
              </a:pPr>
              <a:t>17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1026"/>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sz="3200">
                <a:solidFill>
                  <a:schemeClr val="accent1">
                    <a:tint val="83000"/>
                    <a:satMod val="150000"/>
                  </a:schemeClr>
                </a:solidFill>
              </a:rPr>
              <a:t>Software Application Testing:</a:t>
            </a:r>
            <a:br>
              <a:rPr lang="en-US" sz="3200">
                <a:solidFill>
                  <a:schemeClr val="accent1">
                    <a:tint val="83000"/>
                    <a:satMod val="150000"/>
                  </a:schemeClr>
                </a:solidFill>
              </a:rPr>
            </a:br>
            <a:r>
              <a:rPr lang="en-US" sz="3200">
                <a:solidFill>
                  <a:schemeClr val="accent1">
                    <a:tint val="83000"/>
                    <a:satMod val="150000"/>
                  </a:schemeClr>
                </a:solidFill>
              </a:rPr>
              <a:t>Acceptance Testing by Users (continued)</a:t>
            </a:r>
          </a:p>
        </p:txBody>
      </p:sp>
      <p:sp>
        <p:nvSpPr>
          <p:cNvPr id="339970" name="Rectangle 1027" descr="Rectangle: Click to edit Master text styles&#10;Second level&#10;Third level&#10;Fourth level&#10;Fifth level"/>
          <p:cNvSpPr>
            <a:spLocks noGrp="1" noChangeArrowheads="1"/>
          </p:cNvSpPr>
          <p:nvPr>
            <p:ph idx="1"/>
          </p:nvPr>
        </p:nvSpPr>
        <p:spPr>
          <a:xfrm>
            <a:off x="762000" y="1524000"/>
            <a:ext cx="7772400" cy="4191000"/>
          </a:xfrm>
        </p:spPr>
        <p:txBody>
          <a:bodyPr/>
          <a:lstStyle/>
          <a:p>
            <a:pPr eaLnBrk="1" hangingPunct="1"/>
            <a:r>
              <a:rPr lang="en-US" smtClean="0"/>
              <a:t>Alpha Testing (continued)</a:t>
            </a:r>
          </a:p>
          <a:p>
            <a:pPr lvl="1" eaLnBrk="1" hangingPunct="1">
              <a:lnSpc>
                <a:spcPct val="85000"/>
              </a:lnSpc>
              <a:spcBef>
                <a:spcPct val="10000"/>
              </a:spcBef>
            </a:pPr>
            <a:r>
              <a:rPr lang="en-US" smtClean="0"/>
              <a:t>Performance testing</a:t>
            </a:r>
          </a:p>
          <a:p>
            <a:pPr lvl="2" eaLnBrk="1" hangingPunct="1">
              <a:lnSpc>
                <a:spcPct val="85000"/>
              </a:lnSpc>
              <a:spcBef>
                <a:spcPct val="10000"/>
              </a:spcBef>
            </a:pPr>
            <a:r>
              <a:rPr lang="en-US" smtClean="0"/>
              <a:t>Determines how the system performs on the range of possible environments in which it may be used</a:t>
            </a:r>
            <a:endParaRPr lang="en-US" sz="2800" smtClean="0"/>
          </a:p>
          <a:p>
            <a:pPr eaLnBrk="1" hangingPunct="1"/>
            <a:r>
              <a:rPr lang="en-US" smtClean="0"/>
              <a:t>Beta Testing</a:t>
            </a:r>
          </a:p>
          <a:p>
            <a:pPr lvl="1" eaLnBrk="1" hangingPunct="1"/>
            <a:r>
              <a:rPr lang="en-US" smtClean="0"/>
              <a:t>User testing of a completed information system using real data in the real user environment</a:t>
            </a:r>
          </a:p>
          <a:p>
            <a:pPr eaLnBrk="1" hangingPunct="1"/>
            <a:endParaRPr lang="en-US" smtClean="0"/>
          </a:p>
        </p:txBody>
      </p:sp>
      <p:sp>
        <p:nvSpPr>
          <p:cNvPr id="3399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6724"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33626EEA-2441-4925-81A1-F4E899755C4E}" type="slidenum">
              <a:rPr lang="en-US" sz="1600">
                <a:solidFill>
                  <a:schemeClr val="tx1"/>
                </a:solidFill>
                <a:cs typeface="+mn-cs"/>
              </a:rPr>
              <a:pPr algn="ctr" eaLnBrk="0" hangingPunct="0">
                <a:defRPr/>
              </a:pPr>
              <a:t>18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5" name="Rectangle 5"/>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Installation</a:t>
            </a:r>
          </a:p>
        </p:txBody>
      </p:sp>
      <p:sp>
        <p:nvSpPr>
          <p:cNvPr id="340994"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800" smtClean="0"/>
              <a:t>The organizational process of changing over from the current information system to a new one</a:t>
            </a:r>
          </a:p>
          <a:p>
            <a:pPr eaLnBrk="1" hangingPunct="1">
              <a:lnSpc>
                <a:spcPct val="80000"/>
              </a:lnSpc>
            </a:pPr>
            <a:r>
              <a:rPr lang="en-US" sz="2800" smtClean="0"/>
              <a:t>Four approaches</a:t>
            </a:r>
          </a:p>
          <a:p>
            <a:pPr lvl="1" eaLnBrk="1" hangingPunct="1">
              <a:lnSpc>
                <a:spcPct val="80000"/>
              </a:lnSpc>
            </a:pPr>
            <a:r>
              <a:rPr lang="en-US" sz="2400" smtClean="0"/>
              <a:t>Direct Installation</a:t>
            </a:r>
          </a:p>
          <a:p>
            <a:pPr lvl="2" eaLnBrk="1" hangingPunct="1">
              <a:lnSpc>
                <a:spcPct val="80000"/>
              </a:lnSpc>
            </a:pPr>
            <a:r>
              <a:rPr lang="en-US" sz="2000" smtClean="0"/>
              <a:t>Changing over from the old information system to a new one by turning off the old system when the new one is turned on</a:t>
            </a:r>
          </a:p>
          <a:p>
            <a:pPr lvl="1" eaLnBrk="1" hangingPunct="1">
              <a:lnSpc>
                <a:spcPct val="80000"/>
              </a:lnSpc>
            </a:pPr>
            <a:r>
              <a:rPr lang="en-US" sz="2400" smtClean="0"/>
              <a:t>Parallel Installation</a:t>
            </a:r>
          </a:p>
          <a:p>
            <a:pPr lvl="2" eaLnBrk="1" hangingPunct="1">
              <a:lnSpc>
                <a:spcPct val="80000"/>
              </a:lnSpc>
            </a:pPr>
            <a:r>
              <a:rPr lang="en-US" sz="2000" smtClean="0"/>
              <a:t>Running the old information system and the new one at the same time until management decides the old system can be turned off</a:t>
            </a:r>
          </a:p>
        </p:txBody>
      </p:sp>
      <p:sp>
        <p:nvSpPr>
          <p:cNvPr id="34099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4564"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43B5CAFF-AD02-46B2-AA66-41E81F830B43}" type="slidenum">
              <a:rPr lang="en-US" sz="1600">
                <a:solidFill>
                  <a:schemeClr val="tx1"/>
                </a:solidFill>
                <a:cs typeface="+mn-cs"/>
              </a:rPr>
              <a:pPr algn="ctr" eaLnBrk="0" hangingPunct="0">
                <a:defRPr/>
              </a:pPr>
              <a:t>19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3" name="Rectangle 5"/>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Installation (continued)</a:t>
            </a:r>
          </a:p>
        </p:txBody>
      </p:sp>
      <p:sp>
        <p:nvSpPr>
          <p:cNvPr id="342018"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lvl="1" eaLnBrk="1" hangingPunct="1">
              <a:lnSpc>
                <a:spcPct val="90000"/>
              </a:lnSpc>
            </a:pPr>
            <a:r>
              <a:rPr lang="en-US" smtClean="0"/>
              <a:t>Single location installation</a:t>
            </a:r>
          </a:p>
          <a:p>
            <a:pPr lvl="2" eaLnBrk="1" hangingPunct="1">
              <a:lnSpc>
                <a:spcPct val="90000"/>
              </a:lnSpc>
            </a:pPr>
            <a:r>
              <a:rPr lang="en-US" smtClean="0"/>
              <a:t>Trying out an information system at one site and using the experience to decide if and how the new system should be deployed throughout the organization</a:t>
            </a:r>
          </a:p>
          <a:p>
            <a:pPr lvl="1" eaLnBrk="1" hangingPunct="1">
              <a:lnSpc>
                <a:spcPct val="90000"/>
              </a:lnSpc>
            </a:pPr>
            <a:r>
              <a:rPr lang="en-US" smtClean="0"/>
              <a:t>Phased Installation</a:t>
            </a:r>
          </a:p>
          <a:p>
            <a:pPr lvl="2" eaLnBrk="1" hangingPunct="1">
              <a:lnSpc>
                <a:spcPct val="90000"/>
              </a:lnSpc>
            </a:pPr>
            <a:r>
              <a:rPr lang="en-US" smtClean="0"/>
              <a:t>Changing from the old information system to the new one incrementally, starting with one or a few functional components and then gradually extending the installation to cover the whole new system</a:t>
            </a:r>
          </a:p>
        </p:txBody>
      </p:sp>
      <p:sp>
        <p:nvSpPr>
          <p:cNvPr id="3420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877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EAB8DE5E-4694-4135-94B1-0741D6586A05}" type="slidenum">
              <a:rPr lang="en-US" sz="1600">
                <a:solidFill>
                  <a:schemeClr val="tx1"/>
                </a:solidFill>
                <a:cs typeface="+mn-cs"/>
              </a:rPr>
              <a:pPr algn="ctr" eaLnBrk="0" hangingPunct="0">
                <a:defRPr/>
              </a:pPr>
              <a:t>20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7202"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513140B0-11FD-45A2-84B5-D1009B0093D9}" type="slidenum">
              <a:rPr lang="en-US" sz="1600">
                <a:solidFill>
                  <a:schemeClr val="tx1"/>
                </a:solidFill>
                <a:cs typeface="+mn-cs"/>
              </a:rPr>
              <a:pPr algn="ctr" eaLnBrk="0" hangingPunct="0">
                <a:defRPr/>
              </a:pPr>
              <a:t>21</a:t>
            </a:fld>
            <a:endParaRPr lang="en-US" sz="1600">
              <a:solidFill>
                <a:schemeClr val="tx1"/>
              </a:solidFill>
              <a:cs typeface="+mn-cs"/>
            </a:endParaRPr>
          </a:p>
        </p:txBody>
      </p:sp>
      <p:pic>
        <p:nvPicPr>
          <p:cNvPr id="307208" name="Picture 8"/>
          <p:cNvPicPr>
            <a:picLocks noChangeAspect="1" noChangeArrowheads="1"/>
          </p:cNvPicPr>
          <p:nvPr/>
        </p:nvPicPr>
        <p:blipFill>
          <a:blip r:embed="rId2"/>
          <a:srcRect/>
          <a:stretch>
            <a:fillRect/>
          </a:stretch>
        </p:blipFill>
        <p:spPr bwMode="auto">
          <a:xfrm>
            <a:off x="1447800" y="381000"/>
            <a:ext cx="6248400" cy="5978525"/>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71" name="Rectangle 1031"/>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Planning Installation</a:t>
            </a:r>
          </a:p>
        </p:txBody>
      </p:sp>
      <p:sp>
        <p:nvSpPr>
          <p:cNvPr id="344066" name="Rectangle 1032"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Considerations</a:t>
            </a:r>
          </a:p>
          <a:p>
            <a:pPr lvl="1" eaLnBrk="1" hangingPunct="1"/>
            <a:r>
              <a:rPr lang="en-US" smtClean="0"/>
              <a:t>Data conversion</a:t>
            </a:r>
          </a:p>
          <a:p>
            <a:pPr lvl="2" eaLnBrk="1" hangingPunct="1"/>
            <a:r>
              <a:rPr lang="en-US" smtClean="0"/>
              <a:t>Error correction</a:t>
            </a:r>
          </a:p>
          <a:p>
            <a:pPr lvl="2" eaLnBrk="1" hangingPunct="1"/>
            <a:r>
              <a:rPr lang="en-US" smtClean="0"/>
              <a:t>Loading from current system</a:t>
            </a:r>
          </a:p>
          <a:p>
            <a:pPr lvl="1" eaLnBrk="1" hangingPunct="1"/>
            <a:r>
              <a:rPr lang="en-US" smtClean="0"/>
              <a:t>Planned system shutdown</a:t>
            </a:r>
          </a:p>
          <a:p>
            <a:pPr lvl="1" eaLnBrk="1" hangingPunct="1"/>
            <a:r>
              <a:rPr lang="en-US" smtClean="0"/>
              <a:t>Business cycle of organization</a:t>
            </a:r>
          </a:p>
          <a:p>
            <a:pPr lvl="1" eaLnBrk="1" hangingPunct="1">
              <a:buFont typeface="Wingdings" pitchFamily="2" charset="2"/>
              <a:buNone/>
            </a:pPr>
            <a:endParaRPr lang="en-US" smtClean="0"/>
          </a:p>
          <a:p>
            <a:pPr eaLnBrk="1" hangingPunct="1"/>
            <a:endParaRPr lang="en-US" smtClean="0"/>
          </a:p>
        </p:txBody>
      </p:sp>
      <p:sp>
        <p:nvSpPr>
          <p:cNvPr id="3440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7268" name="Text Box 1028"/>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F0978B24-1720-44FE-8B83-D606F4363D4D}" type="slidenum">
              <a:rPr lang="en-US" sz="1600">
                <a:solidFill>
                  <a:schemeClr val="tx1"/>
                </a:solidFill>
                <a:cs typeface="+mn-cs"/>
              </a:rPr>
              <a:pPr algn="ctr" eaLnBrk="0" hangingPunct="0">
                <a:defRPr/>
              </a:pPr>
              <a:t>22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609600" y="228600"/>
            <a:ext cx="7772400" cy="1219200"/>
          </a:xfrm>
        </p:spPr>
        <p:txBody>
          <a:bodyPr/>
          <a:lstStyle/>
          <a:p>
            <a:pPr marL="484632" eaLnBrk="1" fontAlgn="auto" hangingPunct="1">
              <a:spcAft>
                <a:spcPts val="0"/>
              </a:spcAft>
              <a:defRPr/>
            </a:pPr>
            <a:r>
              <a:rPr lang="en-US" sz="4000">
                <a:solidFill>
                  <a:schemeClr val="accent1">
                    <a:tint val="83000"/>
                    <a:satMod val="150000"/>
                  </a:schemeClr>
                </a:solidFill>
              </a:rPr>
              <a:t>Documenting the System</a:t>
            </a:r>
          </a:p>
        </p:txBody>
      </p:sp>
      <p:sp>
        <p:nvSpPr>
          <p:cNvPr id="345090"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lstStyle/>
          <a:p>
            <a:pPr eaLnBrk="1" hangingPunct="1"/>
            <a:r>
              <a:rPr lang="en-US" sz="2800" smtClean="0"/>
              <a:t>System Documentation</a:t>
            </a:r>
          </a:p>
          <a:p>
            <a:pPr lvl="1" eaLnBrk="1" hangingPunct="1"/>
            <a:r>
              <a:rPr lang="en-US" sz="2400" smtClean="0"/>
              <a:t>Detailed information about a system’s design specifications, its internal workings, and its functionality</a:t>
            </a:r>
          </a:p>
          <a:p>
            <a:pPr lvl="1" eaLnBrk="1" hangingPunct="1"/>
            <a:r>
              <a:rPr lang="en-US" sz="2400" smtClean="0"/>
              <a:t>Internal documentation</a:t>
            </a:r>
          </a:p>
          <a:p>
            <a:pPr lvl="2" eaLnBrk="1" hangingPunct="1"/>
            <a:r>
              <a:rPr lang="en-US" sz="2000" smtClean="0"/>
              <a:t>System documentation that is part of the program source code or is generated at compile time</a:t>
            </a:r>
          </a:p>
          <a:p>
            <a:pPr lvl="1" eaLnBrk="1" hangingPunct="1"/>
            <a:r>
              <a:rPr lang="en-US" sz="2400" smtClean="0"/>
              <a:t>External documentation</a:t>
            </a:r>
          </a:p>
          <a:p>
            <a:pPr lvl="2" eaLnBrk="1" hangingPunct="1"/>
            <a:r>
              <a:rPr lang="en-US" sz="2000" smtClean="0"/>
              <a:t>System documentation that includes the outcome of structured diagramming techniques such as data-flow and entity-relationship diagrams</a:t>
            </a:r>
          </a:p>
        </p:txBody>
      </p:sp>
      <p:sp>
        <p:nvSpPr>
          <p:cNvPr id="3450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1914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16C423B5-544C-49D0-80A3-53675E3DC4AE}" type="slidenum">
              <a:rPr lang="en-US" sz="1600">
                <a:solidFill>
                  <a:schemeClr val="tx1"/>
                </a:solidFill>
                <a:cs typeface="+mn-cs"/>
              </a:rPr>
              <a:pPr algn="ctr" eaLnBrk="0" hangingPunct="0">
                <a:defRPr/>
              </a:pPr>
              <a:t>23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xfrm>
            <a:off x="609600" y="228600"/>
            <a:ext cx="7772400" cy="12192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Documenting the System (continued)</a:t>
            </a:r>
          </a:p>
        </p:txBody>
      </p:sp>
      <p:sp>
        <p:nvSpPr>
          <p:cNvPr id="346114"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lstStyle/>
          <a:p>
            <a:pPr eaLnBrk="1" hangingPunct="1">
              <a:lnSpc>
                <a:spcPct val="90000"/>
              </a:lnSpc>
            </a:pPr>
            <a:r>
              <a:rPr lang="en-US" smtClean="0"/>
              <a:t>User Documentation</a:t>
            </a:r>
          </a:p>
          <a:p>
            <a:pPr lvl="1" eaLnBrk="1" hangingPunct="1">
              <a:lnSpc>
                <a:spcPct val="90000"/>
              </a:lnSpc>
            </a:pPr>
            <a:r>
              <a:rPr lang="en-US" smtClean="0"/>
              <a:t>Written, or other visual information, about an application system, how it works, and how to use it</a:t>
            </a:r>
          </a:p>
          <a:p>
            <a:pPr eaLnBrk="1" hangingPunct="1">
              <a:lnSpc>
                <a:spcPct val="90000"/>
              </a:lnSpc>
            </a:pPr>
            <a:r>
              <a:rPr lang="en-US" smtClean="0"/>
              <a:t>Preparing User Documentation</a:t>
            </a:r>
          </a:p>
          <a:p>
            <a:pPr lvl="1" eaLnBrk="1" hangingPunct="1">
              <a:lnSpc>
                <a:spcPct val="90000"/>
              </a:lnSpc>
            </a:pPr>
            <a:r>
              <a:rPr lang="en-US" smtClean="0"/>
              <a:t>Traditional source has been information systems department</a:t>
            </a:r>
          </a:p>
          <a:p>
            <a:pPr lvl="1" eaLnBrk="1" hangingPunct="1">
              <a:lnSpc>
                <a:spcPct val="90000"/>
              </a:lnSpc>
            </a:pPr>
            <a:r>
              <a:rPr lang="en-US" smtClean="0"/>
              <a:t>Application-oriented documentation is now often supplied by vendors and users themselves</a:t>
            </a:r>
          </a:p>
          <a:p>
            <a:pPr lvl="1" eaLnBrk="1" hangingPunct="1">
              <a:lnSpc>
                <a:spcPct val="90000"/>
              </a:lnSpc>
            </a:pPr>
            <a:endParaRPr lang="en-US" smtClean="0"/>
          </a:p>
        </p:txBody>
      </p:sp>
      <p:sp>
        <p:nvSpPr>
          <p:cNvPr id="3461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979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4D55AE4A-A3D4-4B23-93B2-179E36B6E10D}" type="slidenum">
              <a:rPr lang="en-US" sz="1600">
                <a:solidFill>
                  <a:schemeClr val="tx1"/>
                </a:solidFill>
                <a:cs typeface="+mn-cs"/>
              </a:rPr>
              <a:pPr algn="ctr" eaLnBrk="0" hangingPunct="0">
                <a:defRPr/>
              </a:pPr>
              <a:t>24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3" name="Rectangle 5"/>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Training Information System Users</a:t>
            </a:r>
          </a:p>
        </p:txBody>
      </p:sp>
      <p:sp>
        <p:nvSpPr>
          <p:cNvPr id="347138"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Potential Training Topics</a:t>
            </a:r>
          </a:p>
          <a:p>
            <a:pPr lvl="1" eaLnBrk="1" hangingPunct="1"/>
            <a:r>
              <a:rPr lang="en-US" smtClean="0"/>
              <a:t>Use of the system</a:t>
            </a:r>
          </a:p>
          <a:p>
            <a:pPr lvl="1" eaLnBrk="1" hangingPunct="1"/>
            <a:r>
              <a:rPr lang="en-US" smtClean="0"/>
              <a:t>General computer concepts</a:t>
            </a:r>
          </a:p>
          <a:p>
            <a:pPr lvl="1" eaLnBrk="1" hangingPunct="1"/>
            <a:r>
              <a:rPr lang="en-US" smtClean="0"/>
              <a:t>Information system concepts</a:t>
            </a:r>
          </a:p>
          <a:p>
            <a:pPr lvl="1" eaLnBrk="1" hangingPunct="1"/>
            <a:r>
              <a:rPr lang="en-US" smtClean="0"/>
              <a:t>Organizational concepts</a:t>
            </a:r>
          </a:p>
          <a:p>
            <a:pPr lvl="1" eaLnBrk="1" hangingPunct="1"/>
            <a:r>
              <a:rPr lang="en-US" smtClean="0"/>
              <a:t>System management</a:t>
            </a:r>
          </a:p>
          <a:p>
            <a:pPr lvl="1" eaLnBrk="1" hangingPunct="1"/>
            <a:r>
              <a:rPr lang="en-US" smtClean="0"/>
              <a:t>System installation</a:t>
            </a:r>
          </a:p>
        </p:txBody>
      </p:sp>
      <p:sp>
        <p:nvSpPr>
          <p:cNvPr id="3471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829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F6725A1A-5BA0-485D-9AA9-87442765C0C3}" type="slidenum">
              <a:rPr lang="en-US" sz="1600">
                <a:solidFill>
                  <a:schemeClr val="tx1"/>
                </a:solidFill>
                <a:cs typeface="+mn-cs"/>
              </a:rPr>
              <a:pPr algn="ctr" eaLnBrk="0" hangingPunct="0">
                <a:defRPr/>
              </a:pPr>
              <a:t>25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21" name="Rectangle 1029"/>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Training Information System Users (continued)</a:t>
            </a:r>
          </a:p>
        </p:txBody>
      </p:sp>
      <p:sp>
        <p:nvSpPr>
          <p:cNvPr id="348162" name="Rectangle 103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mtClean="0"/>
              <a:t>Training Methods</a:t>
            </a:r>
          </a:p>
          <a:p>
            <a:pPr lvl="1" eaLnBrk="1" hangingPunct="1">
              <a:lnSpc>
                <a:spcPct val="90000"/>
              </a:lnSpc>
            </a:pPr>
            <a:r>
              <a:rPr lang="en-US" smtClean="0"/>
              <a:t>Resident expert</a:t>
            </a:r>
          </a:p>
          <a:p>
            <a:pPr lvl="1" eaLnBrk="1" hangingPunct="1">
              <a:lnSpc>
                <a:spcPct val="90000"/>
              </a:lnSpc>
            </a:pPr>
            <a:r>
              <a:rPr lang="en-US" smtClean="0"/>
              <a:t>Computer-aided instruction</a:t>
            </a:r>
          </a:p>
          <a:p>
            <a:pPr lvl="1" eaLnBrk="1" hangingPunct="1">
              <a:lnSpc>
                <a:spcPct val="90000"/>
              </a:lnSpc>
            </a:pPr>
            <a:r>
              <a:rPr lang="en-US" smtClean="0"/>
              <a:t>Formal courses</a:t>
            </a:r>
          </a:p>
          <a:p>
            <a:pPr lvl="1" eaLnBrk="1" hangingPunct="1">
              <a:lnSpc>
                <a:spcPct val="90000"/>
              </a:lnSpc>
            </a:pPr>
            <a:r>
              <a:rPr lang="en-US" smtClean="0"/>
              <a:t>Software help components</a:t>
            </a:r>
          </a:p>
          <a:p>
            <a:pPr lvl="1" eaLnBrk="1" hangingPunct="1">
              <a:lnSpc>
                <a:spcPct val="90000"/>
              </a:lnSpc>
            </a:pPr>
            <a:r>
              <a:rPr lang="en-US" smtClean="0"/>
              <a:t>Tutorials</a:t>
            </a:r>
          </a:p>
          <a:p>
            <a:pPr lvl="1" eaLnBrk="1" hangingPunct="1">
              <a:lnSpc>
                <a:spcPct val="90000"/>
              </a:lnSpc>
            </a:pPr>
            <a:r>
              <a:rPr lang="en-US" smtClean="0"/>
              <a:t>Interactive training manuals</a:t>
            </a:r>
          </a:p>
          <a:p>
            <a:pPr lvl="1" eaLnBrk="1" hangingPunct="1">
              <a:lnSpc>
                <a:spcPct val="90000"/>
              </a:lnSpc>
            </a:pPr>
            <a:r>
              <a:rPr lang="en-US" smtClean="0"/>
              <a:t>External sources, such as vendors</a:t>
            </a:r>
          </a:p>
          <a:p>
            <a:pPr lvl="1" eaLnBrk="1" hangingPunct="1">
              <a:lnSpc>
                <a:spcPct val="90000"/>
              </a:lnSpc>
            </a:pPr>
            <a:endParaRPr lang="en-US" smtClean="0"/>
          </a:p>
        </p:txBody>
      </p:sp>
      <p:sp>
        <p:nvSpPr>
          <p:cNvPr id="34816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0820"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E5878A8F-FE43-41BB-A22D-C6B47B48A93E}" type="slidenum">
              <a:rPr lang="en-US" sz="1600">
                <a:solidFill>
                  <a:schemeClr val="tx1"/>
                </a:solidFill>
                <a:cs typeface="+mn-cs"/>
              </a:rPr>
              <a:pPr algn="ctr" eaLnBrk="0" hangingPunct="0">
                <a:defRPr/>
              </a:pPr>
              <a:t>26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9250"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544B2CF8-4C04-47D2-8447-C110194C89F9}" type="slidenum">
              <a:rPr lang="en-US" sz="1600">
                <a:solidFill>
                  <a:schemeClr val="tx1"/>
                </a:solidFill>
                <a:cs typeface="+mn-cs"/>
              </a:rPr>
              <a:pPr algn="ctr" eaLnBrk="0" hangingPunct="0">
                <a:defRPr/>
              </a:pPr>
              <a:t>27</a:t>
            </a:fld>
            <a:endParaRPr lang="en-US" sz="1600">
              <a:solidFill>
                <a:schemeClr val="tx1"/>
              </a:solidFill>
              <a:cs typeface="+mn-cs"/>
            </a:endParaRPr>
          </a:p>
        </p:txBody>
      </p:sp>
      <p:pic>
        <p:nvPicPr>
          <p:cNvPr id="309252" name="Picture 4"/>
          <p:cNvPicPr>
            <a:picLocks noChangeAspect="1" noChangeArrowheads="1"/>
          </p:cNvPicPr>
          <p:nvPr/>
        </p:nvPicPr>
        <p:blipFill>
          <a:blip r:embed="rId2"/>
          <a:srcRect/>
          <a:stretch>
            <a:fillRect/>
          </a:stretch>
        </p:blipFill>
        <p:spPr bwMode="auto">
          <a:xfrm>
            <a:off x="38100" y="1600200"/>
            <a:ext cx="9067800" cy="36576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Training Information System Users (continued)</a:t>
            </a:r>
          </a:p>
        </p:txBody>
      </p:sp>
      <p:sp>
        <p:nvSpPr>
          <p:cNvPr id="35021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spcBef>
                <a:spcPct val="10000"/>
              </a:spcBef>
            </a:pPr>
            <a:r>
              <a:rPr lang="en-US" smtClean="0"/>
              <a:t>Electronic performance support system (EPSS)</a:t>
            </a:r>
          </a:p>
          <a:p>
            <a:pPr lvl="1" eaLnBrk="1" hangingPunct="1">
              <a:spcBef>
                <a:spcPct val="10000"/>
              </a:spcBef>
            </a:pPr>
            <a:r>
              <a:rPr lang="en-US" smtClean="0"/>
              <a:t>Component of a software package or application in which training and educational information is embedded</a:t>
            </a:r>
          </a:p>
          <a:p>
            <a:pPr eaLnBrk="1" hangingPunct="1">
              <a:buFont typeface="Wingdings" pitchFamily="2" charset="2"/>
              <a:buNone/>
            </a:pPr>
            <a:endParaRPr lang="en-US" smtClean="0"/>
          </a:p>
        </p:txBody>
      </p:sp>
      <p:sp>
        <p:nvSpPr>
          <p:cNvPr id="3502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8228"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4F925DF3-E9A9-4467-A4FF-F8497BFE3F88}" type="slidenum">
              <a:rPr lang="en-US" sz="1600">
                <a:solidFill>
                  <a:schemeClr val="tx1"/>
                </a:solidFill>
                <a:cs typeface="+mn-cs"/>
              </a:rPr>
              <a:pPr algn="ctr" eaLnBrk="0" hangingPunct="0">
                <a:defRPr/>
              </a:pPr>
              <a:t>28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Supporting Information System Users</a:t>
            </a:r>
          </a:p>
        </p:txBody>
      </p:sp>
      <p:sp>
        <p:nvSpPr>
          <p:cNvPr id="351234"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lnSpc>
                <a:spcPct val="90000"/>
              </a:lnSpc>
            </a:pPr>
            <a:r>
              <a:rPr lang="en-US" dirty="0" smtClean="0"/>
              <a:t>Support is extremely important to users</a:t>
            </a:r>
          </a:p>
          <a:p>
            <a:pPr lvl="1" eaLnBrk="1" hangingPunct="1">
              <a:lnSpc>
                <a:spcPct val="90000"/>
              </a:lnSpc>
            </a:pPr>
            <a:r>
              <a:rPr lang="en-US" dirty="0" smtClean="0"/>
              <a:t>Need for support driven by </a:t>
            </a:r>
          </a:p>
          <a:p>
            <a:pPr lvl="2" eaLnBrk="1" hangingPunct="1">
              <a:lnSpc>
                <a:spcPct val="90000"/>
              </a:lnSpc>
            </a:pPr>
            <a:r>
              <a:rPr lang="en-US" dirty="0" smtClean="0"/>
              <a:t>Lack of standards</a:t>
            </a:r>
          </a:p>
          <a:p>
            <a:pPr lvl="2" eaLnBrk="1" hangingPunct="1">
              <a:lnSpc>
                <a:spcPct val="90000"/>
              </a:lnSpc>
            </a:pPr>
            <a:r>
              <a:rPr lang="en-US" dirty="0" smtClean="0"/>
              <a:t>Need to make equipment and software from different vendors compatible</a:t>
            </a:r>
          </a:p>
          <a:p>
            <a:pPr eaLnBrk="1" hangingPunct="1">
              <a:lnSpc>
                <a:spcPct val="90000"/>
              </a:lnSpc>
            </a:pPr>
            <a:r>
              <a:rPr lang="en-US" dirty="0" smtClean="0"/>
              <a:t>Most organizations provide support by several means:</a:t>
            </a:r>
          </a:p>
          <a:p>
            <a:pPr lvl="1" eaLnBrk="1" hangingPunct="1">
              <a:lnSpc>
                <a:spcPct val="90000"/>
              </a:lnSpc>
            </a:pPr>
            <a:r>
              <a:rPr lang="en-US" dirty="0" smtClean="0"/>
              <a:t>Automated issue tracker</a:t>
            </a:r>
          </a:p>
          <a:p>
            <a:pPr lvl="1" eaLnBrk="1" hangingPunct="1">
              <a:lnSpc>
                <a:spcPct val="90000"/>
              </a:lnSpc>
            </a:pPr>
            <a:r>
              <a:rPr lang="en-US" dirty="0" smtClean="0"/>
              <a:t>Automated support</a:t>
            </a:r>
          </a:p>
          <a:p>
            <a:pPr lvl="1" eaLnBrk="1" hangingPunct="1">
              <a:lnSpc>
                <a:spcPct val="90000"/>
              </a:lnSpc>
            </a:pPr>
            <a:r>
              <a:rPr lang="en-US" dirty="0" smtClean="0"/>
              <a:t>Help desk</a:t>
            </a:r>
          </a:p>
        </p:txBody>
      </p:sp>
      <p:sp>
        <p:nvSpPr>
          <p:cNvPr id="3512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5588"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89CCDFD8-8722-4F69-BE73-FBB7682260E7}" type="slidenum">
              <a:rPr lang="en-US" sz="1600">
                <a:solidFill>
                  <a:schemeClr val="tx1"/>
                </a:solidFill>
                <a:cs typeface="+mn-cs"/>
              </a:rPr>
              <a:pPr algn="ctr" eaLnBrk="0" hangingPunct="0">
                <a:defRPr/>
              </a:pPr>
              <a:t>29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1026"/>
          <p:cNvSpPr>
            <a:spLocks noGrp="1" noChangeArrowheads="1"/>
          </p:cNvSpPr>
          <p:nvPr>
            <p:ph type="title"/>
          </p:nvPr>
        </p:nvSpPr>
        <p:spPr>
          <a:xfrm>
            <a:off x="685800" y="457200"/>
            <a:ext cx="7772400" cy="1066800"/>
          </a:xfrm>
        </p:spPr>
        <p:txBody>
          <a:bodyPr>
            <a:noAutofit/>
          </a:bodyPr>
          <a:lstStyle/>
          <a:p>
            <a:pPr marL="484632" eaLnBrk="1" fontAlgn="auto" hangingPunct="1">
              <a:spcAft>
                <a:spcPts val="0"/>
              </a:spcAft>
              <a:defRPr/>
            </a:pPr>
            <a:r>
              <a:rPr lang="en-US" sz="3600" dirty="0">
                <a:solidFill>
                  <a:schemeClr val="accent1">
                    <a:tint val="83000"/>
                    <a:satMod val="150000"/>
                  </a:schemeClr>
                </a:solidFill>
              </a:rPr>
              <a:t>Supporting Information System </a:t>
            </a:r>
            <a:r>
              <a:rPr lang="en-US" sz="3600" dirty="0" smtClean="0">
                <a:solidFill>
                  <a:schemeClr val="accent1">
                    <a:tint val="83000"/>
                    <a:satMod val="150000"/>
                  </a:schemeClr>
                </a:solidFill>
              </a:rPr>
              <a:t>Users Help </a:t>
            </a:r>
            <a:r>
              <a:rPr lang="en-US" sz="3600" dirty="0">
                <a:solidFill>
                  <a:schemeClr val="accent1">
                    <a:tint val="83000"/>
                    <a:satMod val="150000"/>
                  </a:schemeClr>
                </a:solidFill>
              </a:rPr>
              <a:t>Desk</a:t>
            </a:r>
          </a:p>
        </p:txBody>
      </p:sp>
      <p:sp>
        <p:nvSpPr>
          <p:cNvPr id="352258" name="Rectangle 1027" descr="Rectangle: Click to edit Master text styles&#10;Second level&#10;Third level&#10;Fourth level&#10;Fifth level"/>
          <p:cNvSpPr>
            <a:spLocks noGrp="1" noChangeArrowheads="1"/>
          </p:cNvSpPr>
          <p:nvPr>
            <p:ph idx="1"/>
          </p:nvPr>
        </p:nvSpPr>
        <p:spPr>
          <a:xfrm>
            <a:off x="762000" y="2133600"/>
            <a:ext cx="7772400" cy="4419600"/>
          </a:xfrm>
        </p:spPr>
        <p:txBody>
          <a:bodyPr/>
          <a:lstStyle/>
          <a:p>
            <a:pPr eaLnBrk="1" hangingPunct="1"/>
            <a:r>
              <a:rPr lang="en-US" sz="2800" smtClean="0"/>
              <a:t>A single point of contact for all user inquiries and problems about a particular information system or for all users in a particular department</a:t>
            </a:r>
          </a:p>
        </p:txBody>
      </p:sp>
      <p:sp>
        <p:nvSpPr>
          <p:cNvPr id="3522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2868" name="Text Box 1028"/>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EDC9F40E-4C13-4265-A42A-537C1EE0B987}" type="slidenum">
              <a:rPr lang="en-US" sz="1600">
                <a:solidFill>
                  <a:schemeClr val="tx1"/>
                </a:solidFill>
                <a:cs typeface="+mn-cs"/>
              </a:rPr>
              <a:pPr algn="ctr" eaLnBrk="0" hangingPunct="0">
                <a:defRPr/>
              </a:pPr>
              <a:t>30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Why Implementation Sometimes Fails</a:t>
            </a:r>
          </a:p>
        </p:txBody>
      </p:sp>
      <p:sp>
        <p:nvSpPr>
          <p:cNvPr id="353282"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Two conditions necessary for a successful implementation:</a:t>
            </a:r>
          </a:p>
          <a:p>
            <a:pPr lvl="1" eaLnBrk="1" hangingPunct="1"/>
            <a:r>
              <a:rPr lang="en-US" smtClean="0"/>
              <a:t>Management support of the system under development</a:t>
            </a:r>
          </a:p>
          <a:p>
            <a:pPr lvl="1" eaLnBrk="1" hangingPunct="1"/>
            <a:r>
              <a:rPr lang="en-US" smtClean="0"/>
              <a:t>Involvement of users in the development process</a:t>
            </a:r>
          </a:p>
        </p:txBody>
      </p:sp>
      <p:sp>
        <p:nvSpPr>
          <p:cNvPr id="3532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931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E979EBC4-B559-4545-A35C-663D42BD86B4}" type="slidenum">
              <a:rPr lang="en-US" sz="1600">
                <a:solidFill>
                  <a:schemeClr val="tx1"/>
                </a:solidFill>
                <a:cs typeface="+mn-cs"/>
              </a:rPr>
              <a:pPr algn="ctr" eaLnBrk="0" hangingPunct="0">
                <a:defRPr/>
              </a:pPr>
              <a:t>31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1026"/>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Why Implementation Sometimes Fails (continued)</a:t>
            </a:r>
          </a:p>
        </p:txBody>
      </p:sp>
      <p:sp>
        <p:nvSpPr>
          <p:cNvPr id="354306" name="Rectangle 1027"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Insights about implementation process</a:t>
            </a:r>
          </a:p>
          <a:p>
            <a:pPr lvl="1" eaLnBrk="1" hangingPunct="1"/>
            <a:r>
              <a:rPr lang="en-US" smtClean="0"/>
              <a:t>Risk</a:t>
            </a:r>
          </a:p>
          <a:p>
            <a:pPr lvl="1" eaLnBrk="1" hangingPunct="1"/>
            <a:r>
              <a:rPr lang="en-US" smtClean="0"/>
              <a:t>Commitment to the project</a:t>
            </a:r>
          </a:p>
          <a:p>
            <a:pPr lvl="1" eaLnBrk="1" hangingPunct="1"/>
            <a:r>
              <a:rPr lang="en-US" smtClean="0"/>
              <a:t>Commitment to change</a:t>
            </a:r>
          </a:p>
          <a:p>
            <a:pPr lvl="1" eaLnBrk="1" hangingPunct="1"/>
            <a:r>
              <a:rPr lang="en-US" smtClean="0"/>
              <a:t>Extent of project definition and planning</a:t>
            </a:r>
          </a:p>
          <a:p>
            <a:pPr lvl="1" eaLnBrk="1" hangingPunct="1"/>
            <a:r>
              <a:rPr lang="en-US" smtClean="0"/>
              <a:t>Realistic user expectations</a:t>
            </a:r>
          </a:p>
          <a:p>
            <a:pPr eaLnBrk="1" hangingPunct="1">
              <a:buFont typeface="Wingdings" pitchFamily="2" charset="2"/>
              <a:buNone/>
            </a:pPr>
            <a:endParaRPr lang="en-US" smtClean="0"/>
          </a:p>
          <a:p>
            <a:pPr lvl="2" eaLnBrk="1" hangingPunct="1"/>
            <a:endParaRPr lang="en-US" smtClean="0"/>
          </a:p>
          <a:p>
            <a:pPr eaLnBrk="1" hangingPunct="1">
              <a:buFont typeface="Wingdings" pitchFamily="2" charset="2"/>
              <a:buNone/>
            </a:pPr>
            <a:endParaRPr lang="en-US" smtClean="0"/>
          </a:p>
        </p:txBody>
      </p:sp>
      <p:sp>
        <p:nvSpPr>
          <p:cNvPr id="3543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3892"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ABE9C230-485E-45DA-85F5-C930507A07C0}" type="slidenum">
              <a:rPr lang="en-US" sz="1600">
                <a:solidFill>
                  <a:schemeClr val="tx1"/>
                </a:solidFill>
                <a:cs typeface="+mn-cs"/>
              </a:rPr>
              <a:pPr algn="ctr" eaLnBrk="0" hangingPunct="0">
                <a:defRPr/>
              </a:pPr>
              <a:t>32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Why Implementation Sometimes Fails (continued)</a:t>
            </a:r>
          </a:p>
        </p:txBody>
      </p:sp>
      <p:sp>
        <p:nvSpPr>
          <p:cNvPr id="35533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Implementation success factors</a:t>
            </a:r>
          </a:p>
          <a:p>
            <a:pPr lvl="1" eaLnBrk="1" hangingPunct="1"/>
            <a:r>
              <a:rPr lang="en-US" smtClean="0"/>
              <a:t>Extent to which system is used</a:t>
            </a:r>
          </a:p>
          <a:p>
            <a:pPr lvl="1" eaLnBrk="1" hangingPunct="1"/>
            <a:r>
              <a:rPr lang="en-US" smtClean="0"/>
              <a:t>System ease of use and reliability</a:t>
            </a:r>
          </a:p>
          <a:p>
            <a:pPr lvl="1" eaLnBrk="1" hangingPunct="1"/>
            <a:r>
              <a:rPr lang="en-US" smtClean="0"/>
              <a:t>Users’ satisfaction with system</a:t>
            </a:r>
          </a:p>
          <a:p>
            <a:pPr lvl="1" eaLnBrk="1" hangingPunct="1"/>
            <a:r>
              <a:rPr lang="en-US" smtClean="0"/>
              <a:t>User demographics, such as age and degree of computer experience</a:t>
            </a:r>
          </a:p>
          <a:p>
            <a:pPr lvl="1" eaLnBrk="1" hangingPunct="1">
              <a:buFont typeface="Wingdings" pitchFamily="2" charset="2"/>
              <a:buNone/>
            </a:pPr>
            <a:endParaRPr lang="en-US" smtClean="0"/>
          </a:p>
        </p:txBody>
      </p:sp>
      <p:sp>
        <p:nvSpPr>
          <p:cNvPr id="3553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2461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0B1EE53F-B49D-4917-A5E7-FD00C1A04EB3}" type="slidenum">
              <a:rPr lang="en-US" sz="1600">
                <a:solidFill>
                  <a:schemeClr val="tx1"/>
                </a:solidFill>
                <a:cs typeface="+mn-cs"/>
              </a:rPr>
              <a:pPr algn="ctr" eaLnBrk="0" hangingPunct="0">
                <a:defRPr/>
              </a:pPr>
              <a:t>33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41" name="Rectangle 1029"/>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Project Closedown</a:t>
            </a:r>
          </a:p>
        </p:txBody>
      </p:sp>
      <p:sp>
        <p:nvSpPr>
          <p:cNvPr id="356354" name="Rectangle 103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z="2800" smtClean="0"/>
              <a:t>Evaluate team</a:t>
            </a:r>
          </a:p>
          <a:p>
            <a:pPr lvl="1" eaLnBrk="1" hangingPunct="1">
              <a:lnSpc>
                <a:spcPct val="90000"/>
              </a:lnSpc>
            </a:pPr>
            <a:r>
              <a:rPr lang="en-US" sz="2400" smtClean="0"/>
              <a:t>Reassign members to other projects</a:t>
            </a:r>
          </a:p>
          <a:p>
            <a:pPr eaLnBrk="1" hangingPunct="1">
              <a:lnSpc>
                <a:spcPct val="90000"/>
              </a:lnSpc>
            </a:pPr>
            <a:r>
              <a:rPr lang="en-US" sz="2800" smtClean="0"/>
              <a:t>Notify all affected parties that the development project is ending and that you are switching to operation and maintenance mode</a:t>
            </a:r>
          </a:p>
          <a:p>
            <a:pPr eaLnBrk="1" hangingPunct="1">
              <a:lnSpc>
                <a:spcPct val="90000"/>
              </a:lnSpc>
            </a:pPr>
            <a:r>
              <a:rPr lang="en-US" sz="2800" smtClean="0"/>
              <a:t>Conduct post project reviews</a:t>
            </a:r>
          </a:p>
          <a:p>
            <a:pPr eaLnBrk="1" hangingPunct="1">
              <a:lnSpc>
                <a:spcPct val="90000"/>
              </a:lnSpc>
            </a:pPr>
            <a:r>
              <a:rPr lang="en-US" sz="2800" smtClean="0"/>
              <a:t>Close out customer contract</a:t>
            </a:r>
          </a:p>
          <a:p>
            <a:pPr lvl="1" eaLnBrk="1" hangingPunct="1">
              <a:lnSpc>
                <a:spcPct val="90000"/>
              </a:lnSpc>
            </a:pPr>
            <a:r>
              <a:rPr lang="en-US" sz="2400" smtClean="0"/>
              <a:t>Formal signoff</a:t>
            </a:r>
          </a:p>
          <a:p>
            <a:pPr eaLnBrk="1" hangingPunct="1">
              <a:lnSpc>
                <a:spcPct val="90000"/>
              </a:lnSpc>
            </a:pPr>
            <a:endParaRPr lang="en-US" sz="2800" smtClean="0"/>
          </a:p>
        </p:txBody>
      </p:sp>
      <p:sp>
        <p:nvSpPr>
          <p:cNvPr id="3563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70340"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EDABB363-3F75-48E0-997F-80DE96268D46}" type="slidenum">
              <a:rPr lang="en-US" sz="1600">
                <a:solidFill>
                  <a:schemeClr val="tx1"/>
                </a:solidFill>
                <a:cs typeface="+mn-cs"/>
              </a:rPr>
              <a:pPr algn="ctr" eaLnBrk="0" hangingPunct="0">
                <a:defRPr/>
              </a:pPr>
              <a:t>34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5" name="Rectangle 7"/>
          <p:cNvSpPr>
            <a:spLocks noGrp="1" noChangeArrowheads="1"/>
          </p:cNvSpPr>
          <p:nvPr>
            <p:ph type="title"/>
          </p:nvPr>
        </p:nvSpPr>
        <p:spPr/>
        <p:txBody>
          <a:bodyPr>
            <a:normAutofit fontScale="90000"/>
          </a:bodyPr>
          <a:lstStyle/>
          <a:p>
            <a:pPr marL="484632" eaLnBrk="1" fontAlgn="auto" hangingPunct="1">
              <a:spcAft>
                <a:spcPts val="0"/>
              </a:spcAft>
              <a:defRPr/>
            </a:pPr>
            <a:r>
              <a:rPr lang="en-US" sz="3600">
                <a:solidFill>
                  <a:schemeClr val="accent1">
                    <a:tint val="83000"/>
                    <a:satMod val="150000"/>
                  </a:schemeClr>
                </a:solidFill>
              </a:rPr>
              <a:t>Conducting System Maintenance:</a:t>
            </a:r>
            <a:br>
              <a:rPr lang="en-US" sz="3600">
                <a:solidFill>
                  <a:schemeClr val="accent1">
                    <a:tint val="83000"/>
                    <a:satMod val="150000"/>
                  </a:schemeClr>
                </a:solidFill>
              </a:rPr>
            </a:br>
            <a:r>
              <a:rPr lang="en-US" sz="3600">
                <a:solidFill>
                  <a:schemeClr val="accent1">
                    <a:tint val="83000"/>
                    <a:satMod val="150000"/>
                  </a:schemeClr>
                </a:solidFill>
              </a:rPr>
              <a:t>Types of Maintenance</a:t>
            </a:r>
          </a:p>
        </p:txBody>
      </p:sp>
      <p:sp>
        <p:nvSpPr>
          <p:cNvPr id="357378" name="Rectangle 8"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z="2400" smtClean="0"/>
              <a:t>Corrective maintenance</a:t>
            </a:r>
          </a:p>
          <a:p>
            <a:pPr lvl="1" eaLnBrk="1" hangingPunct="1">
              <a:lnSpc>
                <a:spcPct val="90000"/>
              </a:lnSpc>
            </a:pPr>
            <a:r>
              <a:rPr lang="en-US" sz="2000" smtClean="0"/>
              <a:t>Changes made to a system to repair flaws in its design, coding, or implementation</a:t>
            </a:r>
          </a:p>
          <a:p>
            <a:pPr eaLnBrk="1" hangingPunct="1">
              <a:lnSpc>
                <a:spcPct val="90000"/>
              </a:lnSpc>
            </a:pPr>
            <a:r>
              <a:rPr lang="en-US" sz="2400" smtClean="0"/>
              <a:t>Adaptive maintenance</a:t>
            </a:r>
          </a:p>
          <a:p>
            <a:pPr lvl="1" eaLnBrk="1" hangingPunct="1">
              <a:lnSpc>
                <a:spcPct val="90000"/>
              </a:lnSpc>
            </a:pPr>
            <a:r>
              <a:rPr lang="en-US" sz="2000" smtClean="0"/>
              <a:t>Changes made to a system to evolve its functionality to changing business needs or technologies</a:t>
            </a:r>
          </a:p>
          <a:p>
            <a:pPr eaLnBrk="1" hangingPunct="1">
              <a:lnSpc>
                <a:spcPct val="90000"/>
              </a:lnSpc>
            </a:pPr>
            <a:r>
              <a:rPr lang="en-US" sz="2400" smtClean="0"/>
              <a:t>Perfective maintenance</a:t>
            </a:r>
          </a:p>
          <a:p>
            <a:pPr lvl="1" eaLnBrk="1" hangingPunct="1">
              <a:lnSpc>
                <a:spcPct val="90000"/>
              </a:lnSpc>
            </a:pPr>
            <a:r>
              <a:rPr lang="en-US" sz="2000" smtClean="0"/>
              <a:t>Changes made to a system to add new features or to improve performance</a:t>
            </a:r>
          </a:p>
          <a:p>
            <a:pPr eaLnBrk="1" hangingPunct="1">
              <a:lnSpc>
                <a:spcPct val="90000"/>
              </a:lnSpc>
            </a:pPr>
            <a:r>
              <a:rPr lang="en-US" sz="2400" smtClean="0"/>
              <a:t>Preventive maintenance</a:t>
            </a:r>
          </a:p>
          <a:p>
            <a:pPr lvl="1" eaLnBrk="1" hangingPunct="1">
              <a:lnSpc>
                <a:spcPct val="90000"/>
              </a:lnSpc>
            </a:pPr>
            <a:r>
              <a:rPr lang="en-US" sz="2000" smtClean="0"/>
              <a:t>Changes made to a system to avoid possible future problems</a:t>
            </a:r>
          </a:p>
          <a:p>
            <a:pPr lvl="1" eaLnBrk="1" hangingPunct="1">
              <a:lnSpc>
                <a:spcPct val="90000"/>
              </a:lnSpc>
            </a:pPr>
            <a:endParaRPr lang="en-US" sz="2000" smtClean="0"/>
          </a:p>
        </p:txBody>
      </p:sp>
      <p:sp>
        <p:nvSpPr>
          <p:cNvPr id="3573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6612"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1D891A8F-80FD-4D39-936B-830D053404B7}" type="slidenum">
              <a:rPr lang="en-US" sz="1600">
                <a:solidFill>
                  <a:schemeClr val="tx1"/>
                </a:solidFill>
                <a:cs typeface="+mn-cs"/>
              </a:rPr>
              <a:pPr algn="ctr" eaLnBrk="0" hangingPunct="0">
                <a:defRPr/>
              </a:pPr>
              <a:t>35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7" name="Rectangle 5"/>
          <p:cNvSpPr>
            <a:spLocks noGrp="1" noChangeArrowheads="1"/>
          </p:cNvSpPr>
          <p:nvPr>
            <p:ph type="title"/>
          </p:nvPr>
        </p:nvSpPr>
        <p:spPr/>
        <p:txBody>
          <a:bodyPr>
            <a:normAutofit fontScale="90000"/>
          </a:bodyPr>
          <a:lstStyle/>
          <a:p>
            <a:pPr marL="484632" eaLnBrk="1" fontAlgn="auto" hangingPunct="1">
              <a:spcAft>
                <a:spcPts val="0"/>
              </a:spcAft>
              <a:defRPr/>
            </a:pPr>
            <a:r>
              <a:rPr lang="en-US" sz="3600">
                <a:solidFill>
                  <a:schemeClr val="accent1">
                    <a:tint val="83000"/>
                    <a:satMod val="150000"/>
                  </a:schemeClr>
                </a:solidFill>
              </a:rPr>
              <a:t>Conducting System Maintenance:</a:t>
            </a:r>
            <a:br>
              <a:rPr lang="en-US" sz="3600">
                <a:solidFill>
                  <a:schemeClr val="accent1">
                    <a:tint val="83000"/>
                    <a:satMod val="150000"/>
                  </a:schemeClr>
                </a:solidFill>
              </a:rPr>
            </a:br>
            <a:r>
              <a:rPr lang="en-US" sz="3600">
                <a:solidFill>
                  <a:schemeClr val="accent1">
                    <a:tint val="83000"/>
                    <a:satMod val="150000"/>
                  </a:schemeClr>
                </a:solidFill>
              </a:rPr>
              <a:t>The Cost of Maintenance</a:t>
            </a:r>
          </a:p>
        </p:txBody>
      </p:sp>
      <p:sp>
        <p:nvSpPr>
          <p:cNvPr id="358402"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800" smtClean="0"/>
              <a:t>Many organizations allocate as much as 60 to 80 percent of information systems budget to maintenance</a:t>
            </a:r>
          </a:p>
          <a:p>
            <a:pPr eaLnBrk="1" hangingPunct="1">
              <a:lnSpc>
                <a:spcPct val="80000"/>
              </a:lnSpc>
            </a:pPr>
            <a:r>
              <a:rPr lang="en-US" sz="2800" smtClean="0"/>
              <a:t>Factors that influence system maintainability:</a:t>
            </a:r>
          </a:p>
          <a:p>
            <a:pPr lvl="1" eaLnBrk="1" hangingPunct="1">
              <a:lnSpc>
                <a:spcPct val="80000"/>
              </a:lnSpc>
            </a:pPr>
            <a:r>
              <a:rPr lang="en-US" sz="2400" smtClean="0"/>
              <a:t>Latent defects</a:t>
            </a:r>
          </a:p>
          <a:p>
            <a:pPr lvl="1" eaLnBrk="1" hangingPunct="1">
              <a:lnSpc>
                <a:spcPct val="80000"/>
              </a:lnSpc>
            </a:pPr>
            <a:r>
              <a:rPr lang="en-US" sz="2400" smtClean="0"/>
              <a:t>Number of customers for a given system</a:t>
            </a:r>
          </a:p>
          <a:p>
            <a:pPr lvl="1" eaLnBrk="1" hangingPunct="1">
              <a:lnSpc>
                <a:spcPct val="80000"/>
              </a:lnSpc>
            </a:pPr>
            <a:r>
              <a:rPr lang="en-US" sz="2400" smtClean="0"/>
              <a:t>Quality of system documentation</a:t>
            </a:r>
          </a:p>
          <a:p>
            <a:pPr lvl="1" eaLnBrk="1" hangingPunct="1">
              <a:lnSpc>
                <a:spcPct val="80000"/>
              </a:lnSpc>
            </a:pPr>
            <a:r>
              <a:rPr lang="en-US" sz="2400" smtClean="0"/>
              <a:t>Maintenance personnel</a:t>
            </a:r>
          </a:p>
          <a:p>
            <a:pPr lvl="1" eaLnBrk="1" hangingPunct="1">
              <a:lnSpc>
                <a:spcPct val="80000"/>
              </a:lnSpc>
            </a:pPr>
            <a:r>
              <a:rPr lang="en-US" sz="2400" smtClean="0"/>
              <a:t>Tools</a:t>
            </a:r>
          </a:p>
          <a:p>
            <a:pPr lvl="1" eaLnBrk="1" hangingPunct="1">
              <a:lnSpc>
                <a:spcPct val="80000"/>
              </a:lnSpc>
            </a:pPr>
            <a:r>
              <a:rPr lang="en-US" sz="2400" smtClean="0"/>
              <a:t>Well-structured programs</a:t>
            </a:r>
          </a:p>
        </p:txBody>
      </p:sp>
      <p:sp>
        <p:nvSpPr>
          <p:cNvPr id="3584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4916"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13F08396-652D-4F3A-AA12-C6277BC11382}" type="slidenum">
              <a:rPr lang="en-US" sz="1600">
                <a:solidFill>
                  <a:schemeClr val="tx1"/>
                </a:solidFill>
                <a:cs typeface="+mn-cs"/>
              </a:rPr>
              <a:pPr algn="ctr" eaLnBrk="0" hangingPunct="0">
                <a:defRPr/>
              </a:pPr>
              <a:t>36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41" name="Rectangle 5"/>
          <p:cNvSpPr>
            <a:spLocks noGrp="1" noChangeArrowheads="1"/>
          </p:cNvSpPr>
          <p:nvPr>
            <p:ph type="title"/>
          </p:nvPr>
        </p:nvSpPr>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Conducting System Maintenance</a:t>
            </a:r>
            <a:br>
              <a:rPr lang="en-US" sz="4000">
                <a:solidFill>
                  <a:schemeClr val="accent1">
                    <a:tint val="83000"/>
                    <a:satMod val="150000"/>
                  </a:schemeClr>
                </a:solidFill>
              </a:rPr>
            </a:br>
            <a:r>
              <a:rPr lang="en-US" sz="4000">
                <a:solidFill>
                  <a:schemeClr val="accent1">
                    <a:tint val="83000"/>
                    <a:satMod val="150000"/>
                  </a:schemeClr>
                </a:solidFill>
              </a:rPr>
              <a:t>Measures of Effectiveness</a:t>
            </a:r>
          </a:p>
        </p:txBody>
      </p:sp>
      <p:sp>
        <p:nvSpPr>
          <p:cNvPr id="359426"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Number of Failures</a:t>
            </a:r>
          </a:p>
          <a:p>
            <a:pPr eaLnBrk="1" hangingPunct="1"/>
            <a:r>
              <a:rPr lang="en-US" smtClean="0"/>
              <a:t>Time between Each Failure</a:t>
            </a:r>
          </a:p>
          <a:p>
            <a:pPr eaLnBrk="1" hangingPunct="1"/>
            <a:r>
              <a:rPr lang="en-US" smtClean="0"/>
              <a:t>Type of Failure</a:t>
            </a:r>
          </a:p>
          <a:p>
            <a:pPr eaLnBrk="1" hangingPunct="1"/>
            <a:r>
              <a:rPr lang="en-US" smtClean="0"/>
              <a:t>Mean Time between Failures (MTBF)</a:t>
            </a:r>
          </a:p>
          <a:p>
            <a:pPr lvl="1" eaLnBrk="1" hangingPunct="1"/>
            <a:r>
              <a:rPr lang="en-US" smtClean="0"/>
              <a:t>A measurement of error occurrences that can be tracked over time to indicate the quality of a system</a:t>
            </a:r>
          </a:p>
        </p:txBody>
      </p:sp>
      <p:sp>
        <p:nvSpPr>
          <p:cNvPr id="3594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5940"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D60FC93A-AFC3-4FD6-A4DF-E616A1A580FB}" type="slidenum">
              <a:rPr lang="en-US" sz="1600">
                <a:solidFill>
                  <a:schemeClr val="tx1"/>
                </a:solidFill>
                <a:cs typeface="+mn-cs"/>
              </a:rPr>
              <a:pPr algn="ctr" eaLnBrk="0" hangingPunct="0">
                <a:defRPr/>
              </a:pPr>
              <a:t>37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Controlling Maintenance Requests</a:t>
            </a:r>
          </a:p>
        </p:txBody>
      </p:sp>
      <p:sp>
        <p:nvSpPr>
          <p:cNvPr id="360450"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marL="609600" indent="-609600" eaLnBrk="1" hangingPunct="1">
              <a:spcBef>
                <a:spcPct val="15000"/>
              </a:spcBef>
            </a:pPr>
            <a:r>
              <a:rPr lang="en-US" smtClean="0"/>
              <a:t>Determine type of request</a:t>
            </a:r>
          </a:p>
          <a:p>
            <a:pPr marL="990600" lvl="1" indent="-533400" eaLnBrk="1" hangingPunct="1">
              <a:spcBef>
                <a:spcPct val="15000"/>
              </a:spcBef>
            </a:pPr>
            <a:r>
              <a:rPr lang="en-US" smtClean="0"/>
              <a:t>Error</a:t>
            </a:r>
          </a:p>
          <a:p>
            <a:pPr marL="990600" lvl="1" indent="-533400" eaLnBrk="1" hangingPunct="1">
              <a:spcBef>
                <a:spcPct val="15000"/>
              </a:spcBef>
            </a:pPr>
            <a:r>
              <a:rPr lang="en-US" smtClean="0"/>
              <a:t>Adaptation</a:t>
            </a:r>
          </a:p>
          <a:p>
            <a:pPr marL="990600" lvl="1" indent="-533400" eaLnBrk="1" hangingPunct="1">
              <a:spcBef>
                <a:spcPct val="15000"/>
              </a:spcBef>
            </a:pPr>
            <a:r>
              <a:rPr lang="en-US" smtClean="0"/>
              <a:t>Enhancement</a:t>
            </a:r>
          </a:p>
          <a:p>
            <a:pPr marL="609600" indent="-609600" eaLnBrk="1" hangingPunct="1">
              <a:spcBef>
                <a:spcPct val="15000"/>
              </a:spcBef>
            </a:pPr>
            <a:r>
              <a:rPr lang="en-US" smtClean="0"/>
              <a:t>Figure 10-10 shows a flowchart for a request procedure</a:t>
            </a:r>
          </a:p>
        </p:txBody>
      </p:sp>
      <p:sp>
        <p:nvSpPr>
          <p:cNvPr id="3604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6964"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FBDC81D4-DA55-4633-847C-ECE4557BE5A3}" type="slidenum">
              <a:rPr lang="en-US" sz="1600">
                <a:solidFill>
                  <a:schemeClr val="tx1"/>
                </a:solidFill>
                <a:cs typeface="+mn-cs"/>
              </a:rPr>
              <a:pPr algn="ctr" eaLnBrk="0" hangingPunct="0">
                <a:defRPr/>
              </a:pPr>
              <a:t>38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10274" name="Text Box 2"/>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10141829-615C-4924-9FC9-C6969907989B}" type="slidenum">
              <a:rPr lang="en-US" sz="1600">
                <a:solidFill>
                  <a:schemeClr val="tx1"/>
                </a:solidFill>
                <a:cs typeface="+mn-cs"/>
              </a:rPr>
              <a:pPr algn="ctr" eaLnBrk="0" hangingPunct="0">
                <a:defRPr/>
              </a:pPr>
              <a:t>39</a:t>
            </a:fld>
            <a:endParaRPr lang="en-US" sz="1600">
              <a:solidFill>
                <a:schemeClr val="tx1"/>
              </a:solidFill>
              <a:cs typeface="+mn-cs"/>
            </a:endParaRPr>
          </a:p>
        </p:txBody>
      </p:sp>
      <p:pic>
        <p:nvPicPr>
          <p:cNvPr id="310276" name="Picture 4"/>
          <p:cNvPicPr>
            <a:picLocks noChangeAspect="1" noChangeArrowheads="1"/>
          </p:cNvPicPr>
          <p:nvPr/>
        </p:nvPicPr>
        <p:blipFill>
          <a:blip r:embed="rId2"/>
          <a:srcRect/>
          <a:stretch>
            <a:fillRect/>
          </a:stretch>
        </p:blipFill>
        <p:spPr bwMode="auto">
          <a:xfrm>
            <a:off x="1066800" y="533400"/>
            <a:ext cx="7086600" cy="5715000"/>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5" name="Rectangle 1029"/>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Configuration Management</a:t>
            </a:r>
          </a:p>
        </p:txBody>
      </p:sp>
      <p:sp>
        <p:nvSpPr>
          <p:cNvPr id="362498" name="Rectangle 103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400" smtClean="0"/>
              <a:t>The process of assuring that only authorized changes are made to the system</a:t>
            </a:r>
          </a:p>
          <a:p>
            <a:pPr eaLnBrk="1" hangingPunct="1">
              <a:lnSpc>
                <a:spcPct val="80000"/>
              </a:lnSpc>
            </a:pPr>
            <a:r>
              <a:rPr lang="en-US" sz="2400" smtClean="0"/>
              <a:t>Baseline Modules</a:t>
            </a:r>
          </a:p>
          <a:p>
            <a:pPr lvl="1" eaLnBrk="1" hangingPunct="1">
              <a:lnSpc>
                <a:spcPct val="80000"/>
              </a:lnSpc>
            </a:pPr>
            <a:r>
              <a:rPr lang="en-US" sz="2000" smtClean="0"/>
              <a:t>Software modules that have been tested, documented, and approved to be included in the most recently created version of a system</a:t>
            </a:r>
          </a:p>
          <a:p>
            <a:pPr eaLnBrk="1" hangingPunct="1">
              <a:lnSpc>
                <a:spcPct val="80000"/>
              </a:lnSpc>
            </a:pPr>
            <a:r>
              <a:rPr lang="en-US" sz="2400" smtClean="0"/>
              <a:t>System Librarian</a:t>
            </a:r>
          </a:p>
          <a:p>
            <a:pPr lvl="1" eaLnBrk="1" hangingPunct="1">
              <a:lnSpc>
                <a:spcPct val="80000"/>
              </a:lnSpc>
            </a:pPr>
            <a:r>
              <a:rPr lang="en-US" sz="2000" smtClean="0"/>
              <a:t>A person responsible for controlling the checking out and checking in of baseline modules when a system is being developed or maintained</a:t>
            </a:r>
          </a:p>
          <a:p>
            <a:pPr eaLnBrk="1" hangingPunct="1">
              <a:lnSpc>
                <a:spcPct val="80000"/>
              </a:lnSpc>
            </a:pPr>
            <a:r>
              <a:rPr lang="en-US" sz="2400" smtClean="0"/>
              <a:t>Build Routines</a:t>
            </a:r>
          </a:p>
          <a:p>
            <a:pPr lvl="1" eaLnBrk="1" hangingPunct="1">
              <a:lnSpc>
                <a:spcPct val="80000"/>
              </a:lnSpc>
            </a:pPr>
            <a:r>
              <a:rPr lang="en-US" sz="2000" smtClean="0"/>
              <a:t>Guidelines that list the instructions to construct an executable system from the baseline source code</a:t>
            </a:r>
          </a:p>
          <a:p>
            <a:pPr lvl="1" eaLnBrk="1" hangingPunct="1">
              <a:lnSpc>
                <a:spcPct val="80000"/>
              </a:lnSpc>
            </a:pPr>
            <a:endParaRPr lang="en-US" sz="2000" smtClean="0"/>
          </a:p>
        </p:txBody>
      </p:sp>
      <p:sp>
        <p:nvSpPr>
          <p:cNvPr id="3624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40644"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2327AEC5-4334-42E3-909C-6FCD754FB8F1}" type="slidenum">
              <a:rPr lang="en-US" sz="1600">
                <a:solidFill>
                  <a:schemeClr val="tx1"/>
                </a:solidFill>
                <a:cs typeface="+mn-cs"/>
              </a:rPr>
              <a:pPr algn="ctr" eaLnBrk="0" hangingPunct="0">
                <a:defRPr/>
              </a:pPr>
              <a:t>40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Role of Automated Development Tools in Maintenance</a:t>
            </a:r>
          </a:p>
        </p:txBody>
      </p:sp>
      <p:sp>
        <p:nvSpPr>
          <p:cNvPr id="36352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z="2800" smtClean="0"/>
              <a:t>Design Documents are maintained instead of source code</a:t>
            </a:r>
          </a:p>
          <a:p>
            <a:pPr eaLnBrk="1" hangingPunct="1"/>
            <a:r>
              <a:rPr lang="en-US" sz="2800" smtClean="0"/>
              <a:t>Code is generated from design documents</a:t>
            </a:r>
          </a:p>
          <a:p>
            <a:pPr eaLnBrk="1" hangingPunct="1"/>
            <a:r>
              <a:rPr lang="en-US" sz="2800" smtClean="0"/>
              <a:t>Documentation changes are made during maintenance phase</a:t>
            </a:r>
          </a:p>
          <a:p>
            <a:pPr eaLnBrk="1" hangingPunct="1"/>
            <a:r>
              <a:rPr lang="en-US" sz="2800" smtClean="0"/>
              <a:t>Design recovery tools for older systems</a:t>
            </a:r>
          </a:p>
          <a:p>
            <a:pPr lvl="1" eaLnBrk="1" hangingPunct="1"/>
            <a:r>
              <a:rPr lang="en-US" sz="2400" smtClean="0"/>
              <a:t>Reverse engineering</a:t>
            </a:r>
          </a:p>
          <a:p>
            <a:pPr lvl="1" eaLnBrk="1" hangingPunct="1"/>
            <a:r>
              <a:rPr lang="en-US" sz="2400" smtClean="0"/>
              <a:t>Re-engineering</a:t>
            </a:r>
          </a:p>
          <a:p>
            <a:pPr lvl="1" eaLnBrk="1" hangingPunct="1">
              <a:buFont typeface="Wingdings" pitchFamily="2" charset="2"/>
              <a:buNone/>
            </a:pPr>
            <a:endParaRPr lang="en-US" sz="2400" smtClean="0"/>
          </a:p>
        </p:txBody>
      </p:sp>
      <p:sp>
        <p:nvSpPr>
          <p:cNvPr id="3635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2563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94334F02-858C-47C6-AD59-D1B7D82C86C1}" type="slidenum">
              <a:rPr lang="en-US" sz="1600">
                <a:solidFill>
                  <a:schemeClr val="tx1"/>
                </a:solidFill>
                <a:cs typeface="+mn-cs"/>
              </a:rPr>
              <a:pPr algn="ctr" eaLnBrk="0" hangingPunct="0">
                <a:defRPr/>
              </a:pPr>
              <a:t>41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Web Site Maintenance</a:t>
            </a:r>
          </a:p>
        </p:txBody>
      </p:sp>
      <p:sp>
        <p:nvSpPr>
          <p:cNvPr id="36454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Special procedures needed due to nature and operational status</a:t>
            </a:r>
          </a:p>
          <a:p>
            <a:pPr eaLnBrk="1" hangingPunct="1"/>
            <a:r>
              <a:rPr lang="en-US" smtClean="0"/>
              <a:t>24 x 7 x 365, continuous operation</a:t>
            </a:r>
          </a:p>
          <a:p>
            <a:pPr eaLnBrk="1" hangingPunct="1"/>
            <a:r>
              <a:rPr lang="en-US" smtClean="0"/>
              <a:t>Broken link checks</a:t>
            </a:r>
          </a:p>
          <a:p>
            <a:pPr eaLnBrk="1" hangingPunct="1"/>
            <a:r>
              <a:rPr lang="en-US" smtClean="0"/>
              <a:t>Re-registration</a:t>
            </a:r>
          </a:p>
          <a:p>
            <a:pPr eaLnBrk="1" hangingPunct="1"/>
            <a:r>
              <a:rPr lang="en-US" smtClean="0"/>
              <a:t>Future Editions</a:t>
            </a:r>
          </a:p>
          <a:p>
            <a:pPr lvl="1" eaLnBrk="1" hangingPunct="1">
              <a:buFont typeface="Wingdings" pitchFamily="2" charset="2"/>
              <a:buNone/>
            </a:pPr>
            <a:endParaRPr lang="en-US" smtClean="0"/>
          </a:p>
        </p:txBody>
      </p:sp>
      <p:sp>
        <p:nvSpPr>
          <p:cNvPr id="3645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2666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3FC8DA69-2426-4711-AF44-9D98B6FF63A7}" type="slidenum">
              <a:rPr lang="en-US" sz="1600">
                <a:solidFill>
                  <a:schemeClr val="tx1"/>
                </a:solidFill>
                <a:cs typeface="+mn-cs"/>
              </a:rPr>
              <a:pPr algn="ctr" eaLnBrk="0" hangingPunct="0">
                <a:defRPr/>
              </a:pPr>
              <a:t>42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7" name="Rectangle 5"/>
          <p:cNvSpPr>
            <a:spLocks noGrp="1" noChangeArrowheads="1"/>
          </p:cNvSpPr>
          <p:nvPr>
            <p:ph type="title"/>
          </p:nvPr>
        </p:nvSpPr>
        <p:spPr/>
        <p:txBody>
          <a:bodyPr>
            <a:normAutofit fontScale="90000"/>
          </a:bodyPr>
          <a:lstStyle/>
          <a:p>
            <a:pPr marL="484632" eaLnBrk="1" fontAlgn="auto" hangingPunct="1">
              <a:spcAft>
                <a:spcPts val="0"/>
              </a:spcAft>
              <a:defRPr/>
            </a:pPr>
            <a:r>
              <a:rPr lang="en-US">
                <a:solidFill>
                  <a:schemeClr val="accent1">
                    <a:tint val="83000"/>
                    <a:satMod val="150000"/>
                  </a:schemeClr>
                </a:solidFill>
              </a:rPr>
              <a:t>PVF WebStore: Systems Implementation and Operation</a:t>
            </a:r>
          </a:p>
        </p:txBody>
      </p:sp>
      <p:sp>
        <p:nvSpPr>
          <p:cNvPr id="365570"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400" smtClean="0"/>
              <a:t>System implementation and operation of an Internet-based electronic commerce project is no different than other projects</a:t>
            </a:r>
          </a:p>
          <a:p>
            <a:pPr eaLnBrk="1" hangingPunct="1">
              <a:lnSpc>
                <a:spcPct val="80000"/>
              </a:lnSpc>
            </a:pPr>
            <a:r>
              <a:rPr lang="en-US" sz="2400" smtClean="0"/>
              <a:t>Develop Test Cases</a:t>
            </a:r>
          </a:p>
          <a:p>
            <a:pPr lvl="1" eaLnBrk="1" hangingPunct="1">
              <a:lnSpc>
                <a:spcPct val="80000"/>
              </a:lnSpc>
            </a:pPr>
            <a:r>
              <a:rPr lang="en-US" sz="2000" smtClean="0"/>
              <a:t>Simple functionality</a:t>
            </a:r>
          </a:p>
          <a:p>
            <a:pPr lvl="1" eaLnBrk="1" hangingPunct="1">
              <a:lnSpc>
                <a:spcPct val="80000"/>
              </a:lnSpc>
            </a:pPr>
            <a:r>
              <a:rPr lang="en-US" sz="2000" smtClean="0"/>
              <a:t>Multiple functionality</a:t>
            </a:r>
          </a:p>
          <a:p>
            <a:pPr lvl="1" eaLnBrk="1" hangingPunct="1">
              <a:lnSpc>
                <a:spcPct val="80000"/>
              </a:lnSpc>
            </a:pPr>
            <a:r>
              <a:rPr lang="en-US" sz="2000" smtClean="0"/>
              <a:t>Function chains</a:t>
            </a:r>
          </a:p>
          <a:p>
            <a:pPr lvl="1" eaLnBrk="1" hangingPunct="1">
              <a:lnSpc>
                <a:spcPct val="80000"/>
              </a:lnSpc>
            </a:pPr>
            <a:r>
              <a:rPr lang="en-US" sz="2000" smtClean="0"/>
              <a:t>Elective functions</a:t>
            </a:r>
          </a:p>
          <a:p>
            <a:pPr lvl="1" eaLnBrk="1" hangingPunct="1">
              <a:lnSpc>
                <a:spcPct val="80000"/>
              </a:lnSpc>
            </a:pPr>
            <a:r>
              <a:rPr lang="en-US" sz="2000" smtClean="0"/>
              <a:t>Emergency/crisis</a:t>
            </a:r>
          </a:p>
          <a:p>
            <a:pPr eaLnBrk="1" hangingPunct="1">
              <a:lnSpc>
                <a:spcPct val="80000"/>
              </a:lnSpc>
            </a:pPr>
            <a:r>
              <a:rPr lang="en-US" sz="2400" smtClean="0"/>
              <a:t>Bug Tracking and System Evolution</a:t>
            </a:r>
          </a:p>
          <a:p>
            <a:pPr eaLnBrk="1" hangingPunct="1">
              <a:lnSpc>
                <a:spcPct val="80000"/>
              </a:lnSpc>
            </a:pPr>
            <a:r>
              <a:rPr lang="en-US" sz="2400" smtClean="0"/>
              <a:t>Alpha and Beta Testing the WebStore</a:t>
            </a:r>
          </a:p>
          <a:p>
            <a:pPr eaLnBrk="1" hangingPunct="1">
              <a:lnSpc>
                <a:spcPct val="80000"/>
              </a:lnSpc>
            </a:pPr>
            <a:r>
              <a:rPr lang="en-US" sz="2400" smtClean="0"/>
              <a:t>WebStore Installation</a:t>
            </a:r>
          </a:p>
          <a:p>
            <a:pPr lvl="1" eaLnBrk="1" hangingPunct="1">
              <a:lnSpc>
                <a:spcPct val="80000"/>
              </a:lnSpc>
            </a:pPr>
            <a:endParaRPr lang="en-US" sz="2000" smtClean="0"/>
          </a:p>
          <a:p>
            <a:pPr eaLnBrk="1" hangingPunct="1">
              <a:lnSpc>
                <a:spcPct val="80000"/>
              </a:lnSpc>
            </a:pPr>
            <a:endParaRPr lang="en-US" sz="2400" smtClean="0"/>
          </a:p>
          <a:p>
            <a:pPr lvl="1" eaLnBrk="1" hangingPunct="1">
              <a:lnSpc>
                <a:spcPct val="80000"/>
              </a:lnSpc>
            </a:pPr>
            <a:endParaRPr lang="en-US" sz="2000" smtClean="0"/>
          </a:p>
        </p:txBody>
      </p:sp>
      <p:sp>
        <p:nvSpPr>
          <p:cNvPr id="3655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763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C595B57B-C305-4E0A-9704-03FC5E684F8A}" type="slidenum">
              <a:rPr lang="en-US" sz="1600">
                <a:solidFill>
                  <a:schemeClr val="tx1"/>
                </a:solidFill>
                <a:cs typeface="+mn-cs"/>
              </a:rPr>
              <a:pPr algn="ctr" eaLnBrk="0" hangingPunct="0">
                <a:defRPr/>
              </a:pPr>
              <a:t>43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a:t>
            </a:r>
          </a:p>
        </p:txBody>
      </p:sp>
      <p:sp>
        <p:nvSpPr>
          <p:cNvPr id="366594"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Process of coding, testing, and converting an organizational information system</a:t>
            </a:r>
          </a:p>
          <a:p>
            <a:pPr eaLnBrk="1" hangingPunct="1"/>
            <a:r>
              <a:rPr lang="en-US" smtClean="0"/>
              <a:t>Four installation strategies:</a:t>
            </a:r>
          </a:p>
          <a:p>
            <a:pPr lvl="1" eaLnBrk="1" hangingPunct="1"/>
            <a:r>
              <a:rPr lang="en-US" smtClean="0"/>
              <a:t>Direct</a:t>
            </a:r>
          </a:p>
          <a:p>
            <a:pPr lvl="1" eaLnBrk="1" hangingPunct="1"/>
            <a:r>
              <a:rPr lang="en-US" smtClean="0"/>
              <a:t>Parallel</a:t>
            </a:r>
          </a:p>
          <a:p>
            <a:pPr lvl="1" eaLnBrk="1" hangingPunct="1"/>
            <a:r>
              <a:rPr lang="en-US" smtClean="0"/>
              <a:t>Single location</a:t>
            </a:r>
          </a:p>
          <a:p>
            <a:pPr lvl="1" eaLnBrk="1" hangingPunct="1"/>
            <a:r>
              <a:rPr lang="en-US" smtClean="0"/>
              <a:t>Phased installation</a:t>
            </a:r>
          </a:p>
        </p:txBody>
      </p:sp>
      <p:sp>
        <p:nvSpPr>
          <p:cNvPr id="36659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3245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BB245F71-DF8E-44BB-9359-636F16781410}" type="slidenum">
              <a:rPr lang="en-US" sz="1600">
                <a:solidFill>
                  <a:schemeClr val="tx1"/>
                </a:solidFill>
                <a:cs typeface="+mn-cs"/>
              </a:rPr>
              <a:pPr algn="ctr" eaLnBrk="0" hangingPunct="0">
                <a:defRPr/>
              </a:pPr>
              <a:t>44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 (continued)</a:t>
            </a:r>
          </a:p>
        </p:txBody>
      </p:sp>
      <p:sp>
        <p:nvSpPr>
          <p:cNvPr id="367618"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Documentation</a:t>
            </a:r>
          </a:p>
          <a:p>
            <a:pPr lvl="1" eaLnBrk="1" hangingPunct="1"/>
            <a:r>
              <a:rPr lang="en-US" smtClean="0"/>
              <a:t>System</a:t>
            </a:r>
          </a:p>
          <a:p>
            <a:pPr lvl="1" eaLnBrk="1" hangingPunct="1"/>
            <a:r>
              <a:rPr lang="en-US" smtClean="0"/>
              <a:t>User</a:t>
            </a:r>
          </a:p>
          <a:p>
            <a:pPr eaLnBrk="1" hangingPunct="1"/>
            <a:r>
              <a:rPr lang="en-US" smtClean="0"/>
              <a:t>User Training</a:t>
            </a:r>
          </a:p>
          <a:p>
            <a:pPr eaLnBrk="1" hangingPunct="1"/>
            <a:r>
              <a:rPr lang="en-US" smtClean="0"/>
              <a:t>Providing Support for End Users</a:t>
            </a:r>
          </a:p>
          <a:p>
            <a:pPr eaLnBrk="1" hangingPunct="1"/>
            <a:r>
              <a:rPr lang="en-US" smtClean="0"/>
              <a:t>Systems Implementation Failures</a:t>
            </a:r>
          </a:p>
          <a:p>
            <a:pPr eaLnBrk="1" hangingPunct="1">
              <a:buFont typeface="Wingdings" pitchFamily="2" charset="2"/>
              <a:buNone/>
            </a:pPr>
            <a:endParaRPr lang="en-US" smtClean="0"/>
          </a:p>
          <a:p>
            <a:pPr eaLnBrk="1" hangingPunct="1"/>
            <a:endParaRPr lang="en-US" smtClean="0"/>
          </a:p>
          <a:p>
            <a:pPr eaLnBrk="1" hangingPunct="1"/>
            <a:endParaRPr lang="en-US" smtClean="0"/>
          </a:p>
        </p:txBody>
      </p:sp>
      <p:sp>
        <p:nvSpPr>
          <p:cNvPr id="3676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317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38D46A28-4FF0-4891-A8D3-353A1B30CA59}" type="slidenum">
              <a:rPr lang="en-US" sz="1600">
                <a:solidFill>
                  <a:schemeClr val="tx1"/>
                </a:solidFill>
                <a:cs typeface="+mn-cs"/>
              </a:rPr>
              <a:pPr algn="ctr" eaLnBrk="0" hangingPunct="0">
                <a:defRPr/>
              </a:pPr>
              <a:t>45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 (continued)</a:t>
            </a:r>
          </a:p>
        </p:txBody>
      </p:sp>
      <p:sp>
        <p:nvSpPr>
          <p:cNvPr id="368642"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Maintenance</a:t>
            </a:r>
          </a:p>
          <a:p>
            <a:pPr lvl="1" eaLnBrk="1" hangingPunct="1"/>
            <a:r>
              <a:rPr lang="en-US" smtClean="0"/>
              <a:t>Corrective</a:t>
            </a:r>
          </a:p>
          <a:p>
            <a:pPr lvl="1" eaLnBrk="1" hangingPunct="1"/>
            <a:r>
              <a:rPr lang="en-US" smtClean="0"/>
              <a:t>Adaptive</a:t>
            </a:r>
          </a:p>
          <a:p>
            <a:pPr lvl="1" eaLnBrk="1" hangingPunct="1"/>
            <a:r>
              <a:rPr lang="en-US" smtClean="0"/>
              <a:t>Perfective</a:t>
            </a:r>
          </a:p>
          <a:p>
            <a:pPr lvl="1" eaLnBrk="1" hangingPunct="1"/>
            <a:r>
              <a:rPr lang="en-US" smtClean="0"/>
              <a:t>Preventive</a:t>
            </a:r>
          </a:p>
          <a:p>
            <a:pPr eaLnBrk="1" hangingPunct="1"/>
            <a:r>
              <a:rPr lang="en-US" smtClean="0"/>
              <a:t>Cost of Maintenance</a:t>
            </a:r>
          </a:p>
          <a:p>
            <a:pPr eaLnBrk="1" hangingPunct="1"/>
            <a:r>
              <a:rPr lang="en-US" smtClean="0"/>
              <a:t>Measuring Effectiveness of Maintenance</a:t>
            </a:r>
          </a:p>
          <a:p>
            <a:pPr eaLnBrk="1" hangingPunct="1"/>
            <a:endParaRPr lang="en-US" smtClean="0"/>
          </a:p>
          <a:p>
            <a:pPr eaLnBrk="1" hangingPunct="1"/>
            <a:endParaRPr lang="en-US" smtClean="0"/>
          </a:p>
          <a:p>
            <a:pPr eaLnBrk="1" hangingPunct="1"/>
            <a:endParaRPr lang="en-US" smtClean="0"/>
          </a:p>
        </p:txBody>
      </p:sp>
      <p:sp>
        <p:nvSpPr>
          <p:cNvPr id="36864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901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FF07B33A-8D33-4495-A165-2429CDC49897}" type="slidenum">
              <a:rPr lang="en-US" sz="1600">
                <a:solidFill>
                  <a:schemeClr val="tx1"/>
                </a:solidFill>
                <a:cs typeface="+mn-cs"/>
              </a:rPr>
              <a:pPr algn="ctr" eaLnBrk="0" hangingPunct="0">
                <a:defRPr/>
              </a:pPr>
              <a:t>46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 (continued)</a:t>
            </a:r>
          </a:p>
        </p:txBody>
      </p:sp>
      <p:sp>
        <p:nvSpPr>
          <p:cNvPr id="369666"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Controlling Maintenance Requests</a:t>
            </a:r>
          </a:p>
          <a:p>
            <a:pPr eaLnBrk="1" hangingPunct="1"/>
            <a:r>
              <a:rPr lang="en-US" smtClean="0"/>
              <a:t>Configuration Management</a:t>
            </a:r>
          </a:p>
          <a:p>
            <a:pPr eaLnBrk="1" hangingPunct="1"/>
            <a:r>
              <a:rPr lang="en-US" smtClean="0"/>
              <a:t>Roles of Automated Tools</a:t>
            </a:r>
          </a:p>
          <a:p>
            <a:pPr eaLnBrk="1" hangingPunct="1"/>
            <a:r>
              <a:rPr lang="en-US" smtClean="0"/>
              <a:t>Web Site Maintenance</a:t>
            </a:r>
          </a:p>
          <a:p>
            <a:pPr eaLnBrk="1" hangingPunct="1"/>
            <a:r>
              <a:rPr lang="en-US" smtClean="0"/>
              <a:t>Internet Development</a:t>
            </a:r>
          </a:p>
          <a:p>
            <a:pPr eaLnBrk="1" hangingPunct="1">
              <a:buFont typeface="Wingdings" pitchFamily="2" charset="2"/>
              <a:buNone/>
            </a:pPr>
            <a:endParaRPr lang="en-US" smtClean="0"/>
          </a:p>
          <a:p>
            <a:pPr eaLnBrk="1" hangingPunct="1"/>
            <a:endParaRPr lang="en-US" smtClean="0"/>
          </a:p>
          <a:p>
            <a:pPr eaLnBrk="1" hangingPunct="1"/>
            <a:endParaRPr lang="en-US" smtClean="0"/>
          </a:p>
        </p:txBody>
      </p:sp>
      <p:sp>
        <p:nvSpPr>
          <p:cNvPr id="3696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003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253E01D6-6E6C-46E9-B2BC-E69DAA29AF78}" type="slidenum">
              <a:rPr lang="en-US" sz="1600">
                <a:solidFill>
                  <a:schemeClr val="tx1"/>
                </a:solidFill>
                <a:cs typeface="+mn-cs"/>
              </a:rPr>
              <a:pPr algn="ctr" eaLnBrk="0" hangingPunct="0">
                <a:defRPr/>
              </a:pPr>
              <a:t>47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378883"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378884"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3055</TotalTime>
  <Words>2406</Words>
  <Application>Microsoft Office PowerPoint</Application>
  <PresentationFormat>On-screen Show (4:3)</PresentationFormat>
  <Paragraphs>395</Paragraphs>
  <Slides>48</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7" baseType="lpstr">
      <vt:lpstr>Arial</vt:lpstr>
      <vt:lpstr>Century Gothic</vt:lpstr>
      <vt:lpstr>Tahoma</vt:lpstr>
      <vt:lpstr>Times New Roman</vt:lpstr>
      <vt:lpstr>Verdana</vt:lpstr>
      <vt:lpstr>Wingdings</vt:lpstr>
      <vt:lpstr>Wingdings 2</vt:lpstr>
      <vt:lpstr>Verve</vt:lpstr>
      <vt:lpstr>Document</vt:lpstr>
      <vt:lpstr>Essentials of Systems Analysis and Design Sixth Edition  Joseph S. Valacich Joey F. George Jeffrey A. Hoffer</vt:lpstr>
      <vt:lpstr>Learning Objectives</vt:lpstr>
      <vt:lpstr>Learning Objectives (continued)</vt:lpstr>
      <vt:lpstr>System Implementation and Operation </vt:lpstr>
      <vt:lpstr>The Processes of Coding, Testing and Installation</vt:lpstr>
      <vt:lpstr>The Processes of Coding,  Testing, and Installation: Deliverables</vt:lpstr>
      <vt:lpstr>The Processes of Documenting the System, Training Users, and Supporting Users</vt:lpstr>
      <vt:lpstr>The Process of Maintaining Information Systems</vt:lpstr>
      <vt:lpstr>PowerPoint Presentation</vt:lpstr>
      <vt:lpstr>The Process of Maintaining Information Systems (continued)</vt:lpstr>
      <vt:lpstr>Software Application Testing</vt:lpstr>
      <vt:lpstr>Software Application Testing Types of Testing</vt:lpstr>
      <vt:lpstr>Software Application Testing Types of Testing (continued)</vt:lpstr>
      <vt:lpstr>Software Application Testing Types of Testing (continued)</vt:lpstr>
      <vt:lpstr>Software Application Testing The Testing Process</vt:lpstr>
      <vt:lpstr>PowerPoint Presentation</vt:lpstr>
      <vt:lpstr>Software Application Testing: Acceptance Testing by Users</vt:lpstr>
      <vt:lpstr>Software Application Testing: Acceptance Testing by Users (continued)</vt:lpstr>
      <vt:lpstr>Installation</vt:lpstr>
      <vt:lpstr>Installation (continued)</vt:lpstr>
      <vt:lpstr>PowerPoint Presentation</vt:lpstr>
      <vt:lpstr>Planning Installation</vt:lpstr>
      <vt:lpstr>Documenting the System</vt:lpstr>
      <vt:lpstr>Documenting the System (continued)</vt:lpstr>
      <vt:lpstr>Training Information System Users</vt:lpstr>
      <vt:lpstr>Training Information System Users (continued)</vt:lpstr>
      <vt:lpstr>PowerPoint Presentation</vt:lpstr>
      <vt:lpstr>Training Information System Users (continued)</vt:lpstr>
      <vt:lpstr>Supporting Information System Users</vt:lpstr>
      <vt:lpstr>Supporting Information System Users Help Desk</vt:lpstr>
      <vt:lpstr>Why Implementation Sometimes Fails</vt:lpstr>
      <vt:lpstr>Why Implementation Sometimes Fails (continued)</vt:lpstr>
      <vt:lpstr>Why Implementation Sometimes Fails (continued)</vt:lpstr>
      <vt:lpstr>Project Closedown</vt:lpstr>
      <vt:lpstr>Conducting System Maintenance: Types of Maintenance</vt:lpstr>
      <vt:lpstr>Conducting System Maintenance: The Cost of Maintenance</vt:lpstr>
      <vt:lpstr>Conducting System Maintenance Measures of Effectiveness</vt:lpstr>
      <vt:lpstr>Controlling Maintenance Requests</vt:lpstr>
      <vt:lpstr>PowerPoint Presentation</vt:lpstr>
      <vt:lpstr>Configuration Management</vt:lpstr>
      <vt:lpstr>Role of Automated Development Tools in Maintenance</vt:lpstr>
      <vt:lpstr>Web Site Maintenance</vt:lpstr>
      <vt:lpstr>PVF WebStore: Systems Implementation and Operation</vt:lpstr>
      <vt:lpstr>Summary</vt:lpstr>
      <vt:lpstr>Summary (continued)</vt:lpstr>
      <vt:lpstr>Summary (continued)</vt:lpstr>
      <vt:lpstr>Summary (continued)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dc:title>
  <dc:creator>John Russo</dc:creator>
  <cp:lastModifiedBy>Emad alareefi</cp:lastModifiedBy>
  <cp:revision>144</cp:revision>
  <cp:lastPrinted>1601-01-01T00:00:00Z</cp:lastPrinted>
  <dcterms:created xsi:type="dcterms:W3CDTF">2011-07-26T16:21:12Z</dcterms:created>
  <dcterms:modified xsi:type="dcterms:W3CDTF">2016-02-03T23:25:20Z</dcterms:modified>
</cp:coreProperties>
</file>