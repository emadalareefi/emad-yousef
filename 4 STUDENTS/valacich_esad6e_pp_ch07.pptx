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307" r:id="rId2"/>
    <p:sldId id="257" r:id="rId3"/>
    <p:sldId id="258" r:id="rId4"/>
    <p:sldId id="259" r:id="rId5"/>
    <p:sldId id="260" r:id="rId6"/>
    <p:sldId id="261" r:id="rId7"/>
    <p:sldId id="302" r:id="rId8"/>
    <p:sldId id="309" r:id="rId9"/>
    <p:sldId id="262" r:id="rId10"/>
    <p:sldId id="264" r:id="rId11"/>
    <p:sldId id="287" r:id="rId12"/>
    <p:sldId id="265" r:id="rId13"/>
    <p:sldId id="266" r:id="rId14"/>
    <p:sldId id="303" r:id="rId15"/>
    <p:sldId id="298" r:id="rId16"/>
    <p:sldId id="267" r:id="rId17"/>
    <p:sldId id="270" r:id="rId18"/>
    <p:sldId id="300" r:id="rId19"/>
    <p:sldId id="274" r:id="rId20"/>
    <p:sldId id="304" r:id="rId21"/>
    <p:sldId id="276" r:id="rId22"/>
    <p:sldId id="277" r:id="rId23"/>
    <p:sldId id="305" r:id="rId24"/>
    <p:sldId id="279" r:id="rId25"/>
    <p:sldId id="306"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295" r:id="rId40"/>
    <p:sldId id="296" r:id="rId41"/>
    <p:sldId id="326" r:id="rId42"/>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4660" autoAdjust="0"/>
  </p:normalViewPr>
  <p:slideViewPr>
    <p:cSldViewPr>
      <p:cViewPr varScale="1">
        <p:scale>
          <a:sx n="74" d="100"/>
          <a:sy n="74" d="100"/>
        </p:scale>
        <p:origin x="126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88D529AE-7C0E-4A1B-B8EF-DE16AF676A70}" type="slidenum">
              <a:rPr lang="en-US"/>
              <a:pPr>
                <a:defRPr/>
              </a:pPr>
              <a:t>‹#›</a:t>
            </a:fld>
            <a:endParaRPr lang="en-US"/>
          </a:p>
        </p:txBody>
      </p:sp>
    </p:spTree>
    <p:extLst>
      <p:ext uri="{BB962C8B-B14F-4D97-AF65-F5344CB8AC3E}">
        <p14:creationId xmlns:p14="http://schemas.microsoft.com/office/powerpoint/2010/main" val="18609056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2DCA9014-44D1-4AAD-9F6E-8F7F8F6EEB5F}" type="slidenum">
              <a:rPr lang="en-US"/>
              <a:pPr>
                <a:defRPr/>
              </a:pPr>
              <a:t>‹#›</a:t>
            </a:fld>
            <a:endParaRPr lang="en-US"/>
          </a:p>
        </p:txBody>
      </p:sp>
    </p:spTree>
    <p:extLst>
      <p:ext uri="{BB962C8B-B14F-4D97-AF65-F5344CB8AC3E}">
        <p14:creationId xmlns:p14="http://schemas.microsoft.com/office/powerpoint/2010/main" val="3269097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miter lim="800000"/>
            <a:headEnd/>
            <a:tailEnd/>
          </a:ln>
        </p:spPr>
        <p:txBody>
          <a:bodyPr/>
          <a:lstStyle/>
          <a:p>
            <a:fld id="{875C70A9-B548-4AC7-95A4-9C691694B429}" type="slidenum">
              <a:rPr lang="en-US" smtClean="0">
                <a:cs typeface="Arial" charset="0"/>
              </a:rPr>
              <a:pPr/>
              <a:t>1</a:t>
            </a:fld>
            <a:endParaRPr lang="en-US" smtClean="0">
              <a:cs typeface="Arial" charset="0"/>
            </a:endParaRPr>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19083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52525" y="692150"/>
            <a:ext cx="4554538" cy="3416300"/>
          </a:xfrm>
          <a:ln/>
        </p:spPr>
      </p:sp>
      <p:sp>
        <p:nvSpPr>
          <p:cNvPr id="69635"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2843884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9683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dirty="0" smtClean="0"/>
              <a:t>Click to edit Master title style</a:t>
            </a:r>
            <a:endParaRPr lang="en-US" dirty="0"/>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smtClean="0"/>
              <a:t>Copyright © 2015 Pearson Education, Inc. Publishing as Prentice Hall</a:t>
            </a:r>
            <a:endParaRPr lang="en-US" dirty="0"/>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B868B3E2-89E9-4838-8574-474A5C6FB4E5}"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DA8BC701-7CA8-4BC5-B6E0-8E45A633F4C1}"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FEE7814D-D4A8-4A3E-A6E5-0641C57A037C}"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4574F4A4-76AF-4C23-8C51-2579BD314403}"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5DD0A751-0293-417A-B60C-D0171BBAE9DA}"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5422CD93-5A3C-4FAB-A067-194E37114117}"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CC425AFC-9EFD-4714-803A-46C8D920851B}"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11349A15-395E-44D6-A269-7AA181614A3B}"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CB9E77D1-6E61-4E77-8729-668DB7EFC9C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DA4A8A4A-011E-4F45-B2AD-6F418011B2C3}"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D24F3DC5-F39F-47B0-9F56-2C888FE22B09}" type="slidenum">
              <a:rPr lang="en-US"/>
              <a:pPr>
                <a:defRPr/>
              </a:pPr>
              <a:t>‹#›</a:t>
            </a:fld>
            <a:endParaRPr lang="en-US"/>
          </a:p>
        </p:txBody>
      </p:sp>
    </p:spTree>
  </p:cSld>
  <p:clrMapOvr>
    <a:masterClrMapping/>
  </p:clrMapOvr>
  <p:transition>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objOnly">
  <p:cSld name="Content">
    <p:spTree>
      <p:nvGrpSpPr>
        <p:cNvPr id="1" name=""/>
        <p:cNvGrpSpPr/>
        <p:nvPr/>
      </p:nvGrpSpPr>
      <p:grpSpPr>
        <a:xfrm>
          <a:off x="0" y="0"/>
          <a:ext cx="0" cy="0"/>
          <a:chOff x="0" y="0"/>
          <a:chExt cx="0" cy="0"/>
        </a:xfrm>
      </p:grpSpPr>
      <p:sp>
        <p:nvSpPr>
          <p:cNvPr id="3"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4"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5"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Content Placeholder 1"/>
          <p:cNvSpPr>
            <a:spLocks noGrp="1"/>
          </p:cNvSpPr>
          <p:nvPr>
            <p:ph/>
          </p:nvPr>
        </p:nvSpPr>
        <p:spPr>
          <a:xfrm>
            <a:off x="609600" y="304800"/>
            <a:ext cx="8001000" cy="5715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2"/>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8" name="Footer Placeholder 3"/>
          <p:cNvSpPr>
            <a:spLocks noGrp="1"/>
          </p:cNvSpPr>
          <p:nvPr>
            <p:ph type="ftr" sz="quarter" idx="11"/>
          </p:nvPr>
        </p:nvSpPr>
        <p:spPr>
          <a:xfrm>
            <a:off x="1905000" y="6324600"/>
            <a:ext cx="5105400" cy="304800"/>
          </a:xfrm>
        </p:spPr>
        <p:txBody>
          <a:bodyPr/>
          <a:lstStyle>
            <a:lvl1pPr>
              <a:defRPr smtClean="0"/>
            </a:lvl1pPr>
          </a:lstStyle>
          <a:p>
            <a:pPr>
              <a:defRPr/>
            </a:pPr>
            <a:r>
              <a:rPr lang="en-US" dirty="0"/>
              <a:t>Copyright © </a:t>
            </a:r>
            <a:r>
              <a:rPr lang="en-US" dirty="0" smtClean="0"/>
              <a:t>2015 </a:t>
            </a:r>
            <a:r>
              <a:rPr lang="en-US" dirty="0"/>
              <a:t>Pearson Education, Inc. Publishing as Prentice Hall</a:t>
            </a:r>
          </a:p>
        </p:txBody>
      </p:sp>
      <p:sp>
        <p:nvSpPr>
          <p:cNvPr id="9" name="Slide Number Placeholder 4"/>
          <p:cNvSpPr>
            <a:spLocks noGrp="1"/>
          </p:cNvSpPr>
          <p:nvPr>
            <p:ph type="sldNum" sz="quarter" idx="12"/>
          </p:nvPr>
        </p:nvSpPr>
        <p:spPr>
          <a:xfrm>
            <a:off x="6553200" y="6248400"/>
            <a:ext cx="1905000" cy="457200"/>
          </a:xfrm>
        </p:spPr>
        <p:txBody>
          <a:bodyPr/>
          <a:lstStyle>
            <a:lvl1pPr>
              <a:defRPr/>
            </a:lvl1pPr>
          </a:lstStyle>
          <a:p>
            <a:pPr>
              <a:defRPr/>
            </a:pPr>
            <a:fld id="{2711432F-26CB-4A7A-AFD8-C5776186DC84}"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clipArtAndTx">
  <p:cSld name="Title, Clip Art and Tex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609600" y="304800"/>
            <a:ext cx="7772400" cy="11430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838200" y="1905000"/>
            <a:ext cx="3810000" cy="4114800"/>
          </a:xfrm>
        </p:spPr>
        <p:txBody>
          <a:bodyPr>
            <a:normAutofit/>
          </a:bodyPr>
          <a:lstStyle/>
          <a:p>
            <a:pPr lvl="0"/>
            <a:endParaRPr lang="en-US" noProof="0"/>
          </a:p>
        </p:txBody>
      </p:sp>
      <p:sp>
        <p:nvSpPr>
          <p:cNvPr id="4" name="Text Placeholder 3"/>
          <p:cNvSpPr>
            <a:spLocks noGrp="1"/>
          </p:cNvSpPr>
          <p:nvPr>
            <p:ph type="body" sz="half" idx="2"/>
          </p:nvPr>
        </p:nvSpPr>
        <p:spPr>
          <a:xfrm>
            <a:off x="4800600" y="19050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10" name="Footer Placeholder 5"/>
          <p:cNvSpPr>
            <a:spLocks noGrp="1"/>
          </p:cNvSpPr>
          <p:nvPr>
            <p:ph type="ftr" sz="quarter" idx="11"/>
          </p:nvPr>
        </p:nvSpPr>
        <p:spPr>
          <a:xfrm>
            <a:off x="1905000" y="6324600"/>
            <a:ext cx="5105400" cy="304800"/>
          </a:xfrm>
        </p:spPr>
        <p:txBody>
          <a:bodyPr/>
          <a:lstStyle>
            <a:lvl1pPr>
              <a:defRPr smtClean="0"/>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a:xfrm>
            <a:off x="6553200" y="6248400"/>
            <a:ext cx="1905000" cy="457200"/>
          </a:xfrm>
        </p:spPr>
        <p:txBody>
          <a:bodyPr/>
          <a:lstStyle>
            <a:lvl1pPr>
              <a:defRPr/>
            </a:lvl1pPr>
          </a:lstStyle>
          <a:p>
            <a:pPr>
              <a:defRPr/>
            </a:pPr>
            <a:fld id="{FFDBCFA1-046D-4A9D-8D98-439B167219C5}"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B12793FF-A606-485B-A776-53E3ABDE8BD8}"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58" r:id="rId6"/>
    <p:sldLayoutId id="2147483659" r:id="rId7"/>
    <p:sldLayoutId id="2147483667" r:id="rId8"/>
    <p:sldLayoutId id="2147483668" r:id="rId9"/>
    <p:sldLayoutId id="2147483660" r:id="rId10"/>
    <p:sldLayoutId id="2147483661" r:id="rId11"/>
    <p:sldLayoutId id="2147483669" r:id="rId12"/>
    <p:sldLayoutId id="2147483670" r:id="rId13"/>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ctrTitle"/>
          </p:nvPr>
        </p:nvSpPr>
        <p:spPr>
          <a:xfrm>
            <a:off x="914400" y="1143000"/>
            <a:ext cx="7772400" cy="19812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 </a:t>
            </a:r>
          </a:p>
        </p:txBody>
      </p:sp>
      <p:sp>
        <p:nvSpPr>
          <p:cNvPr id="256003"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fontAlgn="auto">
              <a:spcAft>
                <a:spcPts val="0"/>
              </a:spcAft>
              <a:buFont typeface="Wingdings 2"/>
              <a:buNone/>
              <a:defRPr/>
            </a:pPr>
            <a:r>
              <a:rPr lang="en-US" sz="3600" b="1"/>
              <a:t>Chapter 7</a:t>
            </a:r>
          </a:p>
          <a:p>
            <a:pPr algn="ctr" fontAlgn="auto">
              <a:spcAft>
                <a:spcPts val="0"/>
              </a:spcAft>
              <a:buFont typeface="Wingdings 2"/>
              <a:buNone/>
              <a:defRPr/>
            </a:pPr>
            <a:r>
              <a:rPr lang="en-US" b="1"/>
              <a:t>Structuring System Requirements:</a:t>
            </a:r>
          </a:p>
          <a:p>
            <a:pPr algn="ctr" fontAlgn="auto">
              <a:spcAft>
                <a:spcPts val="0"/>
              </a:spcAft>
              <a:buFont typeface="Wingdings 2"/>
              <a:buNone/>
              <a:defRPr/>
            </a:pPr>
            <a:r>
              <a:rPr lang="en-US" b="1"/>
              <a:t>Conceptual Data Modeling</a:t>
            </a:r>
          </a:p>
        </p:txBody>
      </p:sp>
      <p:sp>
        <p:nvSpPr>
          <p:cNvPr id="17411"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60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7.1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1027"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lnSpcReduction="10000"/>
          </a:bodyPr>
          <a:lstStyle/>
          <a:p>
            <a:pPr marL="448056" indent="-384048" fontAlgn="auto">
              <a:lnSpc>
                <a:spcPct val="90000"/>
              </a:lnSpc>
              <a:spcAft>
                <a:spcPts val="0"/>
              </a:spcAft>
              <a:buClr>
                <a:srgbClr val="BA2212"/>
              </a:buClr>
              <a:buFont typeface="Wingdings" pitchFamily="2" charset="2"/>
              <a:buChar char="ü"/>
              <a:defRPr/>
            </a:pPr>
            <a:r>
              <a:rPr lang="en-US" sz="2800"/>
              <a:t>Define key data-modeling terms</a:t>
            </a:r>
          </a:p>
          <a:p>
            <a:pPr marL="822960" lvl="1" fontAlgn="auto">
              <a:lnSpc>
                <a:spcPct val="90000"/>
              </a:lnSpc>
              <a:spcAft>
                <a:spcPts val="0"/>
              </a:spcAft>
              <a:buClr>
                <a:srgbClr val="BA2212"/>
              </a:buClr>
              <a:buFont typeface="Wingdings" pitchFamily="2" charset="2"/>
              <a:buChar char="ü"/>
              <a:defRPr/>
            </a:pPr>
            <a:r>
              <a:rPr lang="en-US" sz="2400"/>
              <a:t>Conceptual data model</a:t>
            </a:r>
          </a:p>
          <a:p>
            <a:pPr marL="822960" lvl="1" fontAlgn="auto">
              <a:lnSpc>
                <a:spcPct val="90000"/>
              </a:lnSpc>
              <a:spcAft>
                <a:spcPts val="0"/>
              </a:spcAft>
              <a:buClr>
                <a:srgbClr val="BA2212"/>
              </a:buClr>
              <a:buFont typeface="Wingdings" pitchFamily="2" charset="2"/>
              <a:buChar char="ü"/>
              <a:defRPr/>
            </a:pPr>
            <a:r>
              <a:rPr lang="en-US" sz="2400"/>
              <a:t>Entity-Relationship (E-R) diagram </a:t>
            </a:r>
          </a:p>
          <a:p>
            <a:pPr marL="822960" lvl="1" fontAlgn="auto">
              <a:lnSpc>
                <a:spcPct val="90000"/>
              </a:lnSpc>
              <a:spcAft>
                <a:spcPts val="0"/>
              </a:spcAft>
              <a:buClr>
                <a:srgbClr val="BA2212"/>
              </a:buClr>
              <a:buFont typeface="Wingdings" pitchFamily="2" charset="2"/>
              <a:buChar char="ü"/>
              <a:defRPr/>
            </a:pPr>
            <a:r>
              <a:rPr lang="en-US" sz="2400"/>
              <a:t>Entity type</a:t>
            </a:r>
          </a:p>
          <a:p>
            <a:pPr marL="822960" lvl="1" fontAlgn="auto">
              <a:lnSpc>
                <a:spcPct val="90000"/>
              </a:lnSpc>
              <a:spcAft>
                <a:spcPts val="0"/>
              </a:spcAft>
              <a:buClr>
                <a:srgbClr val="BA2212"/>
              </a:buClr>
              <a:buFont typeface="Wingdings" pitchFamily="2" charset="2"/>
              <a:buChar char="ü"/>
              <a:defRPr/>
            </a:pPr>
            <a:r>
              <a:rPr lang="en-US" sz="2400"/>
              <a:t>Entity instance</a:t>
            </a:r>
          </a:p>
          <a:p>
            <a:pPr marL="822960" lvl="1" fontAlgn="auto">
              <a:lnSpc>
                <a:spcPct val="90000"/>
              </a:lnSpc>
              <a:spcAft>
                <a:spcPts val="0"/>
              </a:spcAft>
              <a:buClr>
                <a:srgbClr val="BA2212"/>
              </a:buClr>
              <a:buFont typeface="Wingdings" pitchFamily="2" charset="2"/>
              <a:buChar char="ü"/>
              <a:defRPr/>
            </a:pPr>
            <a:r>
              <a:rPr lang="en-US" sz="2400"/>
              <a:t>Attribute</a:t>
            </a:r>
          </a:p>
          <a:p>
            <a:pPr marL="822960" lvl="1" fontAlgn="auto">
              <a:lnSpc>
                <a:spcPct val="90000"/>
              </a:lnSpc>
              <a:spcAft>
                <a:spcPts val="0"/>
              </a:spcAft>
              <a:buClr>
                <a:srgbClr val="BA2212"/>
              </a:buClr>
              <a:buFont typeface="Wingdings" pitchFamily="2" charset="2"/>
              <a:buChar char="ü"/>
              <a:defRPr/>
            </a:pPr>
            <a:r>
              <a:rPr lang="en-US" sz="2400"/>
              <a:t>Candidate key</a:t>
            </a:r>
          </a:p>
          <a:p>
            <a:pPr marL="822960" lvl="1" fontAlgn="auto">
              <a:lnSpc>
                <a:spcPct val="90000"/>
              </a:lnSpc>
              <a:spcAft>
                <a:spcPts val="0"/>
              </a:spcAft>
              <a:buClr>
                <a:srgbClr val="BA2212"/>
              </a:buClr>
              <a:buFont typeface="Wingdings" pitchFamily="2" charset="2"/>
              <a:buChar char="ü"/>
              <a:defRPr/>
            </a:pPr>
            <a:r>
              <a:rPr lang="en-US" sz="2400"/>
              <a:t>Multivalued attributes</a:t>
            </a:r>
          </a:p>
          <a:p>
            <a:pPr marL="822960" lvl="1" fontAlgn="auto">
              <a:lnSpc>
                <a:spcPct val="90000"/>
              </a:lnSpc>
              <a:spcAft>
                <a:spcPts val="0"/>
              </a:spcAft>
              <a:buClr>
                <a:srgbClr val="BA2212"/>
              </a:buClr>
              <a:buFont typeface="Wingdings" pitchFamily="2" charset="2"/>
              <a:buChar char="ü"/>
              <a:defRPr/>
            </a:pPr>
            <a:r>
              <a:rPr lang="en-US" sz="2400"/>
              <a:t>Relationship</a:t>
            </a:r>
          </a:p>
          <a:p>
            <a:pPr marL="822960" lvl="1" fontAlgn="auto">
              <a:lnSpc>
                <a:spcPct val="90000"/>
              </a:lnSpc>
              <a:spcAft>
                <a:spcPts val="0"/>
              </a:spcAft>
              <a:buClr>
                <a:srgbClr val="BA2212"/>
              </a:buClr>
              <a:buFont typeface="Wingdings" pitchFamily="2" charset="2"/>
              <a:buChar char="ü"/>
              <a:defRPr/>
            </a:pPr>
            <a:r>
              <a:rPr lang="en-US" sz="2400"/>
              <a:t>Degree</a:t>
            </a:r>
          </a:p>
          <a:p>
            <a:pPr marL="822960" lvl="1" fontAlgn="auto">
              <a:lnSpc>
                <a:spcPct val="90000"/>
              </a:lnSpc>
              <a:spcAft>
                <a:spcPts val="0"/>
              </a:spcAft>
              <a:buClr>
                <a:srgbClr val="BA2212"/>
              </a:buClr>
              <a:buFont typeface="Wingdings" pitchFamily="2" charset="2"/>
              <a:buChar char="ü"/>
              <a:defRPr/>
            </a:pPr>
            <a:r>
              <a:rPr lang="en-US" sz="2400"/>
              <a:t>Cardinality</a:t>
            </a:r>
          </a:p>
          <a:p>
            <a:pPr marL="822960" lvl="1" fontAlgn="auto">
              <a:lnSpc>
                <a:spcPct val="90000"/>
              </a:lnSpc>
              <a:spcAft>
                <a:spcPts val="0"/>
              </a:spcAft>
              <a:buClr>
                <a:srgbClr val="BA2212"/>
              </a:buClr>
              <a:buFont typeface="Wingdings" pitchFamily="2" charset="2"/>
              <a:buChar char="ü"/>
              <a:defRPr/>
            </a:pPr>
            <a:r>
              <a:rPr lang="en-US" sz="2400"/>
              <a:t>Associative entity</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Learning Objectives (continued)</a:t>
            </a:r>
          </a:p>
        </p:txBody>
      </p:sp>
      <p:sp>
        <p:nvSpPr>
          <p:cNvPr id="131075" name="Rectangle 3" descr="Rectangle: Click to edit Master text styles&#10;Second level&#10;Third level&#10;Fourth level&#10;Fifth level"/>
          <p:cNvSpPr>
            <a:spLocks noGrp="1" noChangeArrowheads="1"/>
          </p:cNvSpPr>
          <p:nvPr>
            <p:ph idx="1"/>
          </p:nvPr>
        </p:nvSpPr>
        <p:spPr>
          <a:xfrm>
            <a:off x="838200" y="1600200"/>
            <a:ext cx="7772400" cy="4724400"/>
          </a:xfrm>
        </p:spPr>
        <p:txBody>
          <a:bodyPr>
            <a:normAutofit lnSpcReduction="10000"/>
          </a:bodyPr>
          <a:lstStyle/>
          <a:p>
            <a:pPr marL="448056" indent="-384048" fontAlgn="auto">
              <a:lnSpc>
                <a:spcPct val="80000"/>
              </a:lnSpc>
              <a:spcAft>
                <a:spcPts val="0"/>
              </a:spcAft>
              <a:buClr>
                <a:srgbClr val="BA2212"/>
              </a:buClr>
              <a:buFont typeface="Wingdings" pitchFamily="2" charset="2"/>
              <a:buChar char="ü"/>
              <a:defRPr/>
            </a:pPr>
            <a:r>
              <a:rPr lang="en-US" sz="2800"/>
              <a:t>Ask the right kinds of questions to determine data requirements for an IS</a:t>
            </a:r>
          </a:p>
          <a:p>
            <a:pPr marL="448056" indent="-384048" fontAlgn="auto">
              <a:lnSpc>
                <a:spcPct val="80000"/>
              </a:lnSpc>
              <a:spcAft>
                <a:spcPts val="0"/>
              </a:spcAft>
              <a:buClr>
                <a:srgbClr val="BA2212"/>
              </a:buClr>
              <a:buFont typeface="Wingdings" pitchFamily="2" charset="2"/>
              <a:buChar char="ü"/>
              <a:defRPr/>
            </a:pPr>
            <a:r>
              <a:rPr lang="en-US" sz="2800"/>
              <a:t>Learn to draw Entity-Relationship (ER) Diagrams </a:t>
            </a:r>
          </a:p>
          <a:p>
            <a:pPr marL="448056" indent="-384048" fontAlgn="auto">
              <a:lnSpc>
                <a:spcPct val="80000"/>
              </a:lnSpc>
              <a:spcAft>
                <a:spcPts val="0"/>
              </a:spcAft>
              <a:buClr>
                <a:srgbClr val="BA2212"/>
              </a:buClr>
              <a:buFont typeface="Wingdings" pitchFamily="2" charset="2"/>
              <a:buChar char="ü"/>
              <a:defRPr/>
            </a:pPr>
            <a:r>
              <a:rPr lang="en-US" sz="2800"/>
              <a:t>Review the role of conceptual data modeling in overall design and analysis of an information system</a:t>
            </a:r>
          </a:p>
          <a:p>
            <a:pPr marL="448056" indent="-384048" fontAlgn="auto">
              <a:lnSpc>
                <a:spcPct val="80000"/>
              </a:lnSpc>
              <a:spcAft>
                <a:spcPts val="0"/>
              </a:spcAft>
              <a:buClr>
                <a:srgbClr val="BA2212"/>
              </a:buClr>
              <a:buFont typeface="Wingdings" pitchFamily="2" charset="2"/>
              <a:buChar char="ü"/>
              <a:defRPr/>
            </a:pPr>
            <a:r>
              <a:rPr lang="en-US" sz="2800"/>
              <a:t>Distinguish between unary, binary and ternary relationships</a:t>
            </a:r>
          </a:p>
          <a:p>
            <a:pPr marL="448056" indent="-384048" fontAlgn="auto">
              <a:lnSpc>
                <a:spcPct val="80000"/>
              </a:lnSpc>
              <a:spcAft>
                <a:spcPts val="0"/>
              </a:spcAft>
              <a:buClr>
                <a:srgbClr val="BA2212"/>
              </a:buClr>
              <a:buFont typeface="Wingdings" pitchFamily="2" charset="2"/>
              <a:buChar char="ü"/>
              <a:defRPr/>
            </a:pPr>
            <a:r>
              <a:rPr lang="en-US" sz="2800"/>
              <a:t>Discuss relationships and associative entities</a:t>
            </a:r>
          </a:p>
          <a:p>
            <a:pPr marL="448056" indent="-384048" fontAlgn="auto">
              <a:lnSpc>
                <a:spcPct val="80000"/>
              </a:lnSpc>
              <a:spcAft>
                <a:spcPts val="0"/>
              </a:spcAft>
              <a:buClr>
                <a:srgbClr val="BA2212"/>
              </a:buClr>
              <a:buFont typeface="Wingdings" pitchFamily="2" charset="2"/>
              <a:buChar char="ü"/>
              <a:defRPr/>
            </a:pPr>
            <a:r>
              <a:rPr lang="en-US" sz="2800"/>
              <a:t>Discuss relationship between data modeling and process modeling </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6C43D47B-53AB-42CB-B740-AAAB07F4467A}"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Conceptual Data Modeling</a:t>
            </a:r>
          </a:p>
        </p:txBody>
      </p:sp>
      <p:sp>
        <p:nvSpPr>
          <p:cNvPr id="189443"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normAutofit lnSpcReduction="10000"/>
          </a:bodyPr>
          <a:lstStyle/>
          <a:p>
            <a:pPr marL="448056" indent="-384048" fontAlgn="auto">
              <a:spcAft>
                <a:spcPts val="0"/>
              </a:spcAft>
              <a:buFont typeface="Wingdings 2"/>
              <a:buChar char=""/>
              <a:defRPr/>
            </a:pPr>
            <a:r>
              <a:rPr lang="en-US" sz="2400"/>
              <a:t>Representation of organizational data</a:t>
            </a:r>
          </a:p>
          <a:p>
            <a:pPr marL="448056" indent="-384048" fontAlgn="auto">
              <a:spcAft>
                <a:spcPts val="0"/>
              </a:spcAft>
              <a:buFont typeface="Wingdings 2"/>
              <a:buChar char=""/>
              <a:defRPr/>
            </a:pPr>
            <a:r>
              <a:rPr lang="en-US" sz="2400"/>
              <a:t>Purpose is to show rules about the meaning and interrelationships among data</a:t>
            </a:r>
          </a:p>
          <a:p>
            <a:pPr marL="448056" indent="-384048" fontAlgn="auto">
              <a:spcAft>
                <a:spcPts val="0"/>
              </a:spcAft>
              <a:buFont typeface="Wingdings 2"/>
              <a:buChar char=""/>
              <a:defRPr/>
            </a:pPr>
            <a:r>
              <a:rPr lang="en-US" sz="2400"/>
              <a:t>Entity-Relationship (E-R) diagrams are commonly used to show how data are organized</a:t>
            </a:r>
          </a:p>
          <a:p>
            <a:pPr marL="448056" indent="-384048" fontAlgn="auto">
              <a:spcAft>
                <a:spcPts val="0"/>
              </a:spcAft>
              <a:buFont typeface="Wingdings 2"/>
              <a:buChar char=""/>
              <a:defRPr/>
            </a:pPr>
            <a:r>
              <a:rPr lang="en-US" sz="2400"/>
              <a:t>Main goal of conceptual data modeling is to create accurate E-R diagrams</a:t>
            </a:r>
          </a:p>
          <a:p>
            <a:pPr marL="448056" indent="-384048" fontAlgn="auto">
              <a:spcAft>
                <a:spcPts val="0"/>
              </a:spcAft>
              <a:buFont typeface="Wingdings 2"/>
              <a:buChar char=""/>
              <a:defRPr/>
            </a:pPr>
            <a:r>
              <a:rPr lang="en-US" sz="2400"/>
              <a:t>Methods such as interviewing, questionnaires, and JAD are used to collect information</a:t>
            </a:r>
          </a:p>
          <a:p>
            <a:pPr marL="448056" indent="-384048" fontAlgn="auto">
              <a:spcAft>
                <a:spcPts val="0"/>
              </a:spcAft>
              <a:buFont typeface="Wingdings 2"/>
              <a:buChar char=""/>
              <a:defRPr/>
            </a:pPr>
            <a:r>
              <a:rPr lang="en-US" sz="2400"/>
              <a:t>Consistency must be maintained among process flow, decision logic, and data modeling descriptions</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0A940EA5-356A-4296-BB32-664B2C6B7CFE}"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The Process of Conceptual Data Modeling</a:t>
            </a:r>
          </a:p>
        </p:txBody>
      </p:sp>
      <p:sp>
        <p:nvSpPr>
          <p:cNvPr id="225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First step is to develop a data model for the system being replaced</a:t>
            </a:r>
          </a:p>
          <a:p>
            <a:pPr>
              <a:lnSpc>
                <a:spcPct val="90000"/>
              </a:lnSpc>
            </a:pPr>
            <a:r>
              <a:rPr lang="en-US" sz="2800" smtClean="0"/>
              <a:t>Next, a new conceptual data model is built that includes all the requirements of the new system</a:t>
            </a:r>
          </a:p>
          <a:p>
            <a:pPr>
              <a:lnSpc>
                <a:spcPct val="90000"/>
              </a:lnSpc>
            </a:pPr>
            <a:r>
              <a:rPr lang="en-US" sz="2800" smtClean="0"/>
              <a:t>In the design stage, the conceptual data model is translated into a physical design</a:t>
            </a:r>
          </a:p>
          <a:p>
            <a:pPr>
              <a:lnSpc>
                <a:spcPct val="90000"/>
              </a:lnSpc>
            </a:pPr>
            <a:r>
              <a:rPr lang="en-US" sz="2800" smtClean="0"/>
              <a:t>Project repository links all design and data modeling steps performed during SDLC</a:t>
            </a:r>
          </a:p>
        </p:txBody>
      </p:sp>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1175AE96-10D0-4C34-A0A5-38262B6FDF8B}"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609600" y="304800"/>
            <a:ext cx="7772400" cy="838200"/>
          </a:xfrm>
        </p:spPr>
        <p:txBody>
          <a:bodyPr/>
          <a:lstStyle/>
          <a:p>
            <a:pPr marL="484632" fontAlgn="auto">
              <a:spcAft>
                <a:spcPts val="0"/>
              </a:spcAft>
              <a:defRPr/>
            </a:pPr>
            <a:r>
              <a:rPr lang="en-US">
                <a:solidFill>
                  <a:schemeClr val="accent1">
                    <a:tint val="83000"/>
                    <a:satMod val="150000"/>
                  </a:schemeClr>
                </a:solidFill>
              </a:rPr>
              <a:t>Deliverables and Outcome</a:t>
            </a:r>
          </a:p>
        </p:txBody>
      </p:sp>
      <p:sp>
        <p:nvSpPr>
          <p:cNvPr id="191491"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fontScale="92500" lnSpcReduction="10000"/>
          </a:bodyPr>
          <a:lstStyle/>
          <a:p>
            <a:pPr marL="448056" indent="-384048" fontAlgn="auto">
              <a:lnSpc>
                <a:spcPct val="90000"/>
              </a:lnSpc>
              <a:spcAft>
                <a:spcPts val="0"/>
              </a:spcAft>
              <a:buFont typeface="Wingdings 2"/>
              <a:buChar char=""/>
              <a:defRPr/>
            </a:pPr>
            <a:r>
              <a:rPr lang="en-US" sz="2800"/>
              <a:t>Primary deliverable is the entity-relationship diagram</a:t>
            </a:r>
          </a:p>
          <a:p>
            <a:pPr marL="448056" indent="-384048" fontAlgn="auto">
              <a:lnSpc>
                <a:spcPct val="90000"/>
              </a:lnSpc>
              <a:spcAft>
                <a:spcPts val="0"/>
              </a:spcAft>
              <a:buFont typeface="Wingdings 2"/>
              <a:buChar char=""/>
              <a:defRPr/>
            </a:pPr>
            <a:r>
              <a:rPr lang="en-US" sz="2800"/>
              <a:t>There may be as many as 4 E-R diagrams produced and analyzed during conceptual data modeling</a:t>
            </a:r>
          </a:p>
          <a:p>
            <a:pPr marL="822960" lvl="1" fontAlgn="auto">
              <a:lnSpc>
                <a:spcPct val="90000"/>
              </a:lnSpc>
              <a:spcAft>
                <a:spcPts val="0"/>
              </a:spcAft>
              <a:buFont typeface="Verdana"/>
              <a:buChar char="›"/>
              <a:defRPr/>
            </a:pPr>
            <a:r>
              <a:rPr lang="en-US" sz="2400"/>
              <a:t>Covers just data needed in the project’s application</a:t>
            </a:r>
          </a:p>
          <a:p>
            <a:pPr marL="822960" lvl="1" fontAlgn="auto">
              <a:lnSpc>
                <a:spcPct val="90000"/>
              </a:lnSpc>
              <a:spcAft>
                <a:spcPts val="0"/>
              </a:spcAft>
              <a:buFont typeface="Verdana"/>
              <a:buChar char="›"/>
              <a:defRPr/>
            </a:pPr>
            <a:r>
              <a:rPr lang="en-US" sz="2400"/>
              <a:t>E-R diagram for system being replaced</a:t>
            </a:r>
          </a:p>
          <a:p>
            <a:pPr marL="822960" lvl="1" fontAlgn="auto">
              <a:lnSpc>
                <a:spcPct val="90000"/>
              </a:lnSpc>
              <a:spcAft>
                <a:spcPts val="0"/>
              </a:spcAft>
              <a:buFont typeface="Verdana"/>
              <a:buChar char="›"/>
              <a:defRPr/>
            </a:pPr>
            <a:r>
              <a:rPr lang="en-US" sz="2400"/>
              <a:t>An E-R diagram for the whole database from which the new application’s data are extracted</a:t>
            </a:r>
          </a:p>
          <a:p>
            <a:pPr marL="822960" lvl="1" fontAlgn="auto">
              <a:lnSpc>
                <a:spcPct val="90000"/>
              </a:lnSpc>
              <a:spcAft>
                <a:spcPts val="0"/>
              </a:spcAft>
              <a:buFont typeface="Verdana"/>
              <a:buChar char="›"/>
              <a:defRPr/>
            </a:pPr>
            <a:r>
              <a:rPr lang="en-US" sz="2400"/>
              <a:t>An E-R diagram for the whole database from which data for the application system being replaced are drawn</a:t>
            </a:r>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14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1753C03-5929-4843-9F78-A0565D75407E}"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088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96B6543A-8F9E-43BA-B3F5-C90617FD04C7}" type="slidenum">
              <a:rPr lang="en-US" sz="1600">
                <a:solidFill>
                  <a:schemeClr val="tx1"/>
                </a:solidFill>
                <a:cs typeface="+mn-cs"/>
              </a:rPr>
              <a:pPr algn="ctr" eaLnBrk="0" hangingPunct="0">
                <a:defRPr/>
              </a:pPr>
              <a:t>7</a:t>
            </a:fld>
            <a:endParaRPr lang="en-US" sz="1600">
              <a:solidFill>
                <a:schemeClr val="tx1"/>
              </a:solidFill>
              <a:cs typeface="+mn-cs"/>
            </a:endParaRPr>
          </a:p>
        </p:txBody>
      </p:sp>
      <p:pic>
        <p:nvPicPr>
          <p:cNvPr id="281600" name="Picture 0"/>
          <p:cNvPicPr>
            <a:picLocks noChangeAspect="1" noChangeArrowheads="1"/>
          </p:cNvPicPr>
          <p:nvPr/>
        </p:nvPicPr>
        <p:blipFill>
          <a:blip r:embed="rId2"/>
          <a:srcRect/>
          <a:stretch>
            <a:fillRect/>
          </a:stretch>
        </p:blipFill>
        <p:spPr bwMode="auto">
          <a:xfrm>
            <a:off x="260350" y="1447800"/>
            <a:ext cx="8485188" cy="43307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3"/>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3177" name="Text Box 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174BDF40-E3F3-443D-A510-B5F8648BFAE0}" type="slidenum">
              <a:rPr lang="en-US" sz="1600">
                <a:solidFill>
                  <a:schemeClr val="tx1"/>
                </a:solidFill>
                <a:cs typeface="+mn-cs"/>
              </a:rPr>
              <a:pPr algn="ctr" eaLnBrk="0" hangingPunct="0">
                <a:defRPr/>
              </a:pPr>
              <a:t>8</a:t>
            </a:fld>
            <a:endParaRPr lang="en-US" sz="1600">
              <a:solidFill>
                <a:schemeClr val="tx1"/>
              </a:solidFill>
              <a:cs typeface="+mn-cs"/>
            </a:endParaRPr>
          </a:p>
        </p:txBody>
      </p:sp>
      <p:sp>
        <p:nvSpPr>
          <p:cNvPr id="25603" name="Content Placeholder 1"/>
          <p:cNvSpPr>
            <a:spLocks noGrp="1"/>
          </p:cNvSpPr>
          <p:nvPr>
            <p:ph/>
          </p:nvPr>
        </p:nvSpPr>
        <p:spPr/>
        <p:txBody>
          <a:bodyPr/>
          <a:lstStyle/>
          <a:p>
            <a:endParaRPr lang="en-US" smtClean="0"/>
          </a:p>
        </p:txBody>
      </p:sp>
      <p:pic>
        <p:nvPicPr>
          <p:cNvPr id="263180" name="Picture 12"/>
          <p:cNvPicPr>
            <a:picLocks noChangeAspect="1" noChangeArrowheads="1"/>
          </p:cNvPicPr>
          <p:nvPr/>
        </p:nvPicPr>
        <p:blipFill>
          <a:blip r:embed="rId2"/>
          <a:srcRect/>
          <a:stretch>
            <a:fillRect/>
          </a:stretch>
        </p:blipFill>
        <p:spPr bwMode="auto">
          <a:xfrm>
            <a:off x="1143000" y="381000"/>
            <a:ext cx="6873875" cy="54737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Deliverables and Outcome (continued)</a:t>
            </a:r>
          </a:p>
        </p:txBody>
      </p:sp>
      <p:sp>
        <p:nvSpPr>
          <p:cNvPr id="2662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Second deliverable is a set of entries about data objects to be stored in repository or project dictionary</a:t>
            </a:r>
          </a:p>
          <a:p>
            <a:pPr lvl="1">
              <a:lnSpc>
                <a:spcPct val="90000"/>
              </a:lnSpc>
            </a:pPr>
            <a:r>
              <a:rPr lang="en-US" smtClean="0"/>
              <a:t>Data elements that are included in the DFD must appear in the data model and conversely</a:t>
            </a:r>
          </a:p>
          <a:p>
            <a:pPr lvl="1">
              <a:lnSpc>
                <a:spcPct val="90000"/>
              </a:lnSpc>
            </a:pPr>
            <a:r>
              <a:rPr lang="en-US" smtClean="0"/>
              <a:t>Each data store in a process model must relate to business objects represented in the data model</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25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10DA912-7625-43FC-B713-5BC91B1965B0}"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Gathering Information for Conceptual Data Modeling</a:t>
            </a:r>
          </a:p>
        </p:txBody>
      </p:sp>
      <p:sp>
        <p:nvSpPr>
          <p:cNvPr id="276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Two Perspectives:</a:t>
            </a:r>
          </a:p>
          <a:p>
            <a:pPr lvl="1"/>
            <a:r>
              <a:rPr lang="en-US" smtClean="0"/>
              <a:t>Top-down</a:t>
            </a:r>
          </a:p>
          <a:p>
            <a:pPr lvl="2"/>
            <a:r>
              <a:rPr lang="en-US" smtClean="0"/>
              <a:t>Data model is derived from an intimate understanding of the business</a:t>
            </a:r>
          </a:p>
          <a:p>
            <a:pPr lvl="1"/>
            <a:r>
              <a:rPr lang="en-US" smtClean="0"/>
              <a:t>Bottom-up</a:t>
            </a:r>
          </a:p>
          <a:p>
            <a:pPr lvl="2"/>
            <a:r>
              <a:rPr lang="en-US" smtClean="0"/>
              <a:t>Data model is derived by reviewing specifications and business documents</a:t>
            </a:r>
          </a:p>
        </p:txBody>
      </p:sp>
      <p:sp>
        <p:nvSpPr>
          <p:cNvPr id="276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45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2586A7F6-3E6F-4B33-AD89-4F264641258F}"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1026"/>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Introduction to Entity-Relationship Modeling</a:t>
            </a:r>
          </a:p>
        </p:txBody>
      </p:sp>
      <p:sp>
        <p:nvSpPr>
          <p:cNvPr id="28674" name="Rectangle 102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Notation uses three main constructs</a:t>
            </a:r>
          </a:p>
          <a:p>
            <a:pPr lvl="1">
              <a:lnSpc>
                <a:spcPct val="90000"/>
              </a:lnSpc>
            </a:pPr>
            <a:r>
              <a:rPr lang="en-US" smtClean="0"/>
              <a:t>Data entities</a:t>
            </a:r>
          </a:p>
          <a:p>
            <a:pPr lvl="1">
              <a:lnSpc>
                <a:spcPct val="90000"/>
              </a:lnSpc>
            </a:pPr>
            <a:r>
              <a:rPr lang="en-US" smtClean="0"/>
              <a:t>Relationships</a:t>
            </a:r>
          </a:p>
          <a:p>
            <a:pPr lvl="1">
              <a:lnSpc>
                <a:spcPct val="90000"/>
              </a:lnSpc>
            </a:pPr>
            <a:r>
              <a:rPr lang="en-US" smtClean="0"/>
              <a:t>Attributes</a:t>
            </a:r>
          </a:p>
          <a:p>
            <a:pPr>
              <a:lnSpc>
                <a:spcPct val="90000"/>
              </a:lnSpc>
            </a:pPr>
            <a:r>
              <a:rPr lang="en-US" smtClean="0"/>
              <a:t>Entity-Relationship (E-R) Diagram</a:t>
            </a:r>
          </a:p>
          <a:p>
            <a:pPr lvl="1">
              <a:lnSpc>
                <a:spcPct val="90000"/>
              </a:lnSpc>
            </a:pPr>
            <a:r>
              <a:rPr lang="en-US" smtClean="0"/>
              <a:t>A detailed, logical, and graphical representation of the entities, associations and data elements for an organization or business</a:t>
            </a:r>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19140" name="Text Box 102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D70AA71-5B15-4AFC-B399-9C66175AD48F}"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609600" y="304800"/>
            <a:ext cx="7772400" cy="1371600"/>
          </a:xfrm>
        </p:spPr>
        <p:txBody>
          <a:bodyPr>
            <a:normAutofit fontScale="90000"/>
          </a:bodyPr>
          <a:lstStyle/>
          <a:p>
            <a:pPr marL="484632" fontAlgn="auto">
              <a:spcAft>
                <a:spcPts val="0"/>
              </a:spcAft>
              <a:defRPr/>
            </a:pPr>
            <a:r>
              <a:rPr lang="en-US" sz="4000">
                <a:solidFill>
                  <a:schemeClr val="accent1">
                    <a:tint val="83000"/>
                    <a:satMod val="150000"/>
                  </a:schemeClr>
                </a:solidFill>
              </a:rPr>
              <a:t>Entity-Relationship (E-R) Modeling</a:t>
            </a:r>
            <a:br>
              <a:rPr lang="en-US" sz="4000">
                <a:solidFill>
                  <a:schemeClr val="accent1">
                    <a:tint val="83000"/>
                    <a:satMod val="150000"/>
                  </a:schemeClr>
                </a:solidFill>
              </a:rPr>
            </a:br>
            <a:r>
              <a:rPr lang="en-US" sz="2800">
                <a:solidFill>
                  <a:schemeClr val="accent1">
                    <a:tint val="83000"/>
                    <a:satMod val="150000"/>
                  </a:schemeClr>
                </a:solidFill>
              </a:rPr>
              <a:t>Key Terms</a:t>
            </a:r>
          </a:p>
        </p:txBody>
      </p:sp>
      <p:sp>
        <p:nvSpPr>
          <p:cNvPr id="2969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Entity</a:t>
            </a:r>
          </a:p>
          <a:p>
            <a:pPr lvl="1">
              <a:lnSpc>
                <a:spcPct val="90000"/>
              </a:lnSpc>
            </a:pPr>
            <a:r>
              <a:rPr lang="en-US" sz="2400" smtClean="0"/>
              <a:t>A person, place, object, event or concept in the user environment about which the organization wishes to maintain data</a:t>
            </a:r>
          </a:p>
          <a:p>
            <a:pPr lvl="1">
              <a:lnSpc>
                <a:spcPct val="90000"/>
              </a:lnSpc>
            </a:pPr>
            <a:r>
              <a:rPr lang="en-US" sz="2400" smtClean="0"/>
              <a:t>Represented by a rectangle in E-R diagrams</a:t>
            </a:r>
          </a:p>
          <a:p>
            <a:pPr>
              <a:lnSpc>
                <a:spcPct val="90000"/>
              </a:lnSpc>
            </a:pPr>
            <a:r>
              <a:rPr lang="en-US" sz="2800" smtClean="0"/>
              <a:t>Entity Type</a:t>
            </a:r>
          </a:p>
          <a:p>
            <a:pPr lvl="1">
              <a:lnSpc>
                <a:spcPct val="90000"/>
              </a:lnSpc>
            </a:pPr>
            <a:r>
              <a:rPr lang="en-US" sz="2400" smtClean="0"/>
              <a:t>A collection of entities that share common properties or characteristics</a:t>
            </a:r>
          </a:p>
          <a:p>
            <a:pPr>
              <a:lnSpc>
                <a:spcPct val="90000"/>
              </a:lnSpc>
            </a:pPr>
            <a:r>
              <a:rPr lang="en-US" sz="2800" smtClean="0"/>
              <a:t>Entity Instance</a:t>
            </a:r>
          </a:p>
          <a:p>
            <a:pPr lvl="1">
              <a:lnSpc>
                <a:spcPct val="90000"/>
              </a:lnSpc>
            </a:pPr>
            <a:r>
              <a:rPr lang="en-US" sz="2400" smtClean="0"/>
              <a:t>Single occurrence of an entity type</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55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5932EFF3-B812-4F9F-8EC4-1A01A47A9F28}"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609600" y="304800"/>
            <a:ext cx="7772400" cy="1371600"/>
          </a:xfrm>
        </p:spPr>
        <p:txBody>
          <a:bodyPr>
            <a:normAutofit fontScale="90000"/>
          </a:bodyPr>
          <a:lstStyle/>
          <a:p>
            <a:pPr marL="484632" fontAlgn="auto">
              <a:spcAft>
                <a:spcPts val="0"/>
              </a:spcAft>
              <a:defRPr/>
            </a:pPr>
            <a:r>
              <a:rPr lang="en-US" sz="4000">
                <a:solidFill>
                  <a:schemeClr val="accent1">
                    <a:tint val="83000"/>
                    <a:satMod val="150000"/>
                  </a:schemeClr>
                </a:solidFill>
              </a:rPr>
              <a:t>Entity-Relationship (E-R) Modeling (continued)</a:t>
            </a:r>
            <a:br>
              <a:rPr lang="en-US" sz="4000">
                <a:solidFill>
                  <a:schemeClr val="accent1">
                    <a:tint val="83000"/>
                    <a:satMod val="150000"/>
                  </a:schemeClr>
                </a:solidFill>
              </a:rPr>
            </a:br>
            <a:r>
              <a:rPr lang="en-US" sz="2800">
                <a:solidFill>
                  <a:schemeClr val="accent1">
                    <a:tint val="83000"/>
                    <a:satMod val="150000"/>
                  </a:schemeClr>
                </a:solidFill>
              </a:rPr>
              <a:t>Key Terms</a:t>
            </a:r>
          </a:p>
        </p:txBody>
      </p:sp>
      <p:sp>
        <p:nvSpPr>
          <p:cNvPr id="307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Attribute</a:t>
            </a:r>
          </a:p>
          <a:p>
            <a:pPr lvl="1"/>
            <a:r>
              <a:rPr lang="en-US" sz="2400" smtClean="0"/>
              <a:t>A named property or characteristic of an entity that is of interest to an organization</a:t>
            </a:r>
          </a:p>
          <a:p>
            <a:r>
              <a:rPr lang="en-US" sz="2800" smtClean="0"/>
              <a:t>Candidate Keys and Identifiers</a:t>
            </a:r>
          </a:p>
          <a:p>
            <a:pPr lvl="1"/>
            <a:r>
              <a:rPr lang="en-US" sz="2400" smtClean="0"/>
              <a:t>Each entity type must have an attribute or set of attributes that distinguishes one instance from other instances of the same type</a:t>
            </a:r>
          </a:p>
          <a:p>
            <a:pPr lvl="1"/>
            <a:r>
              <a:rPr lang="en-US" sz="2400" smtClean="0"/>
              <a:t>Candidate key</a:t>
            </a:r>
          </a:p>
          <a:p>
            <a:pPr lvl="2"/>
            <a:r>
              <a:rPr lang="en-US" sz="2000" smtClean="0"/>
              <a:t>Attribute (or combination of attributes) that uniquely identifies each instance of an entity type</a:t>
            </a:r>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661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2D07D302-F0BF-4421-B22D-687E7143518A}"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1907"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19C3F925-5061-469C-BA34-F08504F6550E}" type="slidenum">
              <a:rPr lang="en-US" sz="1600">
                <a:solidFill>
                  <a:schemeClr val="tx1"/>
                </a:solidFill>
                <a:cs typeface="+mn-cs"/>
              </a:rPr>
              <a:pPr algn="ctr" eaLnBrk="0" hangingPunct="0">
                <a:defRPr/>
              </a:pPr>
              <a:t>14</a:t>
            </a:fld>
            <a:endParaRPr lang="en-US" sz="1600">
              <a:solidFill>
                <a:schemeClr val="tx1"/>
              </a:solidFill>
              <a:cs typeface="+mn-cs"/>
            </a:endParaRPr>
          </a:p>
        </p:txBody>
      </p:sp>
      <p:pic>
        <p:nvPicPr>
          <p:cNvPr id="31747" name="Picture 5"/>
          <p:cNvPicPr>
            <a:picLocks noChangeAspect="1" noChangeArrowheads="1"/>
          </p:cNvPicPr>
          <p:nvPr/>
        </p:nvPicPr>
        <p:blipFill>
          <a:blip r:embed="rId2"/>
          <a:srcRect/>
          <a:stretch>
            <a:fillRect/>
          </a:stretch>
        </p:blipFill>
        <p:spPr bwMode="auto">
          <a:xfrm>
            <a:off x="609600" y="228600"/>
            <a:ext cx="8305800" cy="5802313"/>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609600" y="0"/>
            <a:ext cx="7772400" cy="1676400"/>
          </a:xfrm>
        </p:spPr>
        <p:txBody>
          <a:bodyPr>
            <a:normAutofit fontScale="90000"/>
          </a:bodyPr>
          <a:lstStyle/>
          <a:p>
            <a:pPr marL="484632" fontAlgn="auto">
              <a:spcAft>
                <a:spcPts val="0"/>
              </a:spcAft>
              <a:defRPr/>
            </a:pPr>
            <a:r>
              <a:rPr lang="en-US" sz="4000">
                <a:solidFill>
                  <a:schemeClr val="accent1">
                    <a:tint val="83000"/>
                    <a:satMod val="150000"/>
                  </a:schemeClr>
                </a:solidFill>
              </a:rPr>
              <a:t>Entity-Relationship (E-R) Modeling (continued)</a:t>
            </a:r>
            <a:br>
              <a:rPr lang="en-US" sz="4000">
                <a:solidFill>
                  <a:schemeClr val="accent1">
                    <a:tint val="83000"/>
                    <a:satMod val="150000"/>
                  </a:schemeClr>
                </a:solidFill>
              </a:rPr>
            </a:br>
            <a:r>
              <a:rPr lang="en-US" sz="2800">
                <a:solidFill>
                  <a:schemeClr val="accent1">
                    <a:tint val="83000"/>
                    <a:satMod val="150000"/>
                  </a:schemeClr>
                </a:solidFill>
              </a:rPr>
              <a:t>Key Terms</a:t>
            </a:r>
          </a:p>
        </p:txBody>
      </p:sp>
      <p:sp>
        <p:nvSpPr>
          <p:cNvPr id="327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533400" indent="-533400"/>
            <a:r>
              <a:rPr lang="en-US" sz="2800" smtClean="0"/>
              <a:t>Identifier</a:t>
            </a:r>
          </a:p>
          <a:p>
            <a:pPr marL="914400" lvl="1" indent="-457200"/>
            <a:r>
              <a:rPr lang="en-US" sz="2400" smtClean="0"/>
              <a:t>A candidate key that has been selected as the unique identifying characteristic for an entity type</a:t>
            </a:r>
          </a:p>
          <a:p>
            <a:pPr marL="914400" lvl="1" indent="-457200"/>
            <a:r>
              <a:rPr lang="en-US" sz="2400" smtClean="0"/>
              <a:t>Selection rules for an identifier</a:t>
            </a:r>
          </a:p>
          <a:p>
            <a:pPr marL="1295400" lvl="2" indent="-381000">
              <a:buFont typeface="Wingdings" pitchFamily="2" charset="2"/>
              <a:buAutoNum type="arabicPeriod"/>
            </a:pPr>
            <a:r>
              <a:rPr lang="en-US" sz="2000" smtClean="0"/>
              <a:t>Choose a candidate key that will not change its value</a:t>
            </a:r>
          </a:p>
          <a:p>
            <a:pPr marL="1295400" lvl="2" indent="-381000">
              <a:buFont typeface="Wingdings" pitchFamily="2" charset="2"/>
              <a:buAutoNum type="arabicPeriod"/>
            </a:pPr>
            <a:r>
              <a:rPr lang="en-US" sz="2000" smtClean="0"/>
              <a:t>Choose a candidate key that will never be null</a:t>
            </a:r>
          </a:p>
          <a:p>
            <a:pPr marL="1295400" lvl="2" indent="-381000">
              <a:buFont typeface="Wingdings" pitchFamily="2" charset="2"/>
              <a:buAutoNum type="arabicPeriod"/>
            </a:pPr>
            <a:r>
              <a:rPr lang="en-US" sz="2000" smtClean="0"/>
              <a:t>Avoid using intelligent keys</a:t>
            </a:r>
          </a:p>
          <a:p>
            <a:pPr marL="1295400" lvl="2" indent="-381000">
              <a:buFont typeface="Wingdings" pitchFamily="2" charset="2"/>
              <a:buAutoNum type="arabicPeriod"/>
            </a:pPr>
            <a:r>
              <a:rPr lang="en-US" sz="2000" smtClean="0"/>
              <a:t>Consider substituting single value surrogate keys for large composite keys</a:t>
            </a:r>
          </a:p>
          <a:p>
            <a:pPr marL="533400" indent="-533400">
              <a:buFont typeface="Wingdings" pitchFamily="2" charset="2"/>
              <a:buNone/>
            </a:pPr>
            <a:endParaRPr lang="en-US" sz="2800" smtClean="0"/>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06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0AB3A76-AE1C-4056-A99E-6AFF250778BF}"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609600" y="304800"/>
            <a:ext cx="7772400" cy="1371600"/>
          </a:xfrm>
        </p:spPr>
        <p:txBody>
          <a:bodyPr>
            <a:normAutofit fontScale="90000"/>
          </a:bodyPr>
          <a:lstStyle/>
          <a:p>
            <a:pPr marL="484632" fontAlgn="auto">
              <a:spcAft>
                <a:spcPts val="0"/>
              </a:spcAft>
              <a:defRPr/>
            </a:pPr>
            <a:r>
              <a:rPr lang="en-US" sz="4000">
                <a:solidFill>
                  <a:schemeClr val="accent1">
                    <a:tint val="83000"/>
                    <a:satMod val="150000"/>
                  </a:schemeClr>
                </a:solidFill>
              </a:rPr>
              <a:t>Entity-Relationship (E-R) Modeling(continued)</a:t>
            </a:r>
            <a:br>
              <a:rPr lang="en-US" sz="4000">
                <a:solidFill>
                  <a:schemeClr val="accent1">
                    <a:tint val="83000"/>
                    <a:satMod val="150000"/>
                  </a:schemeClr>
                </a:solidFill>
              </a:rPr>
            </a:br>
            <a:r>
              <a:rPr lang="en-US" sz="2800">
                <a:solidFill>
                  <a:schemeClr val="accent1">
                    <a:tint val="83000"/>
                    <a:satMod val="150000"/>
                  </a:schemeClr>
                </a:solidFill>
              </a:rPr>
              <a:t>Key Terms</a:t>
            </a:r>
          </a:p>
        </p:txBody>
      </p:sp>
      <p:sp>
        <p:nvSpPr>
          <p:cNvPr id="3379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Multivalued Attribute</a:t>
            </a:r>
          </a:p>
          <a:p>
            <a:pPr lvl="1"/>
            <a:r>
              <a:rPr lang="en-US" smtClean="0"/>
              <a:t>An attribute that may take on more than one value for each entity instance</a:t>
            </a:r>
          </a:p>
          <a:p>
            <a:pPr lvl="1"/>
            <a:r>
              <a:rPr lang="en-US" smtClean="0"/>
              <a:t>Represented on E-R diagram in two ways:</a:t>
            </a:r>
          </a:p>
          <a:p>
            <a:pPr lvl="2"/>
            <a:r>
              <a:rPr lang="en-US" smtClean="0"/>
              <a:t>double-lined ellipse</a:t>
            </a:r>
          </a:p>
          <a:p>
            <a:pPr lvl="2"/>
            <a:r>
              <a:rPr lang="en-US" smtClean="0"/>
              <a:t>weak entity</a:t>
            </a:r>
          </a:p>
          <a:p>
            <a:pPr lvl="2"/>
            <a:endParaRPr lang="en-US" smtClean="0"/>
          </a:p>
          <a:p>
            <a:pPr lvl="1"/>
            <a:endParaRPr lang="en-US" smtClean="0"/>
          </a:p>
        </p:txBody>
      </p:sp>
      <p:sp>
        <p:nvSpPr>
          <p:cNvPr id="337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976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CDD6B43-204B-4BB3-8AEF-0119DFB3AEFB}" type="slidenum">
              <a:rPr lang="en-US" sz="1600">
                <a:solidFill>
                  <a:schemeClr val="tx1"/>
                </a:solidFill>
                <a:cs typeface="+mn-cs"/>
              </a:rPr>
              <a:pPr algn="ctr" eaLnBrk="0" hangingPunct="0">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609600" y="304800"/>
            <a:ext cx="7772400" cy="1524000"/>
          </a:xfrm>
        </p:spPr>
        <p:txBody>
          <a:bodyPr>
            <a:normAutofit fontScale="90000"/>
          </a:bodyPr>
          <a:lstStyle/>
          <a:p>
            <a:pPr marL="484632" fontAlgn="auto">
              <a:spcAft>
                <a:spcPts val="0"/>
              </a:spcAft>
              <a:defRPr/>
            </a:pPr>
            <a:r>
              <a:rPr lang="en-US" sz="4000">
                <a:solidFill>
                  <a:schemeClr val="accent1">
                    <a:tint val="83000"/>
                    <a:satMod val="150000"/>
                  </a:schemeClr>
                </a:solidFill>
              </a:rPr>
              <a:t>Entity-Relationship (E-R) Modeling (continued)</a:t>
            </a:r>
            <a:br>
              <a:rPr lang="en-US" sz="4000">
                <a:solidFill>
                  <a:schemeClr val="accent1">
                    <a:tint val="83000"/>
                    <a:satMod val="150000"/>
                  </a:schemeClr>
                </a:solidFill>
              </a:rPr>
            </a:br>
            <a:r>
              <a:rPr lang="en-US" sz="2800">
                <a:solidFill>
                  <a:schemeClr val="accent1">
                    <a:tint val="83000"/>
                    <a:satMod val="150000"/>
                  </a:schemeClr>
                </a:solidFill>
              </a:rPr>
              <a:t>Key Terms</a:t>
            </a:r>
          </a:p>
        </p:txBody>
      </p:sp>
      <p:sp>
        <p:nvSpPr>
          <p:cNvPr id="3481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Relationship</a:t>
            </a:r>
          </a:p>
          <a:p>
            <a:pPr lvl="1">
              <a:lnSpc>
                <a:spcPct val="90000"/>
              </a:lnSpc>
            </a:pPr>
            <a:r>
              <a:rPr lang="en-US" smtClean="0"/>
              <a:t>An association between the instances of one or more entity types that is of interest to the organization</a:t>
            </a:r>
          </a:p>
          <a:p>
            <a:pPr lvl="1">
              <a:lnSpc>
                <a:spcPct val="90000"/>
              </a:lnSpc>
            </a:pPr>
            <a:r>
              <a:rPr lang="en-US" smtClean="0"/>
              <a:t>Association indicates that an event has occurred or that there is a natural link between entity types</a:t>
            </a:r>
          </a:p>
          <a:p>
            <a:pPr lvl="1">
              <a:lnSpc>
                <a:spcPct val="90000"/>
              </a:lnSpc>
            </a:pPr>
            <a:r>
              <a:rPr lang="en-US" smtClean="0"/>
              <a:t>Relationships are always labeled with verb phrases</a:t>
            </a:r>
          </a:p>
        </p:txBody>
      </p:sp>
      <p:sp>
        <p:nvSpPr>
          <p:cNvPr id="348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07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D52DA190-FA65-4843-ABA4-48139580B49A}"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Conceptual Data Modeling and the E-R Diagram</a:t>
            </a:r>
          </a:p>
        </p:txBody>
      </p:sp>
      <p:sp>
        <p:nvSpPr>
          <p:cNvPr id="3584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 </a:t>
            </a:r>
            <a:r>
              <a:rPr lang="en-US" sz="2800" smtClean="0"/>
              <a:t>Goal</a:t>
            </a:r>
          </a:p>
          <a:p>
            <a:pPr lvl="1"/>
            <a:r>
              <a:rPr lang="en-US" sz="2400" smtClean="0"/>
              <a:t>Capture as much of the meaning of the data as possible</a:t>
            </a:r>
          </a:p>
          <a:p>
            <a:r>
              <a:rPr lang="en-US" sz="2800" smtClean="0"/>
              <a:t> Result</a:t>
            </a:r>
          </a:p>
          <a:p>
            <a:pPr lvl="1"/>
            <a:r>
              <a:rPr lang="en-US" sz="2400" smtClean="0"/>
              <a:t> A better design that is easier to maintain</a:t>
            </a:r>
          </a:p>
          <a:p>
            <a:pPr lvl="1"/>
            <a:endParaRPr lang="en-US" sz="2400" smtClean="0"/>
          </a:p>
          <a:p>
            <a:endParaRPr lang="en-US" sz="2800" smtClean="0"/>
          </a:p>
          <a:p>
            <a:endParaRPr lang="en-US" smtClean="0"/>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457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EB792380-E48B-4490-98F4-FE26082A3D65}"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Degree of Relationship</a:t>
            </a:r>
          </a:p>
        </p:txBody>
      </p:sp>
      <p:sp>
        <p:nvSpPr>
          <p:cNvPr id="204803"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fontScale="92500" lnSpcReduction="10000"/>
          </a:bodyPr>
          <a:lstStyle/>
          <a:p>
            <a:pPr marL="448056" indent="-384048" fontAlgn="auto">
              <a:lnSpc>
                <a:spcPct val="90000"/>
              </a:lnSpc>
              <a:spcAft>
                <a:spcPts val="0"/>
              </a:spcAft>
              <a:buFont typeface="Wingdings 2"/>
              <a:buChar char=""/>
              <a:defRPr/>
            </a:pPr>
            <a:r>
              <a:rPr lang="en-US" sz="2800"/>
              <a:t>Degree</a:t>
            </a:r>
          </a:p>
          <a:p>
            <a:pPr marL="822960" lvl="1" fontAlgn="auto">
              <a:lnSpc>
                <a:spcPct val="90000"/>
              </a:lnSpc>
              <a:spcAft>
                <a:spcPts val="0"/>
              </a:spcAft>
              <a:buFont typeface="Verdana"/>
              <a:buChar char="›"/>
              <a:defRPr/>
            </a:pPr>
            <a:r>
              <a:rPr lang="en-US" sz="2400"/>
              <a:t>Number of entity types that participate in a relationship</a:t>
            </a:r>
          </a:p>
          <a:p>
            <a:pPr marL="448056" indent="-384048" fontAlgn="auto">
              <a:lnSpc>
                <a:spcPct val="90000"/>
              </a:lnSpc>
              <a:spcAft>
                <a:spcPts val="0"/>
              </a:spcAft>
              <a:buFont typeface="Wingdings 2"/>
              <a:buChar char=""/>
              <a:defRPr/>
            </a:pPr>
            <a:r>
              <a:rPr lang="en-US" sz="2800"/>
              <a:t>Three Cases:</a:t>
            </a:r>
          </a:p>
          <a:p>
            <a:pPr marL="822960" lvl="1" fontAlgn="auto">
              <a:lnSpc>
                <a:spcPct val="90000"/>
              </a:lnSpc>
              <a:spcAft>
                <a:spcPts val="0"/>
              </a:spcAft>
              <a:buFont typeface="Verdana"/>
              <a:buChar char="›"/>
              <a:defRPr/>
            </a:pPr>
            <a:r>
              <a:rPr lang="en-US" sz="2400"/>
              <a:t>Unary</a:t>
            </a:r>
          </a:p>
          <a:p>
            <a:pPr marL="1106424" lvl="2" fontAlgn="auto">
              <a:lnSpc>
                <a:spcPct val="90000"/>
              </a:lnSpc>
              <a:spcAft>
                <a:spcPts val="0"/>
              </a:spcAft>
              <a:buFont typeface="Wingdings 2"/>
              <a:buChar char=""/>
              <a:defRPr/>
            </a:pPr>
            <a:r>
              <a:rPr lang="en-US" sz="2000"/>
              <a:t>A relationship between the instances of one entity type</a:t>
            </a:r>
          </a:p>
          <a:p>
            <a:pPr marL="822960" lvl="1" fontAlgn="auto">
              <a:lnSpc>
                <a:spcPct val="90000"/>
              </a:lnSpc>
              <a:spcAft>
                <a:spcPts val="0"/>
              </a:spcAft>
              <a:buFont typeface="Verdana"/>
              <a:buChar char="›"/>
              <a:defRPr/>
            </a:pPr>
            <a:r>
              <a:rPr lang="en-US" sz="2400"/>
              <a:t>Binary</a:t>
            </a:r>
          </a:p>
          <a:p>
            <a:pPr marL="1106424" lvl="2" fontAlgn="auto">
              <a:lnSpc>
                <a:spcPct val="90000"/>
              </a:lnSpc>
              <a:spcAft>
                <a:spcPts val="0"/>
              </a:spcAft>
              <a:buFont typeface="Wingdings 2"/>
              <a:buChar char=""/>
              <a:defRPr/>
            </a:pPr>
            <a:r>
              <a:rPr lang="en-US" sz="2000"/>
              <a:t>A relationship between the instances of two entity types</a:t>
            </a:r>
          </a:p>
          <a:p>
            <a:pPr marL="822960" lvl="1" fontAlgn="auto">
              <a:lnSpc>
                <a:spcPct val="90000"/>
              </a:lnSpc>
              <a:spcAft>
                <a:spcPts val="0"/>
              </a:spcAft>
              <a:buFont typeface="Verdana"/>
              <a:buChar char="›"/>
              <a:defRPr/>
            </a:pPr>
            <a:r>
              <a:rPr lang="en-US" sz="2400"/>
              <a:t>Ternary</a:t>
            </a:r>
          </a:p>
          <a:p>
            <a:pPr marL="1106424" lvl="2" fontAlgn="auto">
              <a:lnSpc>
                <a:spcPct val="90000"/>
              </a:lnSpc>
              <a:spcAft>
                <a:spcPts val="0"/>
              </a:spcAft>
              <a:buFont typeface="Wingdings 2"/>
              <a:buChar char=""/>
              <a:defRPr/>
            </a:pPr>
            <a:r>
              <a:rPr lang="en-US" sz="2000"/>
              <a:t>A simultaneous relationship among the instances of three entity types</a:t>
            </a:r>
          </a:p>
          <a:p>
            <a:pPr marL="1106424" lvl="2" fontAlgn="auto">
              <a:lnSpc>
                <a:spcPct val="90000"/>
              </a:lnSpc>
              <a:spcAft>
                <a:spcPts val="0"/>
              </a:spcAft>
              <a:buFont typeface="Wingdings 2"/>
              <a:buChar char=""/>
              <a:defRPr/>
            </a:pPr>
            <a:r>
              <a:rPr lang="en-US" sz="2000"/>
              <a:t>Not the same as three binary relationships</a:t>
            </a:r>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48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29A728AC-264E-48C5-B619-FCB1D8982254}"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293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39FCEFA0-DD59-49AE-86C4-B6FFEDC354EB}" type="slidenum">
              <a:rPr lang="en-US" sz="1600">
                <a:solidFill>
                  <a:schemeClr val="tx1"/>
                </a:solidFill>
                <a:cs typeface="+mn-cs"/>
              </a:rPr>
              <a:pPr algn="ctr" eaLnBrk="0" hangingPunct="0">
                <a:defRPr/>
              </a:pPr>
              <a:t>20</a:t>
            </a:fld>
            <a:endParaRPr lang="en-US" sz="1600">
              <a:solidFill>
                <a:schemeClr val="tx1"/>
              </a:solidFill>
              <a:cs typeface="+mn-cs"/>
            </a:endParaRPr>
          </a:p>
        </p:txBody>
      </p:sp>
      <p:pic>
        <p:nvPicPr>
          <p:cNvPr id="37891" name="Picture 5"/>
          <p:cNvPicPr>
            <a:picLocks noChangeAspect="1" noChangeArrowheads="1"/>
          </p:cNvPicPr>
          <p:nvPr/>
        </p:nvPicPr>
        <p:blipFill>
          <a:blip r:embed="rId2"/>
          <a:srcRect/>
          <a:stretch>
            <a:fillRect/>
          </a:stretch>
        </p:blipFill>
        <p:spPr bwMode="auto">
          <a:xfrm>
            <a:off x="990600" y="381000"/>
            <a:ext cx="7253288" cy="583565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Cardinality</a:t>
            </a:r>
          </a:p>
        </p:txBody>
      </p:sp>
      <p:sp>
        <p:nvSpPr>
          <p:cNvPr id="206851"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fontScale="92500"/>
          </a:bodyPr>
          <a:lstStyle/>
          <a:p>
            <a:pPr marL="448056" indent="-384048" fontAlgn="auto">
              <a:spcAft>
                <a:spcPts val="0"/>
              </a:spcAft>
              <a:buFont typeface="Wingdings 2"/>
              <a:buChar char=""/>
              <a:defRPr/>
            </a:pPr>
            <a:endParaRPr lang="en-US" sz="2800"/>
          </a:p>
          <a:p>
            <a:pPr marL="448056" indent="-384048" fontAlgn="auto">
              <a:spcAft>
                <a:spcPts val="0"/>
              </a:spcAft>
              <a:buFont typeface="Wingdings 2"/>
              <a:buChar char=""/>
              <a:defRPr/>
            </a:pPr>
            <a:r>
              <a:rPr lang="en-US" sz="2800"/>
              <a:t>The number of instances of entity B that can be associated with each instance of entity A</a:t>
            </a:r>
          </a:p>
          <a:p>
            <a:pPr marL="448056" indent="-384048" fontAlgn="auto">
              <a:spcAft>
                <a:spcPts val="0"/>
              </a:spcAft>
              <a:buFont typeface="Wingdings 2"/>
              <a:buChar char=""/>
              <a:defRPr/>
            </a:pPr>
            <a:r>
              <a:rPr lang="en-US" sz="2800"/>
              <a:t>Minimum Cardinality</a:t>
            </a:r>
            <a:endParaRPr lang="en-US"/>
          </a:p>
          <a:p>
            <a:pPr marL="822960" lvl="1" fontAlgn="auto">
              <a:spcAft>
                <a:spcPts val="0"/>
              </a:spcAft>
              <a:buFont typeface="Verdana"/>
              <a:buChar char="›"/>
              <a:defRPr/>
            </a:pPr>
            <a:r>
              <a:rPr lang="en-US" sz="2400"/>
              <a:t>The minimum number of instances of entity B that may be associated with each instance of entity A</a:t>
            </a:r>
          </a:p>
          <a:p>
            <a:pPr marL="448056" indent="-384048" fontAlgn="auto">
              <a:spcAft>
                <a:spcPts val="0"/>
              </a:spcAft>
              <a:buFont typeface="Wingdings 2"/>
              <a:buChar char=""/>
              <a:defRPr/>
            </a:pPr>
            <a:r>
              <a:rPr lang="en-US" sz="2800"/>
              <a:t>Maximum Cardinality</a:t>
            </a:r>
          </a:p>
          <a:p>
            <a:pPr marL="822960" lvl="1" fontAlgn="auto">
              <a:spcAft>
                <a:spcPts val="0"/>
              </a:spcAft>
              <a:buFont typeface="Verdana"/>
              <a:buChar char="›"/>
              <a:defRPr/>
            </a:pPr>
            <a:r>
              <a:rPr lang="en-US" sz="2400"/>
              <a:t>The maximum number of instances of entity B that may be associated with each instance of entity A</a:t>
            </a:r>
            <a:endParaRPr lang="en-US"/>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68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DE7E88AB-27E7-45BB-B1BC-A342D4374A6A}" type="slidenum">
              <a:rPr lang="en-US" sz="1600">
                <a:solidFill>
                  <a:schemeClr val="tx1"/>
                </a:solidFill>
                <a:cs typeface="+mn-cs"/>
              </a:rPr>
              <a:pPr algn="ctr" eaLnBrk="0" hangingPunct="0">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Associative Entity</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An entity type that associates the instances of one or more entity types and contains attributes that are peculiar to the relationship between those entity instances</a:t>
            </a:r>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78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DA1524E9-C572-4F8F-91FD-72BC43CA200C}"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395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90C67666-906A-474C-98CA-8F74D2CDDF3E}" type="slidenum">
              <a:rPr lang="en-US" sz="1600">
                <a:solidFill>
                  <a:schemeClr val="tx1"/>
                </a:solidFill>
                <a:cs typeface="+mn-cs"/>
              </a:rPr>
              <a:pPr algn="ctr" eaLnBrk="0" hangingPunct="0">
                <a:defRPr/>
              </a:pPr>
              <a:t>23</a:t>
            </a:fld>
            <a:endParaRPr lang="en-US" sz="1600">
              <a:solidFill>
                <a:schemeClr val="tx1"/>
              </a:solidFill>
              <a:cs typeface="+mn-cs"/>
            </a:endParaRPr>
          </a:p>
        </p:txBody>
      </p:sp>
      <p:pic>
        <p:nvPicPr>
          <p:cNvPr id="40963" name="Picture 4"/>
          <p:cNvPicPr>
            <a:picLocks noChangeAspect="1" noChangeArrowheads="1"/>
          </p:cNvPicPr>
          <p:nvPr/>
        </p:nvPicPr>
        <p:blipFill>
          <a:blip r:embed="rId2"/>
          <a:srcRect/>
          <a:stretch>
            <a:fillRect/>
          </a:stretch>
        </p:blipFill>
        <p:spPr bwMode="auto">
          <a:xfrm>
            <a:off x="303213" y="2278063"/>
            <a:ext cx="8535987" cy="2306637"/>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pPr marL="484632" fontAlgn="auto">
              <a:spcAft>
                <a:spcPts val="0"/>
              </a:spcAft>
              <a:defRPr/>
            </a:pPr>
            <a:r>
              <a:rPr lang="en-US" sz="3600">
                <a:solidFill>
                  <a:schemeClr val="accent1">
                    <a:tint val="83000"/>
                    <a:satMod val="150000"/>
                  </a:schemeClr>
                </a:solidFill>
              </a:rPr>
              <a:t>PVF WebStore:</a:t>
            </a:r>
            <a:br>
              <a:rPr lang="en-US" sz="3600">
                <a:solidFill>
                  <a:schemeClr val="accent1">
                    <a:tint val="83000"/>
                    <a:satMod val="150000"/>
                  </a:schemeClr>
                </a:solidFill>
              </a:rPr>
            </a:br>
            <a:r>
              <a:rPr lang="en-US" sz="3600">
                <a:solidFill>
                  <a:schemeClr val="accent1">
                    <a:tint val="83000"/>
                    <a:satMod val="150000"/>
                  </a:schemeClr>
                </a:solidFill>
              </a:rPr>
              <a:t> Conceptual Data Modeling</a:t>
            </a:r>
          </a:p>
        </p:txBody>
      </p:sp>
      <p:sp>
        <p:nvSpPr>
          <p:cNvPr id="41986"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r>
              <a:rPr lang="en-US" sz="2800" smtClean="0"/>
              <a:t>Conceptual data modeling for Internet applications is no different than the process followed for other types of applications</a:t>
            </a:r>
          </a:p>
          <a:p>
            <a:r>
              <a:rPr lang="en-US" sz="2800" smtClean="0"/>
              <a:t>Pine Valley Furniture WebStore</a:t>
            </a:r>
          </a:p>
          <a:p>
            <a:pPr lvl="1"/>
            <a:r>
              <a:rPr lang="en-US" sz="2400" smtClean="0"/>
              <a:t>Four entity types defined</a:t>
            </a:r>
          </a:p>
          <a:p>
            <a:pPr lvl="2"/>
            <a:r>
              <a:rPr lang="en-US" sz="2000" smtClean="0"/>
              <a:t>Customer</a:t>
            </a:r>
          </a:p>
          <a:p>
            <a:pPr lvl="2"/>
            <a:r>
              <a:rPr lang="en-US" sz="2000" smtClean="0"/>
              <a:t>Inventory</a:t>
            </a:r>
          </a:p>
          <a:p>
            <a:pPr lvl="2"/>
            <a:r>
              <a:rPr lang="en-US" sz="2000" smtClean="0"/>
              <a:t>Order</a:t>
            </a:r>
          </a:p>
          <a:p>
            <a:pPr lvl="2"/>
            <a:r>
              <a:rPr lang="en-US" sz="2000" smtClean="0"/>
              <a:t>Shopping cart</a:t>
            </a:r>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0992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C21D999D-F4FE-40DC-913F-1C92A97BB421}"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54979"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55CD22D-6C16-4C9D-A644-718222F8107E}" type="slidenum">
              <a:rPr lang="en-US" sz="1600">
                <a:solidFill>
                  <a:schemeClr val="tx1"/>
                </a:solidFill>
                <a:cs typeface="+mn-cs"/>
              </a:rPr>
              <a:pPr algn="ctr" eaLnBrk="0" hangingPunct="0">
                <a:defRPr/>
              </a:pPr>
              <a:t>25</a:t>
            </a:fld>
            <a:endParaRPr lang="en-US" sz="1600">
              <a:solidFill>
                <a:schemeClr val="tx1"/>
              </a:solidFill>
              <a:cs typeface="+mn-cs"/>
            </a:endParaRPr>
          </a:p>
        </p:txBody>
      </p:sp>
      <p:pic>
        <p:nvPicPr>
          <p:cNvPr id="282624" name="Picture 0"/>
          <p:cNvPicPr>
            <a:picLocks noChangeAspect="1" noChangeArrowheads="1"/>
          </p:cNvPicPr>
          <p:nvPr/>
        </p:nvPicPr>
        <p:blipFill>
          <a:blip r:embed="rId2"/>
          <a:srcRect/>
          <a:stretch>
            <a:fillRect/>
          </a:stretch>
        </p:blipFill>
        <p:spPr bwMode="auto">
          <a:xfrm>
            <a:off x="152400" y="2439988"/>
            <a:ext cx="8909050" cy="221297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Selecting the Best Alternative Design Strategy</a:t>
            </a:r>
          </a:p>
        </p:txBody>
      </p:sp>
      <p:sp>
        <p:nvSpPr>
          <p:cNvPr id="44034" name="Rectangle 3" descr="Rectangle: Click to edit Master text styles&#10;Second level&#10;Third level&#10;Fourth level&#10;Fifth level"/>
          <p:cNvSpPr>
            <a:spLocks noGrp="1" noChangeArrowheads="1"/>
          </p:cNvSpPr>
          <p:nvPr>
            <p:ph idx="1"/>
          </p:nvPr>
        </p:nvSpPr>
        <p:spPr>
          <a:xfrm>
            <a:off x="838200" y="1524000"/>
            <a:ext cx="7772400" cy="4495800"/>
          </a:xfrm>
        </p:spPr>
        <p:txBody>
          <a:bodyPr/>
          <a:lstStyle/>
          <a:p>
            <a:pPr marL="533400" indent="-533400">
              <a:lnSpc>
                <a:spcPct val="90000"/>
              </a:lnSpc>
            </a:pPr>
            <a:r>
              <a:rPr lang="en-US" sz="2400" smtClean="0"/>
              <a:t>Two basic steps:</a:t>
            </a:r>
          </a:p>
          <a:p>
            <a:pPr marL="914400" lvl="1" indent="-457200">
              <a:lnSpc>
                <a:spcPct val="90000"/>
              </a:lnSpc>
              <a:buSzTx/>
              <a:buFont typeface="Wingdings" pitchFamily="2" charset="2"/>
              <a:buAutoNum type="arabicPeriod"/>
            </a:pPr>
            <a:r>
              <a:rPr lang="en-US" sz="2000" smtClean="0"/>
              <a:t>Generate a comprehensive set of alternative design strategies</a:t>
            </a:r>
          </a:p>
          <a:p>
            <a:pPr marL="914400" lvl="1" indent="-457200">
              <a:lnSpc>
                <a:spcPct val="90000"/>
              </a:lnSpc>
              <a:buSzTx/>
              <a:buFont typeface="Wingdings" pitchFamily="2" charset="2"/>
              <a:buAutoNum type="arabicPeriod"/>
            </a:pPr>
            <a:r>
              <a:rPr lang="en-US" sz="2000" smtClean="0"/>
              <a:t>Select the one design strategy that is most likely to result in the desired information system</a:t>
            </a:r>
          </a:p>
          <a:p>
            <a:pPr marL="533400" indent="-533400">
              <a:lnSpc>
                <a:spcPct val="90000"/>
              </a:lnSpc>
            </a:pPr>
            <a:r>
              <a:rPr lang="en-US" sz="2400" smtClean="0"/>
              <a:t>Process:</a:t>
            </a:r>
          </a:p>
          <a:p>
            <a:pPr marL="914400" lvl="1" indent="-457200">
              <a:lnSpc>
                <a:spcPct val="90000"/>
              </a:lnSpc>
              <a:buSzTx/>
              <a:buFont typeface="Wingdings" pitchFamily="2" charset="2"/>
              <a:buAutoNum type="arabicPeriod"/>
            </a:pPr>
            <a:r>
              <a:rPr lang="en-US" sz="2000" smtClean="0"/>
              <a:t>Divide requirements into different sets of capabilities</a:t>
            </a:r>
          </a:p>
          <a:p>
            <a:pPr marL="914400" lvl="1" indent="-457200">
              <a:lnSpc>
                <a:spcPct val="90000"/>
              </a:lnSpc>
              <a:buSzTx/>
              <a:buFont typeface="Wingdings" pitchFamily="2" charset="2"/>
              <a:buAutoNum type="arabicPeriod"/>
            </a:pPr>
            <a:r>
              <a:rPr lang="en-US" sz="2000" smtClean="0"/>
              <a:t>Enumerate different potential implementation environments that could be used to deliver the different sets of capabilities</a:t>
            </a:r>
          </a:p>
          <a:p>
            <a:pPr marL="914400" lvl="1" indent="-457200">
              <a:lnSpc>
                <a:spcPct val="90000"/>
              </a:lnSpc>
              <a:buSzTx/>
              <a:buFont typeface="Wingdings" pitchFamily="2" charset="2"/>
              <a:buAutoNum type="arabicPeriod"/>
            </a:pPr>
            <a:r>
              <a:rPr lang="en-US" sz="2000" smtClean="0"/>
              <a:t>Propose different ways to source or acquire the various sets of capabilities for the different implementation environments</a:t>
            </a:r>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82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BA1AA0B1-A577-4858-9BCC-3FE9ACA22D57}"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Selecting the Best Alternative Design Strategy(continued)</a:t>
            </a:r>
          </a:p>
        </p:txBody>
      </p:sp>
      <p:sp>
        <p:nvSpPr>
          <p:cNvPr id="450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533400" indent="-533400"/>
            <a:r>
              <a:rPr lang="en-US" smtClean="0"/>
              <a:t>Deliverables</a:t>
            </a:r>
          </a:p>
          <a:p>
            <a:pPr marL="914400" lvl="1" indent="-457200">
              <a:buSzPct val="110000"/>
              <a:buFont typeface="Wingdings" pitchFamily="2" charset="2"/>
              <a:buAutoNum type="arabicPeriod"/>
            </a:pPr>
            <a:r>
              <a:rPr lang="en-US" smtClean="0"/>
              <a:t>At least three substantially different system design strategies for building the replacement information system</a:t>
            </a:r>
          </a:p>
          <a:p>
            <a:pPr marL="914400" lvl="1" indent="-457200">
              <a:buSzPct val="110000"/>
              <a:buFont typeface="Wingdings" pitchFamily="2" charset="2"/>
              <a:buAutoNum type="arabicPeriod"/>
            </a:pPr>
            <a:r>
              <a:rPr lang="en-US" smtClean="0"/>
              <a:t>A design strategy judged most likely to lead to the most desirable information system</a:t>
            </a:r>
          </a:p>
          <a:p>
            <a:pPr marL="914400" lvl="1" indent="-457200">
              <a:buFont typeface="Wingdings" pitchFamily="2" charset="2"/>
              <a:buNone/>
            </a:pPr>
            <a:endParaRPr lang="en-US" smtClean="0"/>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693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23DE01A0-9917-461C-8081-67F7997C79F7}" type="slidenum">
              <a:rPr lang="en-US" sz="1600">
                <a:solidFill>
                  <a:schemeClr val="tx1"/>
                </a:solidFill>
                <a:cs typeface="+mn-cs"/>
              </a:rPr>
              <a:pPr algn="ctr" eaLnBrk="0" hangingPunct="0">
                <a:defRPr/>
              </a:pPr>
              <a:t>27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685800" y="533400"/>
            <a:ext cx="7772400" cy="838200"/>
          </a:xfrm>
        </p:spPr>
        <p:txBody>
          <a:bodyPr>
            <a:normAutofit fontScale="90000"/>
          </a:bodyPr>
          <a:lstStyle/>
          <a:p>
            <a:pPr marL="484632" fontAlgn="auto">
              <a:spcAft>
                <a:spcPts val="0"/>
              </a:spcAft>
              <a:defRPr/>
            </a:pPr>
            <a:r>
              <a:rPr lang="en-US">
                <a:solidFill>
                  <a:schemeClr val="accent1">
                    <a:tint val="83000"/>
                    <a:satMod val="150000"/>
                  </a:schemeClr>
                </a:solidFill>
              </a:rPr>
              <a:t>Generating Alternative Design Strategies</a:t>
            </a:r>
          </a:p>
        </p:txBody>
      </p:sp>
      <p:sp>
        <p:nvSpPr>
          <p:cNvPr id="270339"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lnSpcReduction="10000"/>
          </a:bodyPr>
          <a:lstStyle/>
          <a:p>
            <a:pPr marL="448056" indent="-384048" fontAlgn="auto">
              <a:lnSpc>
                <a:spcPct val="90000"/>
              </a:lnSpc>
              <a:spcAft>
                <a:spcPts val="0"/>
              </a:spcAft>
              <a:buFont typeface="Wingdings 2"/>
              <a:buChar char=""/>
              <a:defRPr/>
            </a:pPr>
            <a:r>
              <a:rPr lang="en-US" dirty="0"/>
              <a:t>Best to generate three alternatives: </a:t>
            </a:r>
          </a:p>
          <a:p>
            <a:pPr marL="822960" lvl="1" fontAlgn="auto">
              <a:lnSpc>
                <a:spcPct val="90000"/>
              </a:lnSpc>
              <a:spcAft>
                <a:spcPts val="0"/>
              </a:spcAft>
              <a:buFont typeface="Verdana"/>
              <a:buChar char="›"/>
              <a:defRPr/>
            </a:pPr>
            <a:r>
              <a:rPr lang="en-US" dirty="0"/>
              <a:t>Low-End</a:t>
            </a:r>
          </a:p>
          <a:p>
            <a:pPr marL="1106424" lvl="2" fontAlgn="auto">
              <a:lnSpc>
                <a:spcPct val="90000"/>
              </a:lnSpc>
              <a:spcAft>
                <a:spcPts val="0"/>
              </a:spcAft>
              <a:buFont typeface="Wingdings 2"/>
              <a:buChar char=""/>
              <a:defRPr/>
            </a:pPr>
            <a:r>
              <a:rPr lang="en-US" dirty="0"/>
              <a:t>Provides all required functionality users demand with a system that is minimally different from the current system</a:t>
            </a:r>
          </a:p>
          <a:p>
            <a:pPr marL="822960" lvl="1" fontAlgn="auto">
              <a:lnSpc>
                <a:spcPct val="90000"/>
              </a:lnSpc>
              <a:spcAft>
                <a:spcPts val="0"/>
              </a:spcAft>
              <a:buFont typeface="Verdana"/>
              <a:buChar char="›"/>
              <a:defRPr/>
            </a:pPr>
            <a:r>
              <a:rPr lang="en-US" dirty="0"/>
              <a:t>High-End</a:t>
            </a:r>
          </a:p>
          <a:p>
            <a:pPr marL="1106424" lvl="2" fontAlgn="auto">
              <a:lnSpc>
                <a:spcPct val="90000"/>
              </a:lnSpc>
              <a:spcAft>
                <a:spcPts val="0"/>
              </a:spcAft>
              <a:buFont typeface="Wingdings 2"/>
              <a:buChar char=""/>
              <a:defRPr/>
            </a:pPr>
            <a:r>
              <a:rPr lang="en-US" dirty="0"/>
              <a:t>Solves problem in question and provides many extra features users desire</a:t>
            </a:r>
          </a:p>
          <a:p>
            <a:pPr marL="822960" lvl="1" fontAlgn="auto">
              <a:lnSpc>
                <a:spcPct val="90000"/>
              </a:lnSpc>
              <a:spcAft>
                <a:spcPts val="0"/>
              </a:spcAft>
              <a:buFont typeface="Verdana"/>
              <a:buChar char="›"/>
              <a:defRPr/>
            </a:pPr>
            <a:r>
              <a:rPr lang="en-US" dirty="0" smtClean="0"/>
              <a:t>Mid-range</a:t>
            </a:r>
            <a:endParaRPr lang="en-US" dirty="0"/>
          </a:p>
          <a:p>
            <a:pPr marL="1106424" lvl="2" fontAlgn="auto">
              <a:lnSpc>
                <a:spcPct val="90000"/>
              </a:lnSpc>
              <a:spcAft>
                <a:spcPts val="0"/>
              </a:spcAft>
              <a:buFont typeface="Wingdings 2"/>
              <a:buChar char=""/>
              <a:defRPr/>
            </a:pPr>
            <a:r>
              <a:rPr lang="en-US" dirty="0"/>
              <a:t>Compromise of features of high-end alternative with frugality of low-end alternative</a:t>
            </a:r>
          </a:p>
        </p:txBody>
      </p:sp>
      <p:sp>
        <p:nvSpPr>
          <p:cNvPr id="460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034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2F66B8AB-B5D4-4116-8411-A55337FC4E4C}"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Drawing Bounds on Alternative Designs</a:t>
            </a:r>
          </a:p>
        </p:txBody>
      </p:sp>
      <p:sp>
        <p:nvSpPr>
          <p:cNvPr id="47106"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a:lnSpc>
                <a:spcPct val="90000"/>
              </a:lnSpc>
            </a:pPr>
            <a:r>
              <a:rPr lang="en-US" sz="2800" smtClean="0"/>
              <a:t>Minimum Requirements</a:t>
            </a:r>
          </a:p>
          <a:p>
            <a:pPr lvl="1">
              <a:lnSpc>
                <a:spcPct val="90000"/>
              </a:lnSpc>
            </a:pPr>
            <a:r>
              <a:rPr lang="en-US" sz="2400" smtClean="0"/>
              <a:t>Mandatory features versus desired features</a:t>
            </a:r>
          </a:p>
          <a:p>
            <a:pPr lvl="1">
              <a:lnSpc>
                <a:spcPct val="90000"/>
              </a:lnSpc>
            </a:pPr>
            <a:r>
              <a:rPr lang="en-US" sz="2400" smtClean="0"/>
              <a:t>Forms of features</a:t>
            </a:r>
          </a:p>
          <a:p>
            <a:pPr lvl="2">
              <a:lnSpc>
                <a:spcPct val="90000"/>
              </a:lnSpc>
            </a:pPr>
            <a:r>
              <a:rPr lang="en-US" sz="2000" smtClean="0"/>
              <a:t>Data</a:t>
            </a:r>
          </a:p>
          <a:p>
            <a:pPr lvl="2">
              <a:lnSpc>
                <a:spcPct val="90000"/>
              </a:lnSpc>
            </a:pPr>
            <a:r>
              <a:rPr lang="en-US" sz="2000" smtClean="0"/>
              <a:t>Outputs</a:t>
            </a:r>
          </a:p>
          <a:p>
            <a:pPr lvl="2">
              <a:lnSpc>
                <a:spcPct val="90000"/>
              </a:lnSpc>
            </a:pPr>
            <a:r>
              <a:rPr lang="en-US" sz="2000" smtClean="0"/>
              <a:t>Analyses</a:t>
            </a:r>
          </a:p>
          <a:p>
            <a:pPr lvl="2">
              <a:lnSpc>
                <a:spcPct val="90000"/>
              </a:lnSpc>
            </a:pPr>
            <a:r>
              <a:rPr lang="en-US" sz="2000" smtClean="0"/>
              <a:t>User expectations on accessibility, response time, and turnaround time</a:t>
            </a:r>
          </a:p>
          <a:p>
            <a:pPr>
              <a:lnSpc>
                <a:spcPct val="90000"/>
              </a:lnSpc>
              <a:buFont typeface="Wingdings" pitchFamily="2" charset="2"/>
              <a:buNone/>
            </a:pPr>
            <a:endParaRPr lang="en-US" sz="2800" smtClean="0"/>
          </a:p>
        </p:txBody>
      </p:sp>
      <p:sp>
        <p:nvSpPr>
          <p:cNvPr id="471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13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8D3D35A0-C88A-4603-9F51-0099E29929B0}"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Drawing Bounds on Alternative Designs (continued)</a:t>
            </a:r>
          </a:p>
        </p:txBody>
      </p:sp>
      <p:sp>
        <p:nvSpPr>
          <p:cNvPr id="481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Constraints on System Development:</a:t>
            </a:r>
          </a:p>
          <a:p>
            <a:pPr lvl="1"/>
            <a:r>
              <a:rPr lang="en-US" smtClean="0"/>
              <a:t>Time</a:t>
            </a:r>
          </a:p>
          <a:p>
            <a:pPr lvl="1"/>
            <a:r>
              <a:rPr lang="en-US" smtClean="0"/>
              <a:t>Financial</a:t>
            </a:r>
          </a:p>
          <a:p>
            <a:pPr lvl="1"/>
            <a:r>
              <a:rPr lang="en-US" smtClean="0"/>
              <a:t>Elements of current system that cannot change</a:t>
            </a:r>
          </a:p>
          <a:p>
            <a:pPr lvl="1"/>
            <a:r>
              <a:rPr lang="en-US" smtClean="0"/>
              <a:t>Legal</a:t>
            </a:r>
          </a:p>
          <a:p>
            <a:pPr lvl="1"/>
            <a:r>
              <a:rPr lang="en-US" smtClean="0"/>
              <a:t>Dynamics of the problem</a:t>
            </a:r>
          </a:p>
        </p:txBody>
      </p:sp>
      <p:sp>
        <p:nvSpPr>
          <p:cNvPr id="481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23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AC06131-36A2-4029-A8AF-A1F6391EB7B1}"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Hoosier Burger’s New Inventory Control System</a:t>
            </a:r>
          </a:p>
        </p:txBody>
      </p:sp>
      <p:sp>
        <p:nvSpPr>
          <p:cNvPr id="4915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Replacement for existing system</a:t>
            </a:r>
          </a:p>
          <a:p>
            <a:r>
              <a:rPr lang="en-US" smtClean="0"/>
              <a:t>Figure 7-15 ranks system requirements and constraints</a:t>
            </a:r>
          </a:p>
          <a:p>
            <a:pPr>
              <a:buFont typeface="Wingdings" pitchFamily="2" charset="2"/>
              <a:buNone/>
            </a:pPr>
            <a:endParaRPr lang="en-US" sz="2800" smtClean="0"/>
          </a:p>
          <a:p>
            <a:endParaRPr lang="en-US" sz="2800" smtClean="0"/>
          </a:p>
          <a:p>
            <a:endParaRPr lang="en-US" smtClean="0"/>
          </a:p>
        </p:txBody>
      </p:sp>
      <p:sp>
        <p:nvSpPr>
          <p:cNvPr id="491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341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CA0EB72A-2DED-44A4-A000-D2C92D0B1A30}" type="slidenum">
              <a:rPr lang="en-US" sz="1600">
                <a:solidFill>
                  <a:schemeClr val="tx1"/>
                </a:solidFill>
                <a:cs typeface="+mn-cs"/>
              </a:rPr>
              <a:pPr algn="ctr" eaLnBrk="0" hangingPunct="0">
                <a:defRPr/>
              </a:pPr>
              <a:t>31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443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96C4CF11-7719-4216-91EF-05561CFDEDF9}" type="slidenum">
              <a:rPr lang="en-US" sz="1600">
                <a:solidFill>
                  <a:schemeClr val="tx1"/>
                </a:solidFill>
                <a:cs typeface="+mn-cs"/>
              </a:rPr>
              <a:pPr algn="ctr" eaLnBrk="0" hangingPunct="0">
                <a:defRPr/>
              </a:pPr>
              <a:t>32</a:t>
            </a:fld>
            <a:endParaRPr lang="en-US" sz="1600">
              <a:solidFill>
                <a:schemeClr val="tx1"/>
              </a:solidFill>
              <a:cs typeface="+mn-cs"/>
            </a:endParaRPr>
          </a:p>
        </p:txBody>
      </p:sp>
      <p:pic>
        <p:nvPicPr>
          <p:cNvPr id="274436" name="Picture 4"/>
          <p:cNvPicPr>
            <a:picLocks noChangeAspect="1" noChangeArrowheads="1"/>
          </p:cNvPicPr>
          <p:nvPr/>
        </p:nvPicPr>
        <p:blipFill>
          <a:blip r:embed="rId2"/>
          <a:srcRect/>
          <a:stretch>
            <a:fillRect/>
          </a:stretch>
        </p:blipFill>
        <p:spPr bwMode="auto">
          <a:xfrm>
            <a:off x="304800" y="2057400"/>
            <a:ext cx="8531225" cy="3214688"/>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Hoosier Burger’s New Inventory Control System (continued)</a:t>
            </a:r>
          </a:p>
        </p:txBody>
      </p:sp>
      <p:sp>
        <p:nvSpPr>
          <p:cNvPr id="5120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Figure 7-16 shows steps of current system</a:t>
            </a:r>
          </a:p>
          <a:p>
            <a:r>
              <a:rPr lang="en-US" smtClean="0"/>
              <a:t>When proposing alternatives, the requirements and constraints must be considered</a:t>
            </a:r>
          </a:p>
          <a:p>
            <a:endParaRPr lang="en-US" smtClean="0"/>
          </a:p>
        </p:txBody>
      </p:sp>
      <p:sp>
        <p:nvSpPr>
          <p:cNvPr id="512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546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0C6F16B8-6035-4621-919D-59D5BFFCB488}" type="slidenum">
              <a:rPr lang="en-US" sz="1600">
                <a:solidFill>
                  <a:schemeClr val="tx1"/>
                </a:solidFill>
                <a:cs typeface="+mn-cs"/>
              </a:rPr>
              <a:pPr algn="ctr" eaLnBrk="0" hangingPunct="0">
                <a:defRPr/>
              </a:pPr>
              <a:t>33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648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DE00537A-6067-4430-ACFA-921CFD6FEE38}" type="slidenum">
              <a:rPr lang="en-US" sz="1600">
                <a:solidFill>
                  <a:schemeClr val="tx1"/>
                </a:solidFill>
                <a:cs typeface="+mn-cs"/>
              </a:rPr>
              <a:pPr algn="ctr" eaLnBrk="0" hangingPunct="0">
                <a:defRPr/>
              </a:pPr>
              <a:t>34</a:t>
            </a:fld>
            <a:endParaRPr lang="en-US" sz="1600">
              <a:solidFill>
                <a:schemeClr val="tx1"/>
              </a:solidFill>
              <a:cs typeface="+mn-cs"/>
            </a:endParaRPr>
          </a:p>
        </p:txBody>
      </p:sp>
      <p:pic>
        <p:nvPicPr>
          <p:cNvPr id="276484" name="Picture 4"/>
          <p:cNvPicPr>
            <a:picLocks noChangeAspect="1" noChangeArrowheads="1"/>
          </p:cNvPicPr>
          <p:nvPr/>
        </p:nvPicPr>
        <p:blipFill>
          <a:blip r:embed="rId2"/>
          <a:srcRect/>
          <a:stretch>
            <a:fillRect/>
          </a:stretch>
        </p:blipFill>
        <p:spPr bwMode="auto">
          <a:xfrm>
            <a:off x="357188" y="2025650"/>
            <a:ext cx="8429625" cy="391795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Hoosier Burger’s New Inventory Control System (continued)</a:t>
            </a:r>
          </a:p>
        </p:txBody>
      </p:sp>
      <p:pic>
        <p:nvPicPr>
          <p:cNvPr id="277511" name="Picture 7"/>
          <p:cNvPicPr>
            <a:picLocks noGrp="1" noChangeAspect="1" noChangeArrowheads="1"/>
          </p:cNvPicPr>
          <p:nvPr>
            <p:ph type="clipArt" sz="half" idx="1"/>
          </p:nvPr>
        </p:nvPicPr>
        <p:blipFill>
          <a:blip r:embed="rId2"/>
          <a:srcRect/>
          <a:stretch>
            <a:fillRect/>
          </a:stretch>
        </p:blipFill>
        <p:spPr>
          <a:xfrm>
            <a:off x="457200" y="3124200"/>
            <a:ext cx="4495800" cy="2514600"/>
          </a:xfrm>
          <a:effectLst>
            <a:outerShdw dist="45791" dir="2021404" algn="ctr" rotWithShape="0">
              <a:srgbClr val="9999FF"/>
            </a:outerShdw>
          </a:effectLst>
          <a:extLst/>
        </p:spPr>
      </p:pic>
      <p:sp>
        <p:nvSpPr>
          <p:cNvPr id="277507" name="Rectangle 3" descr="Rectangle: Click to edit Master text styles&#10;Second level&#10;Third level&#10;Fourth level&#10;Fifth level"/>
          <p:cNvSpPr>
            <a:spLocks noGrp="1" noChangeArrowheads="1"/>
          </p:cNvSpPr>
          <p:nvPr>
            <p:ph type="body" sz="half" idx="2"/>
          </p:nvPr>
        </p:nvSpPr>
        <p:spPr/>
        <p:txBody>
          <a:bodyPr>
            <a:normAutofit lnSpcReduction="10000"/>
          </a:bodyPr>
          <a:lstStyle/>
          <a:p>
            <a:pPr marL="448056" indent="-384048" fontAlgn="auto">
              <a:spcAft>
                <a:spcPts val="0"/>
              </a:spcAft>
              <a:buFont typeface="Wingdings 2"/>
              <a:buChar char=""/>
              <a:defRPr/>
            </a:pPr>
            <a:endParaRPr lang="en-US" sz="2800" dirty="0"/>
          </a:p>
          <a:p>
            <a:pPr marL="448056" indent="-384048" fontAlgn="auto">
              <a:spcAft>
                <a:spcPts val="0"/>
              </a:spcAft>
              <a:buFont typeface="Wingdings 2"/>
              <a:buChar char=""/>
              <a:defRPr/>
            </a:pPr>
            <a:r>
              <a:rPr lang="en-US" sz="2800" dirty="0"/>
              <a:t>Figure 7-18 lists 3 alternatives:</a:t>
            </a:r>
          </a:p>
          <a:p>
            <a:pPr marL="822960" lvl="1" fontAlgn="auto">
              <a:spcAft>
                <a:spcPts val="0"/>
              </a:spcAft>
              <a:buFont typeface="Verdana"/>
              <a:buChar char="›"/>
              <a:defRPr/>
            </a:pPr>
            <a:r>
              <a:rPr lang="en-US" sz="2400" dirty="0"/>
              <a:t>Alternative A is a low-end proposal</a:t>
            </a:r>
          </a:p>
          <a:p>
            <a:pPr marL="822960" lvl="1" fontAlgn="auto">
              <a:spcAft>
                <a:spcPts val="0"/>
              </a:spcAft>
              <a:buFont typeface="Verdana"/>
              <a:buChar char="›"/>
              <a:defRPr/>
            </a:pPr>
            <a:r>
              <a:rPr lang="en-US" sz="2400" dirty="0"/>
              <a:t>Alternative C is a high-end proposal</a:t>
            </a:r>
          </a:p>
          <a:p>
            <a:pPr marL="822960" lvl="1" fontAlgn="auto">
              <a:spcAft>
                <a:spcPts val="0"/>
              </a:spcAft>
              <a:buFont typeface="Verdana"/>
              <a:buChar char="›"/>
              <a:defRPr/>
            </a:pPr>
            <a:r>
              <a:rPr lang="en-US" sz="2400" dirty="0"/>
              <a:t>Alternative B is a </a:t>
            </a:r>
            <a:r>
              <a:rPr lang="en-US" sz="2400" dirty="0" smtClean="0"/>
              <a:t>mid-range </a:t>
            </a:r>
            <a:r>
              <a:rPr lang="en-US" sz="2400" dirty="0"/>
              <a:t>proposal</a:t>
            </a:r>
          </a:p>
          <a:p>
            <a:pPr marL="822960" lvl="1" fontAlgn="auto">
              <a:spcAft>
                <a:spcPts val="0"/>
              </a:spcAft>
              <a:buFont typeface="Wingdings" pitchFamily="2" charset="2"/>
              <a:buNone/>
              <a:defRPr/>
            </a:pPr>
            <a:endParaRPr lang="en-US" sz="2400" dirty="0"/>
          </a:p>
        </p:txBody>
      </p:sp>
      <p:sp>
        <p:nvSpPr>
          <p:cNvPr id="53252"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75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E762CB05-22A8-449B-A2EE-5D04CC7341AE}"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lnSpcReduction="10000"/>
          </a:bodyPr>
          <a:lstStyle/>
          <a:p>
            <a:pPr marL="448056" indent="-384048" fontAlgn="auto">
              <a:lnSpc>
                <a:spcPct val="90000"/>
              </a:lnSpc>
              <a:spcAft>
                <a:spcPts val="0"/>
              </a:spcAft>
              <a:buFont typeface="Wingdings 2"/>
              <a:buChar char=""/>
              <a:defRPr/>
            </a:pPr>
            <a:r>
              <a:rPr lang="en-US" sz="2800" dirty="0"/>
              <a:t>Selecting the Most Likely Alternative</a:t>
            </a:r>
          </a:p>
          <a:p>
            <a:pPr marL="822960" lvl="1" fontAlgn="auto">
              <a:lnSpc>
                <a:spcPct val="90000"/>
              </a:lnSpc>
              <a:spcAft>
                <a:spcPts val="0"/>
              </a:spcAft>
              <a:buFont typeface="Verdana"/>
              <a:buChar char="›"/>
              <a:defRPr/>
            </a:pPr>
            <a:r>
              <a:rPr lang="en-US" sz="2400" dirty="0"/>
              <a:t>Weighted approach can be used to compare the three alternatives</a:t>
            </a:r>
          </a:p>
          <a:p>
            <a:pPr marL="822960" lvl="1" fontAlgn="auto">
              <a:lnSpc>
                <a:spcPct val="90000"/>
              </a:lnSpc>
              <a:spcAft>
                <a:spcPts val="0"/>
              </a:spcAft>
              <a:buFont typeface="Verdana"/>
              <a:buChar char="›"/>
              <a:defRPr/>
            </a:pPr>
            <a:r>
              <a:rPr lang="en-US" sz="2400" dirty="0"/>
              <a:t>Figure 7-19 shows a weighted approach for Hoosier Burger</a:t>
            </a:r>
          </a:p>
          <a:p>
            <a:pPr marL="822960" lvl="1" fontAlgn="auto">
              <a:lnSpc>
                <a:spcPct val="90000"/>
              </a:lnSpc>
              <a:spcAft>
                <a:spcPts val="0"/>
              </a:spcAft>
              <a:buFont typeface="Verdana"/>
              <a:buChar char="›"/>
              <a:defRPr/>
            </a:pPr>
            <a:r>
              <a:rPr lang="en-US" sz="2400" dirty="0"/>
              <a:t>Left-hand side of table contains decision criteria</a:t>
            </a:r>
          </a:p>
          <a:p>
            <a:pPr marL="1106424" lvl="2" fontAlgn="auto">
              <a:lnSpc>
                <a:spcPct val="90000"/>
              </a:lnSpc>
              <a:spcAft>
                <a:spcPts val="0"/>
              </a:spcAft>
              <a:buFont typeface="Wingdings 2"/>
              <a:buChar char=""/>
              <a:defRPr/>
            </a:pPr>
            <a:r>
              <a:rPr lang="en-US" sz="1800" dirty="0"/>
              <a:t>Constants and requirements</a:t>
            </a:r>
          </a:p>
          <a:p>
            <a:pPr marL="1106424" lvl="2" fontAlgn="auto">
              <a:lnSpc>
                <a:spcPct val="90000"/>
              </a:lnSpc>
              <a:spcAft>
                <a:spcPts val="0"/>
              </a:spcAft>
              <a:buFont typeface="Wingdings 2"/>
              <a:buChar char=""/>
              <a:defRPr/>
            </a:pPr>
            <a:r>
              <a:rPr lang="en-US" sz="1800" dirty="0"/>
              <a:t>Weights are arrived at by discussion with analysis team, users, and managers</a:t>
            </a:r>
          </a:p>
          <a:p>
            <a:pPr marL="822960" lvl="1" fontAlgn="auto">
              <a:lnSpc>
                <a:spcPct val="90000"/>
              </a:lnSpc>
              <a:spcAft>
                <a:spcPts val="0"/>
              </a:spcAft>
              <a:buFont typeface="Verdana"/>
              <a:buChar char="›"/>
              <a:defRPr/>
            </a:pPr>
            <a:r>
              <a:rPr lang="en-US" sz="2400" dirty="0"/>
              <a:t>Each requirement and constraint is ranked</a:t>
            </a:r>
          </a:p>
          <a:p>
            <a:pPr marL="1106424" lvl="2" fontAlgn="auto">
              <a:lnSpc>
                <a:spcPct val="90000"/>
              </a:lnSpc>
              <a:spcAft>
                <a:spcPts val="0"/>
              </a:spcAft>
              <a:buFont typeface="Wingdings 2"/>
              <a:buChar char=""/>
              <a:defRPr/>
            </a:pPr>
            <a:r>
              <a:rPr lang="en-US" sz="1800" dirty="0"/>
              <a:t>1 indicates that the alternative does not match the request well or that it violates the constraint</a:t>
            </a:r>
          </a:p>
          <a:p>
            <a:pPr marL="1106424" lvl="2" fontAlgn="auto">
              <a:lnSpc>
                <a:spcPct val="90000"/>
              </a:lnSpc>
              <a:spcAft>
                <a:spcPts val="0"/>
              </a:spcAft>
              <a:buFont typeface="Wingdings 2"/>
              <a:buChar char=""/>
              <a:defRPr/>
            </a:pPr>
            <a:r>
              <a:rPr lang="en-US" sz="1800" dirty="0"/>
              <a:t>5 indicates that the alternative meets or exceeds requirements or clearly abides by the constraint</a:t>
            </a:r>
          </a:p>
        </p:txBody>
      </p:sp>
      <p:sp>
        <p:nvSpPr>
          <p:cNvPr id="278530" name="Rectangle 2"/>
          <p:cNvSpPr>
            <a:spLocks noGrp="1" noChangeArrowheads="1"/>
          </p:cNvSpPr>
          <p:nvPr>
            <p:ph type="title"/>
          </p:nvPr>
        </p:nvSpPr>
        <p:spPr>
          <a:xfrm>
            <a:off x="609600" y="304800"/>
            <a:ext cx="7772400" cy="990600"/>
          </a:xfrm>
        </p:spPr>
        <p:txBody>
          <a:bodyPr>
            <a:normAutofit fontScale="90000"/>
          </a:bodyPr>
          <a:lstStyle/>
          <a:p>
            <a:pPr marL="484632" fontAlgn="auto">
              <a:spcAft>
                <a:spcPts val="0"/>
              </a:spcAft>
              <a:defRPr/>
            </a:pPr>
            <a:r>
              <a:rPr lang="en-US" sz="4000" dirty="0">
                <a:solidFill>
                  <a:schemeClr val="accent1">
                    <a:tint val="83000"/>
                    <a:satMod val="150000"/>
                  </a:schemeClr>
                </a:solidFill>
              </a:rPr>
              <a:t>Hoosier Burger’s New Inventory Control System (continued)</a:t>
            </a:r>
          </a:p>
        </p:txBody>
      </p:sp>
      <p:sp>
        <p:nvSpPr>
          <p:cNvPr id="542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853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663C20DB-2E2F-4F99-88C2-A0A3A226D2C6}" type="slidenum">
              <a:rPr lang="en-US" sz="1600">
                <a:solidFill>
                  <a:schemeClr val="tx1"/>
                </a:solidFill>
                <a:cs typeface="+mn-cs"/>
              </a:rPr>
              <a:pPr algn="ctr" eaLnBrk="0" hangingPunct="0">
                <a:defRPr/>
              </a:pPr>
              <a:t>36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7955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E3742EEF-2D8D-482D-878C-B4D05956182B}" type="slidenum">
              <a:rPr lang="en-US" sz="1600">
                <a:solidFill>
                  <a:schemeClr val="tx1"/>
                </a:solidFill>
                <a:cs typeface="+mn-cs"/>
              </a:rPr>
              <a:pPr algn="ctr" eaLnBrk="0" hangingPunct="0">
                <a:defRPr/>
              </a:pPr>
              <a:t>37</a:t>
            </a:fld>
            <a:endParaRPr lang="en-US" sz="1600">
              <a:solidFill>
                <a:schemeClr val="tx1"/>
              </a:solidFill>
              <a:cs typeface="+mn-cs"/>
            </a:endParaRPr>
          </a:p>
        </p:txBody>
      </p:sp>
      <p:pic>
        <p:nvPicPr>
          <p:cNvPr id="279557" name="Picture 5"/>
          <p:cNvPicPr>
            <a:picLocks noChangeAspect="1" noChangeArrowheads="1"/>
          </p:cNvPicPr>
          <p:nvPr/>
        </p:nvPicPr>
        <p:blipFill>
          <a:blip r:embed="rId2"/>
          <a:srcRect/>
          <a:stretch>
            <a:fillRect/>
          </a:stretch>
        </p:blipFill>
        <p:spPr bwMode="auto">
          <a:xfrm>
            <a:off x="228600" y="1828800"/>
            <a:ext cx="8639175" cy="354647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Hoosier Burger’s New Inventory Control System (continued)</a:t>
            </a:r>
          </a:p>
        </p:txBody>
      </p:sp>
      <p:sp>
        <p:nvSpPr>
          <p:cNvPr id="563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Selecting the Most Likely Alternative</a:t>
            </a:r>
          </a:p>
          <a:p>
            <a:pPr lvl="1"/>
            <a:r>
              <a:rPr lang="en-US" smtClean="0"/>
              <a:t>According to the weights used, alternative C appears to be the best choice</a:t>
            </a:r>
          </a:p>
        </p:txBody>
      </p:sp>
      <p:sp>
        <p:nvSpPr>
          <p:cNvPr id="563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8058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1CDD1CFC-99BD-448D-9731-A0F31527201B}" type="slidenum">
              <a:rPr lang="en-US" sz="1600">
                <a:solidFill>
                  <a:schemeClr val="tx1"/>
                </a:solidFill>
                <a:cs typeface="+mn-cs"/>
              </a:rPr>
              <a:pPr algn="ctr" eaLnBrk="0" hangingPunct="0">
                <a:defRPr/>
              </a:pPr>
              <a:t>38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a:t>
            </a:r>
          </a:p>
        </p:txBody>
      </p:sp>
      <p:sp>
        <p:nvSpPr>
          <p:cNvPr id="5734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Process of Conceptual Data Modeling</a:t>
            </a:r>
          </a:p>
          <a:p>
            <a:pPr lvl="1">
              <a:lnSpc>
                <a:spcPct val="90000"/>
              </a:lnSpc>
            </a:pPr>
            <a:r>
              <a:rPr lang="en-US" sz="2400" smtClean="0"/>
              <a:t>Deliverables</a:t>
            </a:r>
          </a:p>
          <a:p>
            <a:pPr lvl="1">
              <a:lnSpc>
                <a:spcPct val="90000"/>
              </a:lnSpc>
            </a:pPr>
            <a:r>
              <a:rPr lang="en-US" sz="2400" smtClean="0"/>
              <a:t>Gathering information</a:t>
            </a:r>
          </a:p>
          <a:p>
            <a:pPr>
              <a:lnSpc>
                <a:spcPct val="90000"/>
              </a:lnSpc>
            </a:pPr>
            <a:r>
              <a:rPr lang="en-US" sz="2800" smtClean="0"/>
              <a:t>Entity-Relationship Modeling</a:t>
            </a:r>
          </a:p>
          <a:p>
            <a:pPr lvl="1">
              <a:lnSpc>
                <a:spcPct val="90000"/>
              </a:lnSpc>
            </a:pPr>
            <a:r>
              <a:rPr lang="en-US" sz="2400" smtClean="0"/>
              <a:t>Entities</a:t>
            </a:r>
          </a:p>
          <a:p>
            <a:pPr lvl="1">
              <a:lnSpc>
                <a:spcPct val="90000"/>
              </a:lnSpc>
            </a:pPr>
            <a:r>
              <a:rPr lang="en-US" sz="2400" smtClean="0"/>
              <a:t>Attributes</a:t>
            </a:r>
          </a:p>
          <a:p>
            <a:pPr lvl="1">
              <a:lnSpc>
                <a:spcPct val="90000"/>
              </a:lnSpc>
            </a:pPr>
            <a:r>
              <a:rPr lang="en-US" sz="2400" smtClean="0"/>
              <a:t>Candidate keys and identifiers</a:t>
            </a:r>
          </a:p>
          <a:p>
            <a:pPr lvl="1">
              <a:lnSpc>
                <a:spcPct val="90000"/>
              </a:lnSpc>
            </a:pPr>
            <a:r>
              <a:rPr lang="en-US" sz="2400" smtClean="0"/>
              <a:t>Multivalued attributes</a:t>
            </a:r>
          </a:p>
          <a:p>
            <a:pPr>
              <a:lnSpc>
                <a:spcPct val="90000"/>
              </a:lnSpc>
            </a:pPr>
            <a:r>
              <a:rPr lang="en-US" sz="2800" smtClean="0"/>
              <a:t>Degree of Relationship</a:t>
            </a:r>
          </a:p>
        </p:txBody>
      </p:sp>
      <p:sp>
        <p:nvSpPr>
          <p:cNvPr id="573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24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352A1B16-54E8-45EC-BB31-A4B77396ED89}" type="slidenum">
              <a:rPr lang="en-US" sz="1600">
                <a:solidFill>
                  <a:schemeClr val="tx1"/>
                </a:solidFill>
                <a:cs typeface="+mn-cs"/>
              </a:rPr>
              <a:pPr algn="ctr" eaLnBrk="0" hangingPunct="0">
                <a:defRPr/>
              </a:pPr>
              <a:t>39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 (continued)</a:t>
            </a:r>
          </a:p>
        </p:txBody>
      </p:sp>
      <p:sp>
        <p:nvSpPr>
          <p:cNvPr id="583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Cardinality</a:t>
            </a:r>
          </a:p>
          <a:p>
            <a:r>
              <a:rPr lang="en-US" smtClean="0"/>
              <a:t>Associative Entities</a:t>
            </a:r>
          </a:p>
          <a:p>
            <a:r>
              <a:rPr lang="en-US" smtClean="0"/>
              <a:t>Conceptual Data Modeling and Internet Development</a:t>
            </a:r>
          </a:p>
          <a:p>
            <a:r>
              <a:rPr lang="en-US" smtClean="0"/>
              <a:t>Generating Alternative Design Strategies</a:t>
            </a:r>
          </a:p>
          <a:p>
            <a:endParaRPr lang="en-US" smtClean="0"/>
          </a:p>
          <a:p>
            <a:endParaRPr lang="en-US" smtClean="0"/>
          </a:p>
        </p:txBody>
      </p:sp>
      <p:sp>
        <p:nvSpPr>
          <p:cNvPr id="583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2334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7.</a:t>
            </a:r>
            <a:fld id="{A4CD86BD-7C86-4E45-9A97-CC549C9AE62D}" type="slidenum">
              <a:rPr lang="en-US" sz="1600">
                <a:solidFill>
                  <a:schemeClr val="tx1"/>
                </a:solidFill>
                <a:cs typeface="+mn-cs"/>
              </a:rPr>
              <a:pPr algn="ctr" eaLnBrk="0" hangingPunct="0">
                <a:defRPr/>
              </a:pPr>
              <a:t>40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68611"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68612"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1881</TotalTime>
  <Words>1962</Words>
  <Application>Microsoft Office PowerPoint</Application>
  <PresentationFormat>On-screen Show (4:3)</PresentationFormat>
  <Paragraphs>288</Paragraphs>
  <Slides>41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 </vt:lpstr>
      <vt:lpstr>Learning Objectives</vt:lpstr>
      <vt:lpstr>Learning Objectives (continued)</vt:lpstr>
      <vt:lpstr>Conceptual Data Modeling</vt:lpstr>
      <vt:lpstr>The Process of Conceptual Data Modeling</vt:lpstr>
      <vt:lpstr>Deliverables and Outcome</vt:lpstr>
      <vt:lpstr>PowerPoint Presentation</vt:lpstr>
      <vt:lpstr>PowerPoint Presentation</vt:lpstr>
      <vt:lpstr>Deliverables and Outcome (continued)</vt:lpstr>
      <vt:lpstr>Gathering Information for Conceptual Data Modeling</vt:lpstr>
      <vt:lpstr>Introduction to Entity-Relationship Modeling</vt:lpstr>
      <vt:lpstr>Entity-Relationship (E-R) Modeling Key Terms</vt:lpstr>
      <vt:lpstr>Entity-Relationship (E-R) Modeling (continued) Key Terms</vt:lpstr>
      <vt:lpstr>PowerPoint Presentation</vt:lpstr>
      <vt:lpstr>Entity-Relationship (E-R) Modeling (continued) Key Terms</vt:lpstr>
      <vt:lpstr>Entity-Relationship (E-R) Modeling(continued) Key Terms</vt:lpstr>
      <vt:lpstr>Entity-Relationship (E-R) Modeling (continued) Key Terms</vt:lpstr>
      <vt:lpstr>Conceptual Data Modeling and the E-R Diagram</vt:lpstr>
      <vt:lpstr>Degree of Relationship</vt:lpstr>
      <vt:lpstr>PowerPoint Presentation</vt:lpstr>
      <vt:lpstr>Cardinality</vt:lpstr>
      <vt:lpstr>Associative Entity</vt:lpstr>
      <vt:lpstr>PowerPoint Presentation</vt:lpstr>
      <vt:lpstr>PVF WebStore:  Conceptual Data Modeling</vt:lpstr>
      <vt:lpstr>PowerPoint Presentation</vt:lpstr>
      <vt:lpstr>Selecting the Best Alternative Design Strategy</vt:lpstr>
      <vt:lpstr>Selecting the Best Alternative Design Strategy(continued)</vt:lpstr>
      <vt:lpstr>Generating Alternative Design Strategies</vt:lpstr>
      <vt:lpstr>Drawing Bounds on Alternative Designs</vt:lpstr>
      <vt:lpstr>Drawing Bounds on Alternative Designs (continued)</vt:lpstr>
      <vt:lpstr>Hoosier Burger’s New Inventory Control System</vt:lpstr>
      <vt:lpstr>PowerPoint Presentation</vt:lpstr>
      <vt:lpstr>Hoosier Burger’s New Inventory Control System (continued)</vt:lpstr>
      <vt:lpstr>PowerPoint Presentation</vt:lpstr>
      <vt:lpstr>Hoosier Burger’s New Inventory Control System (continued)</vt:lpstr>
      <vt:lpstr>Hoosier Burger’s New Inventory Control System (continued)</vt:lpstr>
      <vt:lpstr>PowerPoint Presentation</vt:lpstr>
      <vt:lpstr>Hoosier Burger’s New Inventory Control System (continued)</vt:lpstr>
      <vt:lpstr>Summary</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John Russo</dc:creator>
  <cp:lastModifiedBy>Kim Norbuta</cp:lastModifiedBy>
  <cp:revision>83</cp:revision>
  <cp:lastPrinted>1601-01-01T00:00:00Z</cp:lastPrinted>
  <dcterms:created xsi:type="dcterms:W3CDTF">2011-07-26T15:56:58Z</dcterms:created>
  <dcterms:modified xsi:type="dcterms:W3CDTF">2014-10-24T14:28:16Z</dcterms:modified>
</cp:coreProperties>
</file>