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327" r:id="rId2"/>
    <p:sldId id="257" r:id="rId3"/>
    <p:sldId id="258" r:id="rId4"/>
    <p:sldId id="305" r:id="rId5"/>
    <p:sldId id="259" r:id="rId6"/>
    <p:sldId id="260" r:id="rId7"/>
    <p:sldId id="261" r:id="rId8"/>
    <p:sldId id="262" r:id="rId9"/>
    <p:sldId id="264" r:id="rId10"/>
    <p:sldId id="287" r:id="rId11"/>
    <p:sldId id="317" r:id="rId12"/>
    <p:sldId id="318" r:id="rId13"/>
    <p:sldId id="265" r:id="rId14"/>
    <p:sldId id="266" r:id="rId15"/>
    <p:sldId id="298" r:id="rId16"/>
    <p:sldId id="267" r:id="rId17"/>
    <p:sldId id="319" r:id="rId18"/>
    <p:sldId id="320" r:id="rId19"/>
    <p:sldId id="270" r:id="rId20"/>
    <p:sldId id="300" r:id="rId21"/>
    <p:sldId id="274" r:id="rId22"/>
    <p:sldId id="276" r:id="rId23"/>
    <p:sldId id="277" r:id="rId24"/>
    <p:sldId id="306" r:id="rId25"/>
    <p:sldId id="303" r:id="rId26"/>
    <p:sldId id="321" r:id="rId27"/>
    <p:sldId id="322" r:id="rId28"/>
    <p:sldId id="304" r:id="rId29"/>
    <p:sldId id="307" r:id="rId30"/>
    <p:sldId id="308" r:id="rId31"/>
    <p:sldId id="323" r:id="rId32"/>
    <p:sldId id="309" r:id="rId33"/>
    <p:sldId id="312" r:id="rId34"/>
    <p:sldId id="324" r:id="rId35"/>
    <p:sldId id="311" r:id="rId36"/>
    <p:sldId id="325" r:id="rId37"/>
    <p:sldId id="310" r:id="rId38"/>
    <p:sldId id="313" r:id="rId39"/>
    <p:sldId id="314" r:id="rId40"/>
    <p:sldId id="295" r:id="rId41"/>
    <p:sldId id="315" r:id="rId42"/>
    <p:sldId id="328" r:id="rId43"/>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94636"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D2CDBF4E-194A-4D95-9923-D0342F1F8611}" type="slidenum">
              <a:rPr lang="en-US"/>
              <a:pPr>
                <a:defRPr/>
              </a:pPr>
              <a:t>‹#›</a:t>
            </a:fld>
            <a:endParaRPr lang="en-US"/>
          </a:p>
        </p:txBody>
      </p:sp>
    </p:spTree>
    <p:extLst>
      <p:ext uri="{BB962C8B-B14F-4D97-AF65-F5344CB8AC3E}">
        <p14:creationId xmlns:p14="http://schemas.microsoft.com/office/powerpoint/2010/main" val="6275190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A2E6328B-F16A-40C3-AC0C-86B6FF254E9C}" type="slidenum">
              <a:rPr lang="en-US"/>
              <a:pPr>
                <a:defRPr/>
              </a:pPr>
              <a:t>‹#›</a:t>
            </a:fld>
            <a:endParaRPr lang="en-US"/>
          </a:p>
        </p:txBody>
      </p:sp>
    </p:spTree>
    <p:extLst>
      <p:ext uri="{BB962C8B-B14F-4D97-AF65-F5344CB8AC3E}">
        <p14:creationId xmlns:p14="http://schemas.microsoft.com/office/powerpoint/2010/main" val="13666448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a:ln>
            <a:miter lim="800000"/>
            <a:headEnd/>
            <a:tailEnd/>
          </a:ln>
        </p:spPr>
        <p:txBody>
          <a:bodyPr/>
          <a:lstStyle/>
          <a:p>
            <a:fld id="{D4548911-29CD-4229-9AAC-EA0D030DB00D}" type="slidenum">
              <a:rPr lang="en-US" smtClean="0">
                <a:cs typeface="Arial" charset="0"/>
              </a:rPr>
              <a:pPr/>
              <a:t>1</a:t>
            </a:fld>
            <a:endParaRPr lang="en-US" smtClean="0">
              <a:cs typeface="Arial" charset="0"/>
            </a:endParaRPr>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927550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52525" y="692150"/>
            <a:ext cx="4554538" cy="3416300"/>
          </a:xfrm>
          <a:ln/>
        </p:spPr>
      </p:sp>
      <p:sp>
        <p:nvSpPr>
          <p:cNvPr id="68611"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228730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a:t>Copyright © </a:t>
            </a:r>
            <a:r>
              <a:rPr lang="en-US" dirty="0" smtClean="0"/>
              <a:t>2015 </a:t>
            </a:r>
            <a:r>
              <a:rPr lang="en-US" dirty="0"/>
              <a:t>Pearson Education, Inc. Publishing as Prentice Hall</a:t>
            </a:r>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68A7548C-3E5C-4615-BC67-AB2EB688A550}"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391F2D0D-5938-4EDF-8E15-BBA9DD1B4853}"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38345AF0-5F36-49A7-8A31-386E0BC6D0B2}"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2DF473ED-0653-41AF-B3E4-77E2B363FF5C}"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14EB5FE5-4473-41BC-ACB3-552AB173764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757805CF-9D20-46F1-AFA1-9B88F039FC3A}"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A6095EC5-2381-4B10-963E-960702D9B0B0}"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DF0B2961-E63D-4298-987C-81FBFED8323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482DF7AF-13D6-40F6-BC28-CD3E9738AC77}"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2691D0DC-7E00-4BAF-AB71-D76B64E9846F}"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5EC7B331-9198-4479-BA33-AEA651C2940A}" type="slidenum">
              <a:rPr lang="en-US"/>
              <a:pPr>
                <a:defRPr/>
              </a:pPr>
              <a:t>‹#›</a:t>
            </a:fld>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bl">
  <p:cSld name="Title and Tabl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609600" y="3048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0" y="1905000"/>
            <a:ext cx="7772400" cy="4114800"/>
          </a:xfrm>
        </p:spPr>
        <p:txBody>
          <a:bodyPr>
            <a:normAutofit/>
          </a:bodyPr>
          <a:lstStyle/>
          <a:p>
            <a:pPr lvl="0"/>
            <a:endParaRPr lang="en-US" noProof="0"/>
          </a:p>
        </p:txBody>
      </p:sp>
      <p:sp>
        <p:nvSpPr>
          <p:cNvPr id="8" name="Date Placeholder 3"/>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057400" y="6324600"/>
            <a:ext cx="5105400" cy="304800"/>
          </a:xfrm>
        </p:spPr>
        <p:txBody>
          <a:bodyPr/>
          <a:lstStyle>
            <a:lvl1pPr>
              <a:defRPr smtClean="0"/>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6553200" y="6248400"/>
            <a:ext cx="1905000" cy="457200"/>
          </a:xfrm>
        </p:spPr>
        <p:txBody>
          <a:bodyPr/>
          <a:lstStyle>
            <a:lvl1pPr>
              <a:defRPr/>
            </a:lvl1pPr>
          </a:lstStyle>
          <a:p>
            <a:pPr>
              <a:defRPr/>
            </a:pPr>
            <a:fld id="{7609650D-3224-4C5E-B997-FD0DDFCE9E01}"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B3131B73-8532-497E-A725-7331CCA2A1AF}" type="slidenum">
              <a:rPr lang="en-US"/>
              <a:pPr>
                <a:defRPr/>
              </a:pPr>
              <a:t>‹#›</a:t>
            </a:fld>
            <a:endParaRPr lang="en-US"/>
          </a:p>
        </p:txBody>
      </p:sp>
      <p:sp>
        <p:nvSpPr>
          <p:cNvPr id="10"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7" r:id="rId6"/>
    <p:sldLayoutId id="2147483658" r:id="rId7"/>
    <p:sldLayoutId id="2147483666" r:id="rId8"/>
    <p:sldLayoutId id="2147483667" r:id="rId9"/>
    <p:sldLayoutId id="2147483659" r:id="rId10"/>
    <p:sldLayoutId id="2147483660" r:id="rId11"/>
    <p:sldLayoutId id="2147483668" r:id="rId12"/>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ctrTitle"/>
          </p:nvPr>
        </p:nvSpPr>
        <p:spPr>
          <a:xfrm>
            <a:off x="914400" y="1143000"/>
            <a:ext cx="7772400" cy="19812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a:t>
            </a:r>
          </a:p>
        </p:txBody>
      </p:sp>
      <p:sp>
        <p:nvSpPr>
          <p:cNvPr id="279555"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fontAlgn="auto">
              <a:spcAft>
                <a:spcPts val="0"/>
              </a:spcAft>
              <a:buFont typeface="Wingdings 2"/>
              <a:buNone/>
              <a:defRPr/>
            </a:pPr>
            <a:r>
              <a:rPr lang="en-US" sz="3600" b="1"/>
              <a:t>Chapter 8</a:t>
            </a:r>
          </a:p>
          <a:p>
            <a:pPr algn="ctr" fontAlgn="auto">
              <a:spcAft>
                <a:spcPts val="0"/>
              </a:spcAft>
              <a:buFont typeface="Wingdings 2"/>
              <a:buNone/>
              <a:defRPr/>
            </a:pPr>
            <a:r>
              <a:rPr lang="en-US" b="1"/>
              <a:t>Designing the Human Interface</a:t>
            </a:r>
          </a:p>
        </p:txBody>
      </p:sp>
      <p:sp>
        <p:nvSpPr>
          <p:cNvPr id="16387"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95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8.1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609600" y="304800"/>
            <a:ext cx="7772400" cy="1066800"/>
          </a:xfrm>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1027"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448056" indent="-384048" fontAlgn="auto">
              <a:spcAft>
                <a:spcPts val="0"/>
              </a:spcAft>
              <a:buClr>
                <a:srgbClr val="BA2212"/>
              </a:buClr>
              <a:buFont typeface="Wingdings" pitchFamily="2" charset="2"/>
              <a:buChar char="ü"/>
              <a:defRPr/>
            </a:pPr>
            <a:r>
              <a:rPr lang="en-US" sz="2800"/>
              <a:t>Explain the process of designing forms and reports and the deliverables for their creation</a:t>
            </a:r>
          </a:p>
          <a:p>
            <a:pPr marL="448056" indent="-384048" fontAlgn="auto">
              <a:spcAft>
                <a:spcPts val="0"/>
              </a:spcAft>
              <a:buClr>
                <a:srgbClr val="BA2212"/>
              </a:buClr>
              <a:buFont typeface="Wingdings" pitchFamily="2" charset="2"/>
              <a:buChar char="ü"/>
              <a:defRPr/>
            </a:pPr>
            <a:r>
              <a:rPr lang="en-US" sz="2800"/>
              <a:t>Apply the general guidelines for formatting forms and reports</a:t>
            </a:r>
          </a:p>
          <a:p>
            <a:pPr marL="448056" indent="-384048" fontAlgn="auto">
              <a:spcAft>
                <a:spcPts val="0"/>
              </a:spcAft>
              <a:buClr>
                <a:srgbClr val="BA2212"/>
              </a:buClr>
              <a:buFont typeface="Wingdings" pitchFamily="2" charset="2"/>
              <a:buChar char="ü"/>
              <a:defRPr/>
            </a:pPr>
            <a:r>
              <a:rPr lang="en-US" sz="2800"/>
              <a:t>Learn how to effectively format text, tables, and lists</a:t>
            </a:r>
          </a:p>
          <a:p>
            <a:pPr marL="448056" indent="-384048" fontAlgn="auto">
              <a:spcAft>
                <a:spcPts val="0"/>
              </a:spcAft>
              <a:buClr>
                <a:srgbClr val="BA2212"/>
              </a:buClr>
              <a:buFont typeface="Wingdings" pitchFamily="2" charset="2"/>
              <a:buChar char="ü"/>
              <a:defRPr/>
            </a:pPr>
            <a:r>
              <a:rPr lang="en-US" sz="2800"/>
              <a:t>Explain the process of designing interfaces and dialogues and the deliverables for their creation</a:t>
            </a:r>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Learning Objectives (continued)</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buClr>
                <a:srgbClr val="BA2212"/>
              </a:buClr>
              <a:buFont typeface="Wingdings" pitchFamily="2" charset="2"/>
              <a:buChar char="ü"/>
            </a:pPr>
            <a:r>
              <a:rPr lang="en-US" smtClean="0"/>
              <a:t>Discuss the general guidelines for interface design including:</a:t>
            </a:r>
          </a:p>
          <a:p>
            <a:pPr lvl="1">
              <a:buClr>
                <a:srgbClr val="BA2212"/>
              </a:buClr>
              <a:buFont typeface="Wingdings" pitchFamily="2" charset="2"/>
              <a:buChar char="ü"/>
            </a:pPr>
            <a:r>
              <a:rPr lang="en-US" smtClean="0"/>
              <a:t>Layout and design</a:t>
            </a:r>
          </a:p>
          <a:p>
            <a:pPr lvl="1">
              <a:buClr>
                <a:srgbClr val="BA2212"/>
              </a:buClr>
              <a:buFont typeface="Wingdings" pitchFamily="2" charset="2"/>
              <a:buChar char="ü"/>
            </a:pPr>
            <a:r>
              <a:rPr lang="en-US" smtClean="0"/>
              <a:t>Structuring data-entry fields</a:t>
            </a:r>
          </a:p>
          <a:p>
            <a:pPr lvl="1">
              <a:buClr>
                <a:srgbClr val="BA2212"/>
              </a:buClr>
              <a:buFont typeface="Wingdings" pitchFamily="2" charset="2"/>
              <a:buChar char="ü"/>
            </a:pPr>
            <a:r>
              <a:rPr lang="en-US" smtClean="0"/>
              <a:t>Providing feedback</a:t>
            </a:r>
          </a:p>
          <a:p>
            <a:pPr lvl="1">
              <a:buClr>
                <a:srgbClr val="BA2212"/>
              </a:buClr>
              <a:buFont typeface="Wingdings" pitchFamily="2" charset="2"/>
              <a:buChar char="ü"/>
            </a:pPr>
            <a:r>
              <a:rPr lang="en-US" smtClean="0"/>
              <a:t>System help</a:t>
            </a:r>
          </a:p>
          <a:p>
            <a:pPr>
              <a:buClr>
                <a:srgbClr val="BA2212"/>
              </a:buClr>
              <a:buFont typeface="Wingdings" pitchFamily="2" charset="2"/>
              <a:buNone/>
            </a:pPr>
            <a:endParaRPr lang="en-US" smtClean="0"/>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DE4BF001-939F-4C31-9DC8-F5289DBDADF3}"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Learning Objectives (continued)</a:t>
            </a:r>
          </a:p>
        </p:txBody>
      </p:sp>
      <p:sp>
        <p:nvSpPr>
          <p:cNvPr id="204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buClr>
                <a:srgbClr val="BA2212"/>
              </a:buClr>
              <a:buFont typeface="Wingdings" pitchFamily="2" charset="2"/>
              <a:buChar char="ü"/>
            </a:pPr>
            <a:r>
              <a:rPr lang="en-US" smtClean="0"/>
              <a:t>Discuss the design of human-computer dialogues and the use of dialogue diagramming</a:t>
            </a:r>
          </a:p>
          <a:p>
            <a:pPr>
              <a:buClr>
                <a:srgbClr val="BA2212"/>
              </a:buClr>
              <a:buFont typeface="Wingdings" pitchFamily="2" charset="2"/>
              <a:buChar char="ü"/>
            </a:pPr>
            <a:r>
              <a:rPr lang="en-US" smtClean="0"/>
              <a:t>Explain interface design guidelines unique to the design of Internet-based electronic commerce systems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088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A8CED4CE-CF53-42F4-87A6-DF7921CB9482}"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Designing Forms and Reports </a:t>
            </a:r>
          </a:p>
        </p:txBody>
      </p:sp>
      <p:sp>
        <p:nvSpPr>
          <p:cNvPr id="21506"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marL="533400" indent="-533400"/>
            <a:endParaRPr lang="en-US" sz="2800" smtClean="0"/>
          </a:p>
          <a:p>
            <a:pPr marL="533400" indent="-533400"/>
            <a:r>
              <a:rPr lang="en-US" sz="2800" smtClean="0"/>
              <a:t>System inputs and outputs are produced at the end of the analysis phase</a:t>
            </a:r>
          </a:p>
          <a:p>
            <a:pPr marL="914400" lvl="1" indent="-457200"/>
            <a:r>
              <a:rPr lang="en-US" sz="2400" smtClean="0"/>
              <a:t>Precise appearance is not necessarily defined during analysis phase</a:t>
            </a:r>
          </a:p>
          <a:p>
            <a:pPr marL="533400" indent="-533400"/>
            <a:r>
              <a:rPr lang="en-US" sz="2800" smtClean="0"/>
              <a:t>Forms and reports are integrally related to DFD and E-R diagrams</a:t>
            </a:r>
          </a:p>
          <a:p>
            <a:pPr marL="533400" indent="-533400">
              <a:buFont typeface="Wingdings" pitchFamily="2" charset="2"/>
              <a:buNone/>
            </a:pPr>
            <a:endParaRPr lang="en-US" sz="2800" smtClean="0"/>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A088B21E-BC8C-4C29-B3B7-B241E77C42E9}"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Designing Forms and Reports</a:t>
            </a:r>
            <a:br>
              <a:rPr lang="en-US">
                <a:solidFill>
                  <a:schemeClr val="accent1">
                    <a:tint val="83000"/>
                    <a:satMod val="150000"/>
                  </a:schemeClr>
                </a:solidFill>
              </a:rPr>
            </a:br>
            <a:r>
              <a:rPr lang="en-US">
                <a:solidFill>
                  <a:schemeClr val="accent1">
                    <a:tint val="83000"/>
                    <a:satMod val="150000"/>
                  </a:schemeClr>
                </a:solidFill>
              </a:rPr>
              <a:t>Key Concepts</a:t>
            </a:r>
          </a:p>
        </p:txBody>
      </p:sp>
      <p:sp>
        <p:nvSpPr>
          <p:cNvPr id="225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533400" indent="-533400"/>
            <a:r>
              <a:rPr lang="en-US" sz="2400" smtClean="0"/>
              <a:t>Form</a:t>
            </a:r>
          </a:p>
          <a:p>
            <a:pPr marL="914400" lvl="1" indent="-457200"/>
            <a:r>
              <a:rPr lang="en-US" sz="2000" smtClean="0"/>
              <a:t>A business document that contains some predefined data and may include some areas where additional data are to be filled in</a:t>
            </a:r>
          </a:p>
          <a:p>
            <a:pPr marL="914400" lvl="1" indent="-457200"/>
            <a:r>
              <a:rPr lang="en-US" sz="2000" smtClean="0"/>
              <a:t>An instance of a form is typically based on one database record</a:t>
            </a:r>
          </a:p>
          <a:p>
            <a:pPr marL="533400" indent="-533400"/>
            <a:r>
              <a:rPr lang="en-US" sz="2400" smtClean="0"/>
              <a:t>Report</a:t>
            </a:r>
          </a:p>
          <a:p>
            <a:pPr marL="914400" lvl="1" indent="-457200"/>
            <a:r>
              <a:rPr lang="en-US" sz="2000" smtClean="0"/>
              <a:t>A business document that contains only predefined data</a:t>
            </a:r>
          </a:p>
          <a:p>
            <a:pPr marL="914400" lvl="1" indent="-457200"/>
            <a:r>
              <a:rPr lang="en-US" sz="2000" smtClean="0"/>
              <a:t>A passive document for reading or viewing data</a:t>
            </a:r>
          </a:p>
          <a:p>
            <a:pPr marL="914400" lvl="1" indent="-457200"/>
            <a:r>
              <a:rPr lang="en-US" sz="2000" smtClean="0"/>
              <a:t>Typically contains data from many database records or transactions</a:t>
            </a:r>
          </a:p>
        </p:txBody>
      </p:sp>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A2DE346C-BC3C-48EE-94D1-5343CE8857BB}"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685800" y="533400"/>
            <a:ext cx="7772400" cy="838200"/>
          </a:xfrm>
        </p:spPr>
        <p:txBody>
          <a:bodyPr>
            <a:normAutofit fontScale="90000"/>
          </a:bodyPr>
          <a:lstStyle/>
          <a:p>
            <a:pPr marL="484632" fontAlgn="auto">
              <a:spcAft>
                <a:spcPts val="0"/>
              </a:spcAft>
              <a:defRPr/>
            </a:pPr>
            <a:r>
              <a:rPr lang="en-US">
                <a:solidFill>
                  <a:schemeClr val="accent1">
                    <a:tint val="83000"/>
                    <a:satMod val="150000"/>
                  </a:schemeClr>
                </a:solidFill>
              </a:rPr>
              <a:t>The Process of Designing Forms and Reports</a:t>
            </a:r>
          </a:p>
        </p:txBody>
      </p:sp>
      <p:sp>
        <p:nvSpPr>
          <p:cNvPr id="23554"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r>
              <a:rPr lang="en-US" sz="2800" smtClean="0"/>
              <a:t>User Focused Activity</a:t>
            </a:r>
          </a:p>
          <a:p>
            <a:r>
              <a:rPr lang="en-US" sz="2800" smtClean="0"/>
              <a:t>Follows a Prototyping Approach</a:t>
            </a:r>
          </a:p>
          <a:p>
            <a:r>
              <a:rPr lang="en-US" sz="2800" smtClean="0"/>
              <a:t>Requirements Determination:</a:t>
            </a:r>
          </a:p>
          <a:p>
            <a:pPr lvl="1"/>
            <a:r>
              <a:rPr lang="en-US" sz="2400" smtClean="0"/>
              <a:t>Who will use the form or report?</a:t>
            </a:r>
          </a:p>
          <a:p>
            <a:pPr lvl="1"/>
            <a:r>
              <a:rPr lang="en-US" sz="2400" smtClean="0"/>
              <a:t>What is the purpose of the form or report?</a:t>
            </a:r>
          </a:p>
          <a:p>
            <a:pPr lvl="1"/>
            <a:r>
              <a:rPr lang="en-US" sz="2400" smtClean="0"/>
              <a:t>When is the report needed or used?</a:t>
            </a:r>
          </a:p>
          <a:p>
            <a:pPr lvl="1"/>
            <a:r>
              <a:rPr lang="en-US" sz="2400" smtClean="0"/>
              <a:t>Where does the form or report need to be delivered and used?</a:t>
            </a:r>
          </a:p>
          <a:p>
            <a:pPr lvl="1"/>
            <a:r>
              <a:rPr lang="en-US" sz="2400" smtClean="0"/>
              <a:t>How many people need to use or view the form or report?</a:t>
            </a:r>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14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A6E320BF-09CC-455D-8B24-CDDDAA6B9C87}"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The Process of Designing Forms and Reports (continued)</a:t>
            </a:r>
          </a:p>
        </p:txBody>
      </p:sp>
      <p:sp>
        <p:nvSpPr>
          <p:cNvPr id="24578"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r>
              <a:rPr lang="en-US" smtClean="0"/>
              <a:t>Prototyping</a:t>
            </a:r>
          </a:p>
          <a:p>
            <a:pPr lvl="1"/>
            <a:r>
              <a:rPr lang="en-US" smtClean="0"/>
              <a:t>Initial prototype is designed from requirements</a:t>
            </a:r>
          </a:p>
          <a:p>
            <a:pPr lvl="1"/>
            <a:r>
              <a:rPr lang="en-US" smtClean="0"/>
              <a:t>Users review prototype design and either accept the design or request changes</a:t>
            </a:r>
          </a:p>
          <a:p>
            <a:pPr lvl="1"/>
            <a:r>
              <a:rPr lang="en-US" smtClean="0"/>
              <a:t>If changes are requested, the construction-evaluation-request cycle is repeated until the design is accepted</a:t>
            </a:r>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25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BCC4C1EB-C06D-4121-B2A6-7B94E74BD1CC}"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Deliverables and Outcome</a:t>
            </a:r>
          </a:p>
        </p:txBody>
      </p:sp>
      <p:sp>
        <p:nvSpPr>
          <p:cNvPr id="2560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r>
              <a:rPr lang="en-US" smtClean="0"/>
              <a:t>Design specifications are major deliverables and contain three sections</a:t>
            </a:r>
          </a:p>
          <a:p>
            <a:pPr marL="990600" lvl="1" indent="-533400">
              <a:buSzTx/>
              <a:buFont typeface="Wingdings" pitchFamily="2" charset="2"/>
              <a:buAutoNum type="arabicPeriod"/>
            </a:pPr>
            <a:r>
              <a:rPr lang="en-US" smtClean="0"/>
              <a:t>Narrative overview</a:t>
            </a:r>
          </a:p>
          <a:p>
            <a:pPr marL="990600" lvl="1" indent="-533400">
              <a:buSzTx/>
              <a:buFont typeface="Wingdings" pitchFamily="2" charset="2"/>
              <a:buAutoNum type="arabicPeriod"/>
            </a:pPr>
            <a:r>
              <a:rPr lang="en-US" smtClean="0"/>
              <a:t>Sample design</a:t>
            </a:r>
          </a:p>
          <a:p>
            <a:pPr marL="990600" lvl="1" indent="-533400">
              <a:buSzTx/>
              <a:buFont typeface="Wingdings" pitchFamily="2" charset="2"/>
              <a:buAutoNum type="arabicPeriod"/>
            </a:pPr>
            <a:r>
              <a:rPr lang="en-US" smtClean="0"/>
              <a:t>Testing and usability assessment</a:t>
            </a:r>
          </a:p>
          <a:p>
            <a:pPr marL="990600" lvl="1" indent="-533400">
              <a:buFont typeface="Wingdings" pitchFamily="2" charset="2"/>
              <a:buNone/>
            </a:pPr>
            <a:endParaRPr lang="en-US" smtClean="0"/>
          </a:p>
        </p:txBody>
      </p:sp>
      <p:sp>
        <p:nvSpPr>
          <p:cNvPr id="256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45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CA08FAD6-DF60-4D8E-86AB-46B2E0762A25}"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1026"/>
          <p:cNvSpPr>
            <a:spLocks noGrp="1" noChangeArrowheads="1"/>
          </p:cNvSpPr>
          <p:nvPr>
            <p:ph type="title"/>
          </p:nvPr>
        </p:nvSpPr>
        <p:spPr>
          <a:xfrm>
            <a:off x="609600" y="228600"/>
            <a:ext cx="7772400" cy="1219200"/>
          </a:xfrm>
        </p:spPr>
        <p:txBody>
          <a:bodyPr>
            <a:normAutofit fontScale="90000"/>
          </a:bodyPr>
          <a:lstStyle/>
          <a:p>
            <a:pPr marL="484632" fontAlgn="auto">
              <a:spcAft>
                <a:spcPts val="0"/>
              </a:spcAft>
              <a:defRPr/>
            </a:pPr>
            <a:r>
              <a:rPr lang="en-US" sz="4000">
                <a:solidFill>
                  <a:schemeClr val="accent1">
                    <a:tint val="83000"/>
                    <a:satMod val="150000"/>
                  </a:schemeClr>
                </a:solidFill>
              </a:rPr>
              <a:t>General Formatting Guidelines for Forms and Reports</a:t>
            </a:r>
          </a:p>
        </p:txBody>
      </p:sp>
      <p:sp>
        <p:nvSpPr>
          <p:cNvPr id="26626" name="Rectangle 102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Highlighting</a:t>
            </a:r>
          </a:p>
          <a:p>
            <a:pPr lvl="1">
              <a:lnSpc>
                <a:spcPct val="90000"/>
              </a:lnSpc>
            </a:pPr>
            <a:r>
              <a:rPr lang="en-US" smtClean="0"/>
              <a:t>Use sparingly to draw user to or away from certain information</a:t>
            </a:r>
          </a:p>
          <a:p>
            <a:pPr lvl="1">
              <a:lnSpc>
                <a:spcPct val="90000"/>
              </a:lnSpc>
            </a:pPr>
            <a:r>
              <a:rPr lang="en-US" smtClean="0"/>
              <a:t>Blinking and audible tones should only be used to highlight critical information requiring user’s immediate attention</a:t>
            </a:r>
          </a:p>
          <a:p>
            <a:pPr lvl="1">
              <a:lnSpc>
                <a:spcPct val="90000"/>
              </a:lnSpc>
            </a:pPr>
            <a:r>
              <a:rPr lang="en-US" smtClean="0"/>
              <a:t>Methods should be consistently selected and used based upon level of importance of emphasized information</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9140" name="Text Box 102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4ED6E4C8-81FB-4B18-B0EA-0B161E5887CC}"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829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02F5301E-FEF9-408B-82C4-656674CCFD9F}" type="slidenum">
              <a:rPr lang="en-US" sz="1600">
                <a:solidFill>
                  <a:schemeClr val="tx1"/>
                </a:solidFill>
                <a:cs typeface="+mn-cs"/>
              </a:rPr>
              <a:pPr algn="ctr" eaLnBrk="0" hangingPunct="0">
                <a:defRPr/>
              </a:pPr>
              <a:t>11</a:t>
            </a:fld>
            <a:endParaRPr lang="en-US" sz="1600">
              <a:solidFill>
                <a:schemeClr val="tx1"/>
              </a:solidFill>
              <a:cs typeface="+mn-cs"/>
            </a:endParaRPr>
          </a:p>
        </p:txBody>
      </p:sp>
      <p:pic>
        <p:nvPicPr>
          <p:cNvPr id="27651" name="Picture 3" descr="TBL08_03"/>
          <p:cNvPicPr>
            <a:picLocks noChangeAspect="1" noChangeArrowheads="1"/>
          </p:cNvPicPr>
          <p:nvPr/>
        </p:nvPicPr>
        <p:blipFill>
          <a:blip r:embed="rId2"/>
          <a:srcRect/>
          <a:stretch>
            <a:fillRect/>
          </a:stretch>
        </p:blipFill>
        <p:spPr bwMode="auto">
          <a:xfrm>
            <a:off x="762000" y="1247775"/>
            <a:ext cx="7620000" cy="436245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931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A89F519C-4EC6-431F-B158-C7CF2D007B9D}" type="slidenum">
              <a:rPr lang="en-US" sz="1600">
                <a:solidFill>
                  <a:schemeClr val="tx1"/>
                </a:solidFill>
                <a:cs typeface="+mn-cs"/>
              </a:rPr>
              <a:pPr algn="ctr" eaLnBrk="0" hangingPunct="0">
                <a:defRPr/>
              </a:pPr>
              <a:t>12</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428017" y="81325"/>
            <a:ext cx="8091791" cy="5936093"/>
          </a:xfrm>
          <a:prstGeom prst="rect">
            <a:avLst/>
          </a:prstGeom>
        </p:spPr>
      </p:pic>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609600" y="304800"/>
            <a:ext cx="7772400" cy="1066800"/>
          </a:xfrm>
        </p:spPr>
        <p:txBody>
          <a:bodyPr>
            <a:normAutofit fontScale="90000"/>
          </a:bodyPr>
          <a:lstStyle/>
          <a:p>
            <a:pPr marL="484632" fontAlgn="auto">
              <a:spcAft>
                <a:spcPts val="0"/>
              </a:spcAft>
              <a:defRPr/>
            </a:pPr>
            <a:r>
              <a:rPr lang="en-US" sz="3600">
                <a:solidFill>
                  <a:schemeClr val="accent1">
                    <a:tint val="83000"/>
                    <a:satMod val="150000"/>
                  </a:schemeClr>
                </a:solidFill>
              </a:rPr>
              <a:t>General Formatting Guidelines for Forms and Reports (continued)</a:t>
            </a:r>
          </a:p>
        </p:txBody>
      </p:sp>
      <p:sp>
        <p:nvSpPr>
          <p:cNvPr id="2969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Displaying Text</a:t>
            </a:r>
          </a:p>
          <a:p>
            <a:pPr lvl="1">
              <a:lnSpc>
                <a:spcPct val="90000"/>
              </a:lnSpc>
            </a:pPr>
            <a:r>
              <a:rPr lang="en-US" sz="2400" smtClean="0"/>
              <a:t>Display text in mixed upper and lower case and use conventional punctuation</a:t>
            </a:r>
          </a:p>
          <a:p>
            <a:pPr lvl="1">
              <a:lnSpc>
                <a:spcPct val="90000"/>
              </a:lnSpc>
            </a:pPr>
            <a:r>
              <a:rPr lang="en-US" sz="2400" smtClean="0"/>
              <a:t>Use double spacing if space permits.  If not, place a blank line between paragraphs</a:t>
            </a:r>
          </a:p>
          <a:p>
            <a:pPr lvl="1">
              <a:lnSpc>
                <a:spcPct val="90000"/>
              </a:lnSpc>
            </a:pPr>
            <a:r>
              <a:rPr lang="en-US" sz="2400" smtClean="0"/>
              <a:t>Left-justify text and leave a ragged right margin</a:t>
            </a:r>
          </a:p>
          <a:p>
            <a:pPr lvl="1">
              <a:lnSpc>
                <a:spcPct val="90000"/>
              </a:lnSpc>
            </a:pPr>
            <a:r>
              <a:rPr lang="en-US" sz="2400" smtClean="0"/>
              <a:t>Do not hyphenate words between lines</a:t>
            </a:r>
          </a:p>
          <a:p>
            <a:pPr lvl="1">
              <a:lnSpc>
                <a:spcPct val="90000"/>
              </a:lnSpc>
            </a:pPr>
            <a:r>
              <a:rPr lang="en-US" sz="2400" smtClean="0"/>
              <a:t>Use abbreviations and acronyms only when they are widely understood by users and are significantly shorter than the full text</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55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7BCF78B0-7C00-44AE-878A-D168A368FF22}"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609600" y="304800"/>
            <a:ext cx="7772400" cy="1066800"/>
          </a:xfrm>
        </p:spPr>
        <p:txBody>
          <a:bodyPr>
            <a:normAutofit fontScale="90000"/>
          </a:bodyPr>
          <a:lstStyle/>
          <a:p>
            <a:pPr marL="484632" fontAlgn="auto">
              <a:spcAft>
                <a:spcPts val="0"/>
              </a:spcAft>
              <a:defRPr/>
            </a:pPr>
            <a:r>
              <a:rPr lang="en-US" sz="3600">
                <a:solidFill>
                  <a:schemeClr val="accent1">
                    <a:tint val="83000"/>
                    <a:satMod val="150000"/>
                  </a:schemeClr>
                </a:solidFill>
              </a:rPr>
              <a:t>General Formatting Guidelines for Forms and Reports (continued)</a:t>
            </a:r>
          </a:p>
        </p:txBody>
      </p:sp>
      <p:sp>
        <p:nvSpPr>
          <p:cNvPr id="307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Displaying Tables and Lists</a:t>
            </a:r>
          </a:p>
          <a:p>
            <a:pPr lvl="1"/>
            <a:r>
              <a:rPr lang="en-US" smtClean="0"/>
              <a:t>Labels</a:t>
            </a:r>
          </a:p>
          <a:p>
            <a:pPr lvl="2"/>
            <a:r>
              <a:rPr lang="en-US" smtClean="0"/>
              <a:t>All columns and rows should have meaningful labels</a:t>
            </a:r>
          </a:p>
          <a:p>
            <a:pPr lvl="2"/>
            <a:r>
              <a:rPr lang="en-US" smtClean="0"/>
              <a:t>Labels should be separated from other information by using highlighting</a:t>
            </a:r>
          </a:p>
          <a:p>
            <a:pPr lvl="2"/>
            <a:r>
              <a:rPr lang="en-US" smtClean="0"/>
              <a:t>Redisplay labels when the data extend beyond a single screen or page</a:t>
            </a:r>
          </a:p>
          <a:p>
            <a:pPr lvl="2">
              <a:buFont typeface="Wingdings" pitchFamily="2" charset="2"/>
              <a:buNone/>
            </a:pPr>
            <a:endParaRPr lang="en-US" smtClean="0"/>
          </a:p>
          <a:p>
            <a:pPr>
              <a:buFont typeface="Wingdings" pitchFamily="2" charset="2"/>
              <a:buNone/>
            </a:pPr>
            <a:endParaRPr lang="en-US" smtClean="0"/>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661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2605B0C9-FF27-4A51-85D1-31630DD0EEC6}"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609600" y="0"/>
            <a:ext cx="7772400" cy="1371600"/>
          </a:xfrm>
        </p:spPr>
        <p:txBody>
          <a:bodyPr>
            <a:normAutofit fontScale="90000"/>
          </a:bodyPr>
          <a:lstStyle/>
          <a:p>
            <a:pPr marL="484632" fontAlgn="auto">
              <a:spcAft>
                <a:spcPts val="0"/>
              </a:spcAft>
              <a:defRPr/>
            </a:pPr>
            <a:r>
              <a:rPr lang="en-US" sz="3600">
                <a:solidFill>
                  <a:schemeClr val="accent1">
                    <a:tint val="83000"/>
                    <a:satMod val="150000"/>
                  </a:schemeClr>
                </a:solidFill>
              </a:rPr>
              <a:t>General Formatting Guidelines for Forms and Reports (continued)</a:t>
            </a:r>
          </a:p>
        </p:txBody>
      </p:sp>
      <p:sp>
        <p:nvSpPr>
          <p:cNvPr id="240643"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533400" indent="-533400" fontAlgn="auto">
              <a:spcAft>
                <a:spcPts val="0"/>
              </a:spcAft>
              <a:buFont typeface="Wingdings 2"/>
              <a:buChar char=""/>
              <a:defRPr/>
            </a:pPr>
            <a:r>
              <a:rPr lang="en-US" sz="2400"/>
              <a:t>Displaying Tables and Lists (continued)</a:t>
            </a:r>
          </a:p>
          <a:p>
            <a:pPr marL="914400" lvl="1" indent="-457200" fontAlgn="auto">
              <a:spcAft>
                <a:spcPts val="0"/>
              </a:spcAft>
              <a:buFont typeface="Verdana"/>
              <a:buChar char="›"/>
              <a:defRPr/>
            </a:pPr>
            <a:r>
              <a:rPr lang="en-US" sz="2000"/>
              <a:t>Formatting columns, rows, and text</a:t>
            </a:r>
          </a:p>
          <a:p>
            <a:pPr marL="1295400" lvl="2" indent="-381000" fontAlgn="auto">
              <a:spcAft>
                <a:spcPts val="0"/>
              </a:spcAft>
              <a:buFont typeface="Wingdings 2"/>
              <a:buChar char=""/>
              <a:defRPr/>
            </a:pPr>
            <a:r>
              <a:rPr lang="en-US" sz="1800"/>
              <a:t>Sort in a meaningful order</a:t>
            </a:r>
          </a:p>
          <a:p>
            <a:pPr marL="1295400" lvl="2" indent="-381000" fontAlgn="auto">
              <a:spcAft>
                <a:spcPts val="0"/>
              </a:spcAft>
              <a:buFont typeface="Wingdings 2"/>
              <a:buChar char=""/>
              <a:defRPr/>
            </a:pPr>
            <a:r>
              <a:rPr lang="en-US" sz="1800"/>
              <a:t>Place a blank line between every 5 rows in long columns</a:t>
            </a:r>
          </a:p>
          <a:p>
            <a:pPr marL="1295400" lvl="2" indent="-381000" fontAlgn="auto">
              <a:spcAft>
                <a:spcPts val="0"/>
              </a:spcAft>
              <a:buFont typeface="Wingdings 2"/>
              <a:buChar char=""/>
              <a:defRPr/>
            </a:pPr>
            <a:r>
              <a:rPr lang="en-US" sz="1800"/>
              <a:t>Similar information displayed in multiple columns should be sorted vertically</a:t>
            </a:r>
          </a:p>
          <a:p>
            <a:pPr marL="1295400" lvl="2" indent="-381000" fontAlgn="auto">
              <a:spcAft>
                <a:spcPts val="0"/>
              </a:spcAft>
              <a:buFont typeface="Wingdings 2"/>
              <a:buChar char=""/>
              <a:defRPr/>
            </a:pPr>
            <a:r>
              <a:rPr lang="en-US" sz="1800"/>
              <a:t>Columns should have at least two spaces between them</a:t>
            </a:r>
          </a:p>
          <a:p>
            <a:pPr marL="1295400" lvl="2" indent="-381000" fontAlgn="auto">
              <a:spcAft>
                <a:spcPts val="0"/>
              </a:spcAft>
              <a:buFont typeface="Wingdings 2"/>
              <a:buChar char=""/>
              <a:defRPr/>
            </a:pPr>
            <a:r>
              <a:rPr lang="en-US" sz="1800"/>
              <a:t>Allow white space on printed reports for user to write notes</a:t>
            </a:r>
          </a:p>
          <a:p>
            <a:pPr marL="1295400" lvl="2" indent="-381000" fontAlgn="auto">
              <a:spcAft>
                <a:spcPts val="0"/>
              </a:spcAft>
              <a:buFont typeface="Wingdings 2"/>
              <a:buChar char=""/>
              <a:defRPr/>
            </a:pPr>
            <a:r>
              <a:rPr lang="en-US" sz="1800"/>
              <a:t>Use a single typeface, except for emphasis</a:t>
            </a:r>
          </a:p>
          <a:p>
            <a:pPr marL="1295400" lvl="2" indent="-381000" fontAlgn="auto">
              <a:spcAft>
                <a:spcPts val="0"/>
              </a:spcAft>
              <a:buFont typeface="Wingdings 2"/>
              <a:buChar char=""/>
              <a:defRPr/>
            </a:pPr>
            <a:r>
              <a:rPr lang="en-US" sz="1800"/>
              <a:t>Use same family of typefaces within and across displays and reports</a:t>
            </a:r>
          </a:p>
          <a:p>
            <a:pPr marL="1295400" lvl="2" indent="-381000" fontAlgn="auto">
              <a:spcAft>
                <a:spcPts val="0"/>
              </a:spcAft>
              <a:buFont typeface="Wingdings 2"/>
              <a:buChar char=""/>
              <a:defRPr/>
            </a:pPr>
            <a:r>
              <a:rPr lang="en-US" sz="1800"/>
              <a:t>Avoid overly fancy fonts</a:t>
            </a:r>
          </a:p>
          <a:p>
            <a:pPr marL="1295400" lvl="2" indent="-381000" fontAlgn="auto">
              <a:spcAft>
                <a:spcPts val="0"/>
              </a:spcAft>
              <a:buFont typeface="Wingdings" pitchFamily="2" charset="2"/>
              <a:buNone/>
              <a:defRPr/>
            </a:pPr>
            <a:endParaRPr lang="en-US" sz="2000"/>
          </a:p>
        </p:txBody>
      </p:sp>
      <p:sp>
        <p:nvSpPr>
          <p:cNvPr id="317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06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D891398E-3218-405B-88C3-B054344E1850}"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609600" y="304800"/>
            <a:ext cx="7772400" cy="990600"/>
          </a:xfrm>
        </p:spPr>
        <p:txBody>
          <a:bodyPr>
            <a:normAutofit fontScale="90000"/>
          </a:bodyPr>
          <a:lstStyle/>
          <a:p>
            <a:pPr marL="484632" fontAlgn="auto">
              <a:spcAft>
                <a:spcPts val="0"/>
              </a:spcAft>
              <a:defRPr/>
            </a:pPr>
            <a:r>
              <a:rPr lang="en-US" sz="3600">
                <a:solidFill>
                  <a:schemeClr val="accent1">
                    <a:tint val="83000"/>
                    <a:satMod val="150000"/>
                  </a:schemeClr>
                </a:solidFill>
              </a:rPr>
              <a:t>General Formatting Guidelines for Forms and Reports (continued)</a:t>
            </a:r>
          </a:p>
        </p:txBody>
      </p:sp>
      <p:sp>
        <p:nvSpPr>
          <p:cNvPr id="327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Displaying tables and lists (continued)</a:t>
            </a:r>
          </a:p>
          <a:p>
            <a:pPr lvl="1"/>
            <a:r>
              <a:rPr lang="en-US" sz="2400" smtClean="0"/>
              <a:t>Formatting numeric, textual, and alphanumeric data</a:t>
            </a:r>
          </a:p>
          <a:p>
            <a:pPr lvl="2"/>
            <a:r>
              <a:rPr lang="en-US" sz="2000" smtClean="0"/>
              <a:t>Right-justify </a:t>
            </a:r>
            <a:r>
              <a:rPr lang="en-US" sz="2000" i="1" smtClean="0"/>
              <a:t>numeric </a:t>
            </a:r>
            <a:r>
              <a:rPr lang="en-US" sz="2000" smtClean="0"/>
              <a:t>data and align columns by decimal points or other delimiter</a:t>
            </a:r>
          </a:p>
          <a:p>
            <a:pPr lvl="2"/>
            <a:r>
              <a:rPr lang="en-US" sz="2000" smtClean="0"/>
              <a:t>Left-justify </a:t>
            </a:r>
            <a:r>
              <a:rPr lang="en-US" sz="2000" i="1" smtClean="0"/>
              <a:t>textual </a:t>
            </a:r>
            <a:r>
              <a:rPr lang="en-US" sz="2000" smtClean="0"/>
              <a:t>data.  Use short line length, usually 30 to 40 characters per line</a:t>
            </a:r>
          </a:p>
          <a:p>
            <a:pPr lvl="2"/>
            <a:r>
              <a:rPr lang="en-US" sz="2000" smtClean="0"/>
              <a:t>Break long sequences of </a:t>
            </a:r>
            <a:r>
              <a:rPr lang="en-US" sz="2000" i="1" smtClean="0"/>
              <a:t>alphanumeric </a:t>
            </a:r>
            <a:r>
              <a:rPr lang="en-US" sz="2000" smtClean="0"/>
              <a:t>data into small groups of three to four characters each</a:t>
            </a:r>
            <a:endParaRPr lang="en-US" smtClean="0"/>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76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352B2F6F-CF6C-4328-83C0-C375AA56C078}" type="slidenum">
              <a:rPr lang="en-US" sz="1600">
                <a:solidFill>
                  <a:schemeClr val="tx1"/>
                </a:solidFill>
                <a:cs typeface="+mn-cs"/>
              </a:rPr>
              <a:pPr algn="ctr" eaLnBrk="0" hangingPunct="0">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0338"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D232B25A-6F95-4F50-BA04-8753AE150AF4}" type="slidenum">
              <a:rPr lang="en-US" sz="1600">
                <a:solidFill>
                  <a:schemeClr val="tx1"/>
                </a:solidFill>
                <a:cs typeface="+mn-cs"/>
              </a:rPr>
              <a:pPr algn="ctr" eaLnBrk="0" hangingPunct="0">
                <a:defRPr/>
              </a:pPr>
              <a:t>17</a:t>
            </a:fld>
            <a:endParaRPr lang="en-US" sz="1600">
              <a:solidFill>
                <a:schemeClr val="tx1"/>
              </a:solidFill>
              <a:cs typeface="+mn-cs"/>
            </a:endParaRPr>
          </a:p>
        </p:txBody>
      </p:sp>
      <p:pic>
        <p:nvPicPr>
          <p:cNvPr id="270341" name="Picture 5"/>
          <p:cNvPicPr>
            <a:picLocks noChangeAspect="1" noChangeArrowheads="1"/>
          </p:cNvPicPr>
          <p:nvPr/>
        </p:nvPicPr>
        <p:blipFill>
          <a:blip r:embed="rId2"/>
          <a:srcRect/>
          <a:stretch>
            <a:fillRect/>
          </a:stretch>
        </p:blipFill>
        <p:spPr bwMode="auto">
          <a:xfrm>
            <a:off x="709613" y="1219200"/>
            <a:ext cx="7812087" cy="4646613"/>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136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779DA073-8D4C-44C3-88E9-5F1708B68355}" type="slidenum">
              <a:rPr lang="en-US" sz="1600">
                <a:solidFill>
                  <a:schemeClr val="tx1"/>
                </a:solidFill>
                <a:cs typeface="+mn-cs"/>
              </a:rPr>
              <a:pPr algn="ctr" eaLnBrk="0" hangingPunct="0">
                <a:defRPr/>
              </a:pPr>
              <a:t>18</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852791" y="286763"/>
            <a:ext cx="7315200" cy="5885437"/>
          </a:xfrm>
          <a:prstGeom prst="rect">
            <a:avLst/>
          </a:prstGeom>
        </p:spPr>
      </p:pic>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609600" y="304800"/>
            <a:ext cx="7772400" cy="990600"/>
          </a:xfrm>
        </p:spPr>
        <p:txBody>
          <a:bodyPr>
            <a:normAutofit fontScale="90000"/>
          </a:bodyPr>
          <a:lstStyle/>
          <a:p>
            <a:pPr marL="484632" fontAlgn="auto">
              <a:spcAft>
                <a:spcPts val="0"/>
              </a:spcAft>
              <a:defRPr/>
            </a:pPr>
            <a:r>
              <a:rPr lang="en-US" sz="4000">
                <a:solidFill>
                  <a:schemeClr val="accent1">
                    <a:tint val="83000"/>
                    <a:satMod val="150000"/>
                  </a:schemeClr>
                </a:solidFill>
              </a:rPr>
              <a:t>Designing Interfaces and Dialogues</a:t>
            </a:r>
            <a:endParaRPr lang="en-US" sz="2800">
              <a:solidFill>
                <a:schemeClr val="accent1">
                  <a:tint val="83000"/>
                  <a:satMod val="150000"/>
                </a:schemeClr>
              </a:solidFill>
            </a:endParaRPr>
          </a:p>
        </p:txBody>
      </p:sp>
      <p:sp>
        <p:nvSpPr>
          <p:cNvPr id="3584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Focus on how information is provided to and captured from users</a:t>
            </a:r>
          </a:p>
          <a:p>
            <a:pPr>
              <a:lnSpc>
                <a:spcPct val="90000"/>
              </a:lnSpc>
            </a:pPr>
            <a:r>
              <a:rPr lang="en-US" smtClean="0"/>
              <a:t>Dialogues are analogous to a conversation between two people</a:t>
            </a:r>
          </a:p>
          <a:p>
            <a:pPr>
              <a:lnSpc>
                <a:spcPct val="90000"/>
              </a:lnSpc>
            </a:pPr>
            <a:r>
              <a:rPr lang="en-US" smtClean="0"/>
              <a:t>A good human-computer interface provides a unifying structure for finding, viewing, and invoking the different components of a system</a:t>
            </a:r>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07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9E5881B6-E9B9-4334-B823-FB50D74894F5}"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The Process of Designing Interfaces and Dialogues</a:t>
            </a:r>
          </a:p>
        </p:txBody>
      </p:sp>
      <p:sp>
        <p:nvSpPr>
          <p:cNvPr id="3686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User-focused Activity</a:t>
            </a:r>
          </a:p>
          <a:p>
            <a:r>
              <a:rPr lang="en-US" smtClean="0"/>
              <a:t>Parallels Form and Report Design Process</a:t>
            </a:r>
          </a:p>
          <a:p>
            <a:r>
              <a:rPr lang="en-US" smtClean="0"/>
              <a:t>Employs Prototyping Methodology</a:t>
            </a:r>
          </a:p>
          <a:p>
            <a:pPr lvl="1"/>
            <a:r>
              <a:rPr lang="en-US" sz="2400" smtClean="0"/>
              <a:t>Collect information</a:t>
            </a:r>
          </a:p>
          <a:p>
            <a:pPr lvl="1"/>
            <a:r>
              <a:rPr lang="en-US" sz="2400" smtClean="0"/>
              <a:t>Construct prototype</a:t>
            </a:r>
          </a:p>
          <a:p>
            <a:pPr lvl="1"/>
            <a:r>
              <a:rPr lang="en-US" sz="2400" smtClean="0"/>
              <a:t>Assess usability</a:t>
            </a:r>
          </a:p>
          <a:p>
            <a:pPr lvl="1"/>
            <a:r>
              <a:rPr lang="en-US" sz="2400" smtClean="0"/>
              <a:t>Make refinements</a:t>
            </a:r>
          </a:p>
          <a:p>
            <a:pPr>
              <a:buFont typeface="Wingdings" pitchFamily="2" charset="2"/>
              <a:buNone/>
            </a:pPr>
            <a:endParaRPr lang="en-US" sz="2800" smtClean="0"/>
          </a:p>
          <a:p>
            <a:endParaRPr lang="en-US" smtClean="0"/>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57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41DFDFF3-B616-48E9-817F-F7E30CDB9CB5}" type="slidenum">
              <a:rPr lang="en-US" sz="1600">
                <a:solidFill>
                  <a:schemeClr val="tx1"/>
                </a:solidFill>
                <a:cs typeface="+mn-cs"/>
              </a:rPr>
              <a:pPr algn="ctr" eaLnBrk="0" hangingPunct="0">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normAutofit fontScale="90000"/>
          </a:bodyPr>
          <a:lstStyle/>
          <a:p>
            <a:pPr marL="484632" fontAlgn="auto">
              <a:spcAft>
                <a:spcPts val="0"/>
              </a:spcAft>
              <a:defRPr/>
            </a:pPr>
            <a:r>
              <a:rPr lang="en-US" sz="3600">
                <a:solidFill>
                  <a:schemeClr val="accent1">
                    <a:tint val="83000"/>
                    <a:satMod val="150000"/>
                  </a:schemeClr>
                </a:solidFill>
              </a:rPr>
              <a:t>The Process of Designing Interfaces and Dialogues (continued)</a:t>
            </a:r>
          </a:p>
        </p:txBody>
      </p:sp>
      <p:sp>
        <p:nvSpPr>
          <p:cNvPr id="37890"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z="2800" smtClean="0"/>
              <a:t>Deliverables</a:t>
            </a:r>
          </a:p>
          <a:p>
            <a:pPr lvl="1"/>
            <a:r>
              <a:rPr lang="en-US" sz="2400" smtClean="0"/>
              <a:t>Design Specifications</a:t>
            </a:r>
          </a:p>
          <a:p>
            <a:pPr lvl="2"/>
            <a:r>
              <a:rPr lang="en-US" sz="2000" smtClean="0"/>
              <a:t>Narrative overview</a:t>
            </a:r>
          </a:p>
          <a:p>
            <a:pPr lvl="2"/>
            <a:r>
              <a:rPr lang="en-US" sz="2000" smtClean="0"/>
              <a:t>Sample design</a:t>
            </a:r>
          </a:p>
          <a:p>
            <a:pPr lvl="2"/>
            <a:r>
              <a:rPr lang="en-US" sz="2000" smtClean="0"/>
              <a:t>Testing and usability assessment</a:t>
            </a:r>
          </a:p>
          <a:p>
            <a:pPr lvl="2"/>
            <a:endParaRPr lang="en-US" smtClean="0"/>
          </a:p>
          <a:p>
            <a:pPr lvl="1">
              <a:buFont typeface="Wingdings" pitchFamily="2" charset="2"/>
              <a:buNone/>
            </a:pPr>
            <a:endParaRPr lang="en-US" smtClean="0"/>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48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CFF460F9-9DB0-4F75-BA1E-A1F7019CD900}" type="slidenum">
              <a:rPr lang="en-US" sz="1600">
                <a:solidFill>
                  <a:schemeClr val="tx1"/>
                </a:solidFill>
                <a:cs typeface="+mn-cs"/>
              </a:rPr>
              <a:pPr algn="ctr" eaLnBrk="0" hangingPunct="0">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609600" y="304800"/>
            <a:ext cx="7772400" cy="990600"/>
          </a:xfrm>
        </p:spPr>
        <p:txBody>
          <a:bodyPr/>
          <a:lstStyle/>
          <a:p>
            <a:pPr marL="484632" fontAlgn="auto">
              <a:spcAft>
                <a:spcPts val="0"/>
              </a:spcAft>
              <a:defRPr/>
            </a:pPr>
            <a:r>
              <a:rPr lang="en-US">
                <a:solidFill>
                  <a:schemeClr val="accent1">
                    <a:tint val="83000"/>
                    <a:satMod val="150000"/>
                  </a:schemeClr>
                </a:solidFill>
              </a:rPr>
              <a:t>Designing Interfaces</a:t>
            </a:r>
          </a:p>
        </p:txBody>
      </p:sp>
      <p:sp>
        <p:nvSpPr>
          <p:cNvPr id="3891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mtClean="0"/>
              <a:t>Designing Layouts</a:t>
            </a:r>
          </a:p>
          <a:p>
            <a:pPr lvl="1"/>
            <a:r>
              <a:rPr lang="en-US" smtClean="0"/>
              <a:t>Standard formats similar to paper-based forms and reports should be used</a:t>
            </a:r>
          </a:p>
          <a:p>
            <a:pPr lvl="1"/>
            <a:r>
              <a:rPr lang="en-US" smtClean="0"/>
              <a:t>Screen navigation on data entry screens should be left-to-right, top-to-bottom as on paper forms</a:t>
            </a:r>
          </a:p>
          <a:p>
            <a:pPr lvl="1">
              <a:buFont typeface="Wingdings" pitchFamily="2" charset="2"/>
              <a:buNone/>
            </a:pPr>
            <a:endParaRPr lang="en-US" smtClean="0"/>
          </a:p>
          <a:p>
            <a:pPr lvl="1"/>
            <a:endParaRPr lang="en-US" smtClean="0"/>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68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82E52735-527D-4172-A4B3-824BF92A4FF1}"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609600" y="304800"/>
            <a:ext cx="7772400" cy="838200"/>
          </a:xfrm>
        </p:spPr>
        <p:txBody>
          <a:bodyPr/>
          <a:lstStyle/>
          <a:p>
            <a:pPr marL="484632" fontAlgn="auto">
              <a:spcAft>
                <a:spcPts val="0"/>
              </a:spcAft>
              <a:defRPr/>
            </a:pPr>
            <a:r>
              <a:rPr lang="en-US">
                <a:solidFill>
                  <a:schemeClr val="accent1">
                    <a:tint val="83000"/>
                    <a:satMod val="150000"/>
                  </a:schemeClr>
                </a:solidFill>
              </a:rPr>
              <a:t>Designing Layouts</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Flexibility and consistency are primary design goals</a:t>
            </a:r>
          </a:p>
          <a:p>
            <a:pPr lvl="1"/>
            <a:r>
              <a:rPr lang="en-US" smtClean="0"/>
              <a:t>Users should be able to move freely between fields</a:t>
            </a:r>
          </a:p>
          <a:p>
            <a:pPr lvl="1"/>
            <a:r>
              <a:rPr lang="en-US" smtClean="0"/>
              <a:t>Data should not be permanently saved until the user explicitly requests this</a:t>
            </a:r>
          </a:p>
          <a:p>
            <a:pPr lvl="1"/>
            <a:r>
              <a:rPr lang="en-US" smtClean="0"/>
              <a:t>Each key and command should be assigned to one function</a:t>
            </a:r>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78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D21AFB55-CAE8-467B-BE7F-317EB8E8D047}"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Structuring Data Entry</a:t>
            </a:r>
          </a:p>
        </p:txBody>
      </p:sp>
      <p:graphicFrame>
        <p:nvGraphicFramePr>
          <p:cNvPr id="252989" name="Group 61"/>
          <p:cNvGraphicFramePr>
            <a:graphicFrameLocks noGrp="1"/>
          </p:cNvGraphicFramePr>
          <p:nvPr>
            <p:ph type="tbl" idx="1"/>
          </p:nvPr>
        </p:nvGraphicFramePr>
        <p:xfrm>
          <a:off x="838200" y="1752600"/>
          <a:ext cx="7772400" cy="4145280"/>
        </p:xfrm>
        <a:graphic>
          <a:graphicData uri="http://schemas.openxmlformats.org/drawingml/2006/table">
            <a:tbl>
              <a:tblPr/>
              <a:tblGrid>
                <a:gridCol w="2057400"/>
                <a:gridCol w="5715000"/>
              </a:tblGrid>
              <a:tr h="6858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Entry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Never require data that are already online or that can be computed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4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Defaults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Always provide default values when appropriate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Units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Make clear the type of data units requested for entry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02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Replacement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Use character replacement when appropriate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45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Captioning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Always place a caption adjacent to fields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Format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Provide formatting examples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4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Justify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Automatically justify data entries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smtClean="0">
                          <a:ln>
                            <a:noFill/>
                          </a:ln>
                          <a:solidFill>
                            <a:schemeClr val="tx1"/>
                          </a:solidFill>
                          <a:effectLst/>
                          <a:latin typeface="Arial" charset="0"/>
                        </a:rPr>
                        <a:t>Help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smtClean="0">
                          <a:ln>
                            <a:noFill/>
                          </a:ln>
                          <a:solidFill>
                            <a:schemeClr val="tx1"/>
                          </a:solidFill>
                          <a:effectLst/>
                          <a:latin typeface="Arial" charset="0"/>
                        </a:rPr>
                        <a:t>Provide context-sensitive help when appropriate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09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2990" name="Text Box 6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030D5AFF-3869-4277-9504-E5FF5A121A01}"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609600" y="533400"/>
            <a:ext cx="7772400" cy="685800"/>
          </a:xfrm>
        </p:spPr>
        <p:txBody>
          <a:bodyPr>
            <a:normAutofit fontScale="90000"/>
          </a:bodyPr>
          <a:lstStyle/>
          <a:p>
            <a:pPr marL="484632" fontAlgn="auto">
              <a:spcAft>
                <a:spcPts val="0"/>
              </a:spcAft>
              <a:defRPr/>
            </a:pPr>
            <a:r>
              <a:rPr lang="en-US" sz="4000">
                <a:solidFill>
                  <a:schemeClr val="accent1">
                    <a:tint val="83000"/>
                    <a:satMod val="150000"/>
                  </a:schemeClr>
                </a:solidFill>
              </a:rPr>
              <a:t>Controlling Data Input</a:t>
            </a:r>
          </a:p>
        </p:txBody>
      </p:sp>
      <p:sp>
        <p:nvSpPr>
          <p:cNvPr id="419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One objective of interface design is to reduce data-entry errors</a:t>
            </a:r>
          </a:p>
          <a:p>
            <a:pPr>
              <a:lnSpc>
                <a:spcPct val="90000"/>
              </a:lnSpc>
            </a:pPr>
            <a:r>
              <a:rPr lang="en-US" sz="2800" smtClean="0"/>
              <a:t>Role of systems analyst is to anticipate user errors and design features into the system’s interfaces to avoid, detect, and correct data-entry mistakes</a:t>
            </a:r>
          </a:p>
          <a:p>
            <a:pPr>
              <a:lnSpc>
                <a:spcPct val="90000"/>
              </a:lnSpc>
            </a:pPr>
            <a:r>
              <a:rPr lang="en-US" sz="2800" smtClean="0"/>
              <a:t>Table 8-9 describes types of data entry errors</a:t>
            </a:r>
          </a:p>
          <a:p>
            <a:pPr>
              <a:lnSpc>
                <a:spcPct val="90000"/>
              </a:lnSpc>
            </a:pPr>
            <a:r>
              <a:rPr lang="en-US" sz="2800" smtClean="0"/>
              <a:t>Table 8-10 lists techniques used by system designers to detect errors</a:t>
            </a:r>
          </a:p>
          <a:p>
            <a:pPr>
              <a:lnSpc>
                <a:spcPct val="90000"/>
              </a:lnSpc>
              <a:buFont typeface="Wingdings" pitchFamily="2" charset="2"/>
              <a:buNone/>
            </a:pPr>
            <a:endParaRPr lang="en-US" sz="2800" smtClean="0"/>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88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805ED80D-D629-43A4-8846-F0E73F7E0B39}" type="slidenum">
              <a:rPr lang="en-US" sz="1600">
                <a:solidFill>
                  <a:schemeClr val="tx1"/>
                </a:solidFill>
                <a:cs typeface="+mn-cs"/>
              </a:rPr>
              <a:pPr algn="ctr" eaLnBrk="0" hangingPunct="0">
                <a:defRPr/>
              </a:pPr>
              <a:t>25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2386"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5D5BA343-C9A0-416A-8FDC-0044C2DD3F2D}" type="slidenum">
              <a:rPr lang="en-US" sz="1600">
                <a:solidFill>
                  <a:schemeClr val="tx1"/>
                </a:solidFill>
                <a:cs typeface="+mn-cs"/>
              </a:rPr>
              <a:pPr algn="ctr" eaLnBrk="0" hangingPunct="0">
                <a:defRPr/>
              </a:pPr>
              <a:t>26</a:t>
            </a:fld>
            <a:endParaRPr lang="en-US" sz="1600">
              <a:solidFill>
                <a:schemeClr val="tx1"/>
              </a:solidFill>
              <a:cs typeface="+mn-cs"/>
            </a:endParaRPr>
          </a:p>
        </p:txBody>
      </p:sp>
      <p:pic>
        <p:nvPicPr>
          <p:cNvPr id="43011" name="Picture 3" descr="TBL08_09"/>
          <p:cNvPicPr>
            <a:picLocks noChangeAspect="1" noChangeArrowheads="1"/>
          </p:cNvPicPr>
          <p:nvPr/>
        </p:nvPicPr>
        <p:blipFill>
          <a:blip r:embed="rId2"/>
          <a:srcRect/>
          <a:stretch>
            <a:fillRect/>
          </a:stretch>
        </p:blipFill>
        <p:spPr bwMode="auto">
          <a:xfrm>
            <a:off x="762000" y="2071688"/>
            <a:ext cx="7620000" cy="2714625"/>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341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E8F80220-766A-4061-8132-6807AC2EF819}" type="slidenum">
              <a:rPr lang="en-US" sz="1600">
                <a:solidFill>
                  <a:schemeClr val="tx1"/>
                </a:solidFill>
                <a:cs typeface="+mn-cs"/>
              </a:rPr>
              <a:pPr algn="ctr" eaLnBrk="0" hangingPunct="0">
                <a:defRPr/>
              </a:pPr>
              <a:t>27</a:t>
            </a:fld>
            <a:endParaRPr lang="en-US" sz="1600">
              <a:solidFill>
                <a:schemeClr val="tx1"/>
              </a:solidFill>
              <a:cs typeface="+mn-cs"/>
            </a:endParaRPr>
          </a:p>
        </p:txBody>
      </p:sp>
      <p:pic>
        <p:nvPicPr>
          <p:cNvPr id="44035" name="Picture 3" descr="TBL08_10"/>
          <p:cNvPicPr>
            <a:picLocks noChangeAspect="1" noChangeArrowheads="1"/>
          </p:cNvPicPr>
          <p:nvPr/>
        </p:nvPicPr>
        <p:blipFill>
          <a:blip r:embed="rId2"/>
          <a:srcRect/>
          <a:stretch>
            <a:fillRect/>
          </a:stretch>
        </p:blipFill>
        <p:spPr bwMode="auto">
          <a:xfrm>
            <a:off x="1671638" y="571500"/>
            <a:ext cx="5800725" cy="57150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609600" y="609600"/>
            <a:ext cx="7772400" cy="762000"/>
          </a:xfrm>
        </p:spPr>
        <p:txBody>
          <a:bodyPr/>
          <a:lstStyle/>
          <a:p>
            <a:pPr marL="484632" fontAlgn="auto">
              <a:spcAft>
                <a:spcPts val="0"/>
              </a:spcAft>
              <a:defRPr/>
            </a:pPr>
            <a:r>
              <a:rPr lang="en-US">
                <a:solidFill>
                  <a:schemeClr val="accent1">
                    <a:tint val="83000"/>
                    <a:satMod val="150000"/>
                  </a:schemeClr>
                </a:solidFill>
              </a:rPr>
              <a:t>Providing Feedback</a:t>
            </a:r>
          </a:p>
        </p:txBody>
      </p:sp>
      <p:sp>
        <p:nvSpPr>
          <p:cNvPr id="249859" name="Rectangle 3" descr="Rectangle: Click to edit Master text styles&#10;Second level&#10;Third level&#10;Fourth level&#10;Fifth level"/>
          <p:cNvSpPr>
            <a:spLocks noGrp="1" noChangeArrowheads="1"/>
          </p:cNvSpPr>
          <p:nvPr>
            <p:ph idx="1"/>
          </p:nvPr>
        </p:nvSpPr>
        <p:spPr>
          <a:xfrm>
            <a:off x="838200" y="1600200"/>
            <a:ext cx="7772400" cy="4572000"/>
          </a:xfrm>
        </p:spPr>
        <p:txBody>
          <a:bodyPr>
            <a:normAutofit lnSpcReduction="10000"/>
          </a:bodyPr>
          <a:lstStyle/>
          <a:p>
            <a:pPr marL="533400" indent="-533400" fontAlgn="auto">
              <a:lnSpc>
                <a:spcPct val="80000"/>
              </a:lnSpc>
              <a:spcAft>
                <a:spcPts val="0"/>
              </a:spcAft>
              <a:buFont typeface="Wingdings 2"/>
              <a:buNone/>
              <a:defRPr/>
            </a:pPr>
            <a:r>
              <a:rPr lang="en-US" sz="2400" dirty="0" smtClean="0">
                <a:solidFill>
                  <a:schemeClr val="accent1"/>
                </a:solidFill>
              </a:rPr>
              <a:t>1.   </a:t>
            </a:r>
            <a:r>
              <a:rPr lang="en-US" sz="2400" dirty="0" smtClean="0"/>
              <a:t>Status </a:t>
            </a:r>
            <a:r>
              <a:rPr lang="en-US" sz="2400" dirty="0"/>
              <a:t>Information</a:t>
            </a:r>
          </a:p>
          <a:p>
            <a:pPr marL="914400" lvl="1" indent="-457200" fontAlgn="auto">
              <a:lnSpc>
                <a:spcPct val="80000"/>
              </a:lnSpc>
              <a:spcAft>
                <a:spcPts val="0"/>
              </a:spcAft>
              <a:buFont typeface="Verdana"/>
              <a:buChar char="›"/>
              <a:defRPr/>
            </a:pPr>
            <a:r>
              <a:rPr lang="en-US" sz="2400" dirty="0"/>
              <a:t>Keeps users informed of what is going on in system</a:t>
            </a:r>
          </a:p>
          <a:p>
            <a:pPr marL="914400" lvl="1" indent="-457200" fontAlgn="auto">
              <a:lnSpc>
                <a:spcPct val="80000"/>
              </a:lnSpc>
              <a:spcAft>
                <a:spcPts val="0"/>
              </a:spcAft>
              <a:buFont typeface="Verdana"/>
              <a:buChar char="›"/>
              <a:defRPr/>
            </a:pPr>
            <a:r>
              <a:rPr lang="en-US" sz="2400" dirty="0"/>
              <a:t>Displaying status information is especially important if the operation takes longer than a second or two</a:t>
            </a:r>
            <a:endParaRPr lang="en-US" sz="2400" dirty="0" smtClean="0"/>
          </a:p>
          <a:p>
            <a:pPr marL="533400" indent="-533400" fontAlgn="auto">
              <a:lnSpc>
                <a:spcPct val="80000"/>
              </a:lnSpc>
              <a:spcAft>
                <a:spcPts val="0"/>
              </a:spcAft>
              <a:buFont typeface="Wingdings 2"/>
              <a:buNone/>
              <a:defRPr/>
            </a:pPr>
            <a:r>
              <a:rPr lang="en-US" sz="2400" dirty="0" smtClean="0">
                <a:solidFill>
                  <a:srgbClr val="FF388C"/>
                </a:solidFill>
              </a:rPr>
              <a:t>2.   </a:t>
            </a:r>
            <a:r>
              <a:rPr lang="en-US" sz="2400" dirty="0" smtClean="0"/>
              <a:t>Prompting </a:t>
            </a:r>
            <a:r>
              <a:rPr lang="en-US" sz="2400" dirty="0"/>
              <a:t>Cues</a:t>
            </a:r>
          </a:p>
          <a:p>
            <a:pPr marL="914400" lvl="1" indent="-457200" fontAlgn="auto">
              <a:lnSpc>
                <a:spcPct val="80000"/>
              </a:lnSpc>
              <a:spcAft>
                <a:spcPts val="0"/>
              </a:spcAft>
              <a:buFont typeface="Verdana"/>
              <a:buChar char="›"/>
              <a:defRPr/>
            </a:pPr>
            <a:r>
              <a:rPr lang="en-US" sz="2000" dirty="0"/>
              <a:t>Best to keep as specific as possible</a:t>
            </a:r>
            <a:endParaRPr lang="en-US" sz="2000" dirty="0" smtClean="0"/>
          </a:p>
          <a:p>
            <a:pPr marL="533400" indent="-533400" fontAlgn="auto">
              <a:lnSpc>
                <a:spcPct val="80000"/>
              </a:lnSpc>
              <a:spcAft>
                <a:spcPts val="0"/>
              </a:spcAft>
              <a:buFont typeface="Wingdings 2"/>
              <a:buNone/>
              <a:defRPr/>
            </a:pPr>
            <a:r>
              <a:rPr lang="en-US" sz="2400" dirty="0" smtClean="0">
                <a:solidFill>
                  <a:srgbClr val="FF388C"/>
                </a:solidFill>
              </a:rPr>
              <a:t>3.   </a:t>
            </a:r>
            <a:r>
              <a:rPr lang="en-US" sz="2400" dirty="0" smtClean="0"/>
              <a:t>Error </a:t>
            </a:r>
            <a:r>
              <a:rPr lang="en-US" sz="2400" dirty="0"/>
              <a:t>and Warning Messages</a:t>
            </a:r>
          </a:p>
          <a:p>
            <a:pPr marL="914400" lvl="1" indent="-457200" fontAlgn="auto">
              <a:lnSpc>
                <a:spcPct val="80000"/>
              </a:lnSpc>
              <a:spcAft>
                <a:spcPts val="0"/>
              </a:spcAft>
              <a:buFont typeface="Verdana"/>
              <a:buChar char="›"/>
              <a:defRPr/>
            </a:pPr>
            <a:r>
              <a:rPr lang="en-US" sz="2000" dirty="0"/>
              <a:t>Messages should be specific and free of error codes and jargon</a:t>
            </a:r>
          </a:p>
          <a:p>
            <a:pPr marL="914400" lvl="1" indent="-457200" fontAlgn="auto">
              <a:lnSpc>
                <a:spcPct val="80000"/>
              </a:lnSpc>
              <a:spcAft>
                <a:spcPts val="0"/>
              </a:spcAft>
              <a:buFont typeface="Verdana"/>
              <a:buChar char="›"/>
              <a:defRPr/>
            </a:pPr>
            <a:r>
              <a:rPr lang="en-US" sz="2000" dirty="0"/>
              <a:t>User should be guided toward a result rather than scolded</a:t>
            </a:r>
          </a:p>
          <a:p>
            <a:pPr marL="914400" lvl="1" indent="-457200" fontAlgn="auto">
              <a:lnSpc>
                <a:spcPct val="80000"/>
              </a:lnSpc>
              <a:spcAft>
                <a:spcPts val="0"/>
              </a:spcAft>
              <a:buFont typeface="Verdana"/>
              <a:buChar char="›"/>
              <a:defRPr/>
            </a:pPr>
            <a:r>
              <a:rPr lang="en-US" sz="2000" dirty="0"/>
              <a:t>Use terms familiar to user</a:t>
            </a:r>
          </a:p>
          <a:p>
            <a:pPr marL="914400" lvl="1" indent="-457200" fontAlgn="auto">
              <a:lnSpc>
                <a:spcPct val="80000"/>
              </a:lnSpc>
              <a:spcAft>
                <a:spcPts val="0"/>
              </a:spcAft>
              <a:buFont typeface="Verdana"/>
              <a:buChar char="›"/>
              <a:defRPr/>
            </a:pPr>
            <a:r>
              <a:rPr lang="en-US" sz="2000" dirty="0"/>
              <a:t>Be consistent in format and placement of messages</a:t>
            </a:r>
            <a:endParaRPr lang="en-US" sz="2400" dirty="0"/>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986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51F6B117-114E-426F-A363-97DFA279B936}"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Providing Help</a:t>
            </a:r>
          </a:p>
        </p:txBody>
      </p:sp>
      <p:sp>
        <p:nvSpPr>
          <p:cNvPr id="460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Place yourself in user’s place when designing help</a:t>
            </a:r>
          </a:p>
          <a:p>
            <a:pPr>
              <a:lnSpc>
                <a:spcPct val="90000"/>
              </a:lnSpc>
            </a:pPr>
            <a:r>
              <a:rPr lang="en-US" sz="2800" smtClean="0"/>
              <a:t>Guidelines</a:t>
            </a:r>
          </a:p>
          <a:p>
            <a:pPr lvl="1">
              <a:lnSpc>
                <a:spcPct val="90000"/>
              </a:lnSpc>
            </a:pPr>
            <a:r>
              <a:rPr lang="en-US" sz="2400" smtClean="0"/>
              <a:t>Simplicity</a:t>
            </a:r>
          </a:p>
          <a:p>
            <a:pPr lvl="2">
              <a:lnSpc>
                <a:spcPct val="90000"/>
              </a:lnSpc>
            </a:pPr>
            <a:r>
              <a:rPr lang="en-US" sz="2000" smtClean="0"/>
              <a:t>Help messages should be short and to the point</a:t>
            </a:r>
          </a:p>
          <a:p>
            <a:pPr lvl="1">
              <a:lnSpc>
                <a:spcPct val="90000"/>
              </a:lnSpc>
            </a:pPr>
            <a:r>
              <a:rPr lang="en-US" sz="2400" smtClean="0"/>
              <a:t>Organization</a:t>
            </a:r>
          </a:p>
          <a:p>
            <a:pPr lvl="2">
              <a:lnSpc>
                <a:spcPct val="90000"/>
              </a:lnSpc>
            </a:pPr>
            <a:r>
              <a:rPr lang="en-US" sz="2000" smtClean="0"/>
              <a:t>Information in help messages should be easily absorbed by users</a:t>
            </a:r>
          </a:p>
          <a:p>
            <a:pPr lvl="1">
              <a:lnSpc>
                <a:spcPct val="90000"/>
              </a:lnSpc>
            </a:pPr>
            <a:r>
              <a:rPr lang="en-US" sz="2400" smtClean="0"/>
              <a:t>Show</a:t>
            </a:r>
          </a:p>
          <a:p>
            <a:pPr lvl="2">
              <a:lnSpc>
                <a:spcPct val="90000"/>
              </a:lnSpc>
            </a:pPr>
            <a:r>
              <a:rPr lang="en-US" sz="2000" smtClean="0"/>
              <a:t>It is useful to explicitly provide examples to users on how to perform an operation</a:t>
            </a:r>
          </a:p>
        </p:txBody>
      </p:sp>
      <p:sp>
        <p:nvSpPr>
          <p:cNvPr id="460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39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9A27F5A0-90D2-4F23-A2DF-EA63DD804EC1}"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Providing Help (continued)</a:t>
            </a:r>
          </a:p>
        </p:txBody>
      </p:sp>
      <p:sp>
        <p:nvSpPr>
          <p:cNvPr id="4710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Context-Sensitive Help</a:t>
            </a:r>
          </a:p>
          <a:p>
            <a:pPr lvl="1"/>
            <a:r>
              <a:rPr lang="en-US" smtClean="0"/>
              <a:t>Enables user to get field-specific help</a:t>
            </a:r>
          </a:p>
          <a:p>
            <a:r>
              <a:rPr lang="en-US" smtClean="0"/>
              <a:t>Users should always be returned to where they were when requesting help</a:t>
            </a:r>
          </a:p>
          <a:p>
            <a:pPr>
              <a:buFont typeface="Wingdings" pitchFamily="2" charset="2"/>
              <a:buNone/>
            </a:pPr>
            <a:endParaRPr lang="en-US" smtClean="0"/>
          </a:p>
        </p:txBody>
      </p:sp>
      <p:sp>
        <p:nvSpPr>
          <p:cNvPr id="471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498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5080CAE0-879E-4902-A25A-0EE7DC5F699A}"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4434" name="Text Box 102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5A0844FA-AC47-4517-8E33-34876300F951}" type="slidenum">
              <a:rPr lang="en-US" sz="1600">
                <a:solidFill>
                  <a:schemeClr val="tx1"/>
                </a:solidFill>
                <a:cs typeface="+mn-cs"/>
              </a:rPr>
              <a:pPr algn="ctr" eaLnBrk="0" hangingPunct="0">
                <a:defRPr/>
              </a:pPr>
              <a:t>31</a:t>
            </a:fld>
            <a:endParaRPr lang="en-US" sz="1600">
              <a:solidFill>
                <a:schemeClr val="tx1"/>
              </a:solidFill>
              <a:cs typeface="+mn-cs"/>
            </a:endParaRPr>
          </a:p>
        </p:txBody>
      </p:sp>
      <p:pic>
        <p:nvPicPr>
          <p:cNvPr id="274436" name="Picture 1028"/>
          <p:cNvPicPr>
            <a:picLocks noChangeAspect="1" noChangeArrowheads="1"/>
          </p:cNvPicPr>
          <p:nvPr/>
        </p:nvPicPr>
        <p:blipFill>
          <a:blip r:embed="rId2"/>
          <a:srcRect/>
          <a:stretch>
            <a:fillRect/>
          </a:stretch>
        </p:blipFill>
        <p:spPr bwMode="auto">
          <a:xfrm>
            <a:off x="1219200" y="762000"/>
            <a:ext cx="6985000" cy="5554663"/>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Designing Dialogues</a:t>
            </a:r>
          </a:p>
        </p:txBody>
      </p:sp>
      <p:sp>
        <p:nvSpPr>
          <p:cNvPr id="49154"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marL="533400" indent="-533400">
              <a:lnSpc>
                <a:spcPct val="90000"/>
              </a:lnSpc>
            </a:pPr>
            <a:r>
              <a:rPr lang="en-US" sz="2800" smtClean="0"/>
              <a:t>Dialogue</a:t>
            </a:r>
          </a:p>
          <a:p>
            <a:pPr marL="914400" lvl="1" indent="-457200">
              <a:lnSpc>
                <a:spcPct val="90000"/>
              </a:lnSpc>
            </a:pPr>
            <a:r>
              <a:rPr lang="en-US" sz="2400" smtClean="0"/>
              <a:t>Sequence in which information is displayed to and obtained from a user</a:t>
            </a:r>
          </a:p>
          <a:p>
            <a:pPr marL="533400" indent="-533400">
              <a:lnSpc>
                <a:spcPct val="90000"/>
              </a:lnSpc>
            </a:pPr>
            <a:r>
              <a:rPr lang="en-US" sz="2800" smtClean="0"/>
              <a:t>Primary design guideline is consistency in sequence of actions, keystrokes, and terminology</a:t>
            </a:r>
          </a:p>
          <a:p>
            <a:pPr marL="533400" indent="-533400">
              <a:lnSpc>
                <a:spcPct val="90000"/>
              </a:lnSpc>
            </a:pPr>
            <a:r>
              <a:rPr lang="en-US" sz="2800" smtClean="0"/>
              <a:t>Three step process:</a:t>
            </a:r>
          </a:p>
          <a:p>
            <a:pPr marL="914400" lvl="1" indent="-457200">
              <a:lnSpc>
                <a:spcPct val="90000"/>
              </a:lnSpc>
              <a:buSzTx/>
              <a:buFont typeface="Wingdings" pitchFamily="2" charset="2"/>
              <a:buNone/>
            </a:pPr>
            <a:r>
              <a:rPr lang="en-US" sz="2400" smtClean="0">
                <a:solidFill>
                  <a:srgbClr val="FF388C"/>
                </a:solidFill>
              </a:rPr>
              <a:t>1.</a:t>
            </a:r>
            <a:r>
              <a:rPr lang="en-US" sz="2400" smtClean="0"/>
              <a:t>	Design the dialogue sequence</a:t>
            </a:r>
          </a:p>
          <a:p>
            <a:pPr marL="914400" lvl="1" indent="-457200">
              <a:lnSpc>
                <a:spcPct val="90000"/>
              </a:lnSpc>
              <a:buSzTx/>
              <a:buFont typeface="Wingdings" pitchFamily="2" charset="2"/>
              <a:buNone/>
            </a:pPr>
            <a:r>
              <a:rPr lang="en-US" sz="2400" smtClean="0">
                <a:solidFill>
                  <a:srgbClr val="FF388C"/>
                </a:solidFill>
              </a:rPr>
              <a:t>2.</a:t>
            </a:r>
            <a:r>
              <a:rPr lang="en-US" sz="2400" smtClean="0"/>
              <a:t>	Build a prototype</a:t>
            </a:r>
          </a:p>
          <a:p>
            <a:pPr marL="914400" lvl="1" indent="-457200">
              <a:lnSpc>
                <a:spcPct val="90000"/>
              </a:lnSpc>
              <a:buSzTx/>
              <a:buFont typeface="Wingdings" pitchFamily="2" charset="2"/>
              <a:buNone/>
            </a:pPr>
            <a:r>
              <a:rPr lang="en-US" sz="2400" smtClean="0">
                <a:solidFill>
                  <a:srgbClr val="FF388C"/>
                </a:solidFill>
              </a:rPr>
              <a:t>3.</a:t>
            </a:r>
            <a:r>
              <a:rPr lang="en-US" sz="2400" smtClean="0"/>
              <a:t>	Assess usability</a:t>
            </a:r>
          </a:p>
          <a:p>
            <a:pPr marL="533400" indent="-533400">
              <a:lnSpc>
                <a:spcPct val="90000"/>
              </a:lnSpc>
              <a:buSzTx/>
              <a:buFont typeface="Wingdings" pitchFamily="2" charset="2"/>
              <a:buNone/>
            </a:pPr>
            <a:endParaRPr lang="en-US" sz="2800" smtClean="0"/>
          </a:p>
          <a:p>
            <a:pPr marL="914400" lvl="1" indent="-457200">
              <a:lnSpc>
                <a:spcPct val="90000"/>
              </a:lnSpc>
            </a:pPr>
            <a:endParaRPr lang="en-US" sz="2400" smtClean="0"/>
          </a:p>
        </p:txBody>
      </p:sp>
      <p:sp>
        <p:nvSpPr>
          <p:cNvPr id="491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60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1C2CBE3F-328C-4DEB-BD98-CD8E39CE70D8}" type="slidenum">
              <a:rPr lang="en-US" sz="1600">
                <a:solidFill>
                  <a:schemeClr val="tx1"/>
                </a:solidFill>
                <a:cs typeface="+mn-cs"/>
              </a:rPr>
              <a:pPr algn="ctr" eaLnBrk="0" hangingPunct="0">
                <a:defRPr/>
              </a:pPr>
              <a:t>32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marL="484632" fontAlgn="auto">
              <a:spcAft>
                <a:spcPts val="0"/>
              </a:spcAft>
              <a:defRPr/>
            </a:pPr>
            <a:r>
              <a:rPr lang="en-US" dirty="0">
                <a:solidFill>
                  <a:schemeClr val="accent1">
                    <a:tint val="83000"/>
                    <a:satMod val="150000"/>
                  </a:schemeClr>
                </a:solidFill>
              </a:rPr>
              <a:t>Designing the Dialogue Sequence</a:t>
            </a:r>
          </a:p>
        </p:txBody>
      </p:sp>
      <p:sp>
        <p:nvSpPr>
          <p:cNvPr id="259075"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fontScale="92500" lnSpcReduction="10000"/>
          </a:bodyPr>
          <a:lstStyle/>
          <a:p>
            <a:pPr marL="533400" indent="-533400" fontAlgn="auto">
              <a:lnSpc>
                <a:spcPct val="90000"/>
              </a:lnSpc>
              <a:spcAft>
                <a:spcPts val="0"/>
              </a:spcAft>
              <a:buFont typeface="Wingdings 2"/>
              <a:buChar char=""/>
              <a:defRPr/>
            </a:pPr>
            <a:r>
              <a:rPr lang="en-US" sz="2400"/>
              <a:t>Define the sequence</a:t>
            </a:r>
          </a:p>
          <a:p>
            <a:pPr marL="533400" indent="-533400" fontAlgn="auto">
              <a:lnSpc>
                <a:spcPct val="90000"/>
              </a:lnSpc>
              <a:spcAft>
                <a:spcPts val="0"/>
              </a:spcAft>
              <a:buFont typeface="Wingdings 2"/>
              <a:buChar char=""/>
              <a:defRPr/>
            </a:pPr>
            <a:r>
              <a:rPr lang="en-US" sz="2400"/>
              <a:t>Have a clear understanding of the user, task, technological, and environmental characteristics</a:t>
            </a:r>
          </a:p>
          <a:p>
            <a:pPr marL="533400" indent="-533400" fontAlgn="auto">
              <a:lnSpc>
                <a:spcPct val="90000"/>
              </a:lnSpc>
              <a:spcAft>
                <a:spcPts val="0"/>
              </a:spcAft>
              <a:buFont typeface="Wingdings 2"/>
              <a:buChar char=""/>
              <a:defRPr/>
            </a:pPr>
            <a:r>
              <a:rPr lang="en-US" sz="2400"/>
              <a:t>Dialogue Diagram</a:t>
            </a:r>
          </a:p>
          <a:p>
            <a:pPr marL="914400" lvl="1" indent="-457200" fontAlgn="auto">
              <a:lnSpc>
                <a:spcPct val="90000"/>
              </a:lnSpc>
              <a:spcAft>
                <a:spcPts val="0"/>
              </a:spcAft>
              <a:buFont typeface="Verdana"/>
              <a:buChar char="›"/>
              <a:defRPr/>
            </a:pPr>
            <a:r>
              <a:rPr lang="en-US" sz="2400"/>
              <a:t>A formal method for designing and representing human-computer dialogues using box and line diagrams</a:t>
            </a:r>
          </a:p>
          <a:p>
            <a:pPr marL="914400" lvl="1" indent="-457200" fontAlgn="auto">
              <a:lnSpc>
                <a:spcPct val="90000"/>
              </a:lnSpc>
              <a:spcAft>
                <a:spcPts val="0"/>
              </a:spcAft>
              <a:buFont typeface="Verdana"/>
              <a:buChar char="›"/>
              <a:defRPr/>
            </a:pPr>
            <a:r>
              <a:rPr lang="en-US" sz="2400"/>
              <a:t>Consists of a box with three sections</a:t>
            </a:r>
          </a:p>
          <a:p>
            <a:pPr marL="1295400" lvl="2" indent="-381000" fontAlgn="auto">
              <a:lnSpc>
                <a:spcPct val="90000"/>
              </a:lnSpc>
              <a:spcAft>
                <a:spcPts val="0"/>
              </a:spcAft>
              <a:buFont typeface="Wingdings" pitchFamily="2" charset="2"/>
              <a:buAutoNum type="arabicPeriod"/>
              <a:defRPr/>
            </a:pPr>
            <a:r>
              <a:rPr lang="en-US" sz="2000"/>
              <a:t>Top: Unique display reference number used by other displays for referencing dialogue</a:t>
            </a:r>
          </a:p>
          <a:p>
            <a:pPr marL="1295400" lvl="2" indent="-381000" fontAlgn="auto">
              <a:lnSpc>
                <a:spcPct val="90000"/>
              </a:lnSpc>
              <a:spcAft>
                <a:spcPts val="0"/>
              </a:spcAft>
              <a:buFont typeface="Wingdings" pitchFamily="2" charset="2"/>
              <a:buAutoNum type="arabicPeriod"/>
              <a:defRPr/>
            </a:pPr>
            <a:r>
              <a:rPr lang="en-US" sz="2000"/>
              <a:t>Middle: Contains the name or description of the display</a:t>
            </a:r>
          </a:p>
          <a:p>
            <a:pPr marL="1295400" lvl="2" indent="-381000" fontAlgn="auto">
              <a:lnSpc>
                <a:spcPct val="90000"/>
              </a:lnSpc>
              <a:spcAft>
                <a:spcPts val="0"/>
              </a:spcAft>
              <a:buFont typeface="Wingdings" pitchFamily="2" charset="2"/>
              <a:buAutoNum type="arabicPeriod"/>
              <a:defRPr/>
            </a:pPr>
            <a:r>
              <a:rPr lang="en-US" sz="2000"/>
              <a:t>Bottom: Contains display reference numbers that can be accessed from the current display</a:t>
            </a:r>
          </a:p>
        </p:txBody>
      </p:sp>
      <p:sp>
        <p:nvSpPr>
          <p:cNvPr id="501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9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C560C342-1F60-4BED-B180-5CC970F0978D}" type="slidenum">
              <a:rPr lang="en-US" sz="1600">
                <a:solidFill>
                  <a:schemeClr val="tx1"/>
                </a:solidFill>
                <a:cs typeface="+mn-cs"/>
              </a:rPr>
              <a:pPr algn="ctr" eaLnBrk="0" hangingPunct="0">
                <a:defRPr/>
              </a:pPr>
              <a:t>33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5458"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C33E682B-1E24-4F64-A6B1-F49EAFF9CCA5}" type="slidenum">
              <a:rPr lang="en-US" sz="1600">
                <a:solidFill>
                  <a:schemeClr val="tx1"/>
                </a:solidFill>
                <a:cs typeface="+mn-cs"/>
              </a:rPr>
              <a:pPr algn="ctr" eaLnBrk="0" hangingPunct="0">
                <a:defRPr/>
              </a:pPr>
              <a:t>34</a:t>
            </a:fld>
            <a:endParaRPr lang="en-US" sz="1600">
              <a:solidFill>
                <a:schemeClr val="tx1"/>
              </a:solidFill>
              <a:cs typeface="+mn-cs"/>
            </a:endParaRPr>
          </a:p>
        </p:txBody>
      </p:sp>
      <p:pic>
        <p:nvPicPr>
          <p:cNvPr id="51203" name="Picture 3" descr="FIG08_18"/>
          <p:cNvPicPr>
            <a:picLocks noChangeAspect="1" noChangeArrowheads="1"/>
          </p:cNvPicPr>
          <p:nvPr/>
        </p:nvPicPr>
        <p:blipFill>
          <a:blip r:embed="rId2"/>
          <a:srcRect/>
          <a:stretch>
            <a:fillRect/>
          </a:stretch>
        </p:blipFill>
        <p:spPr bwMode="auto">
          <a:xfrm>
            <a:off x="1447800" y="609600"/>
            <a:ext cx="6324600" cy="57150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609600" y="533400"/>
            <a:ext cx="7772400" cy="1219200"/>
          </a:xfrm>
        </p:spPr>
        <p:txBody>
          <a:bodyPr>
            <a:noAutofit/>
          </a:bodyPr>
          <a:lstStyle/>
          <a:p>
            <a:pPr marL="484632" fontAlgn="auto">
              <a:spcAft>
                <a:spcPts val="0"/>
              </a:spcAft>
              <a:defRPr/>
            </a:pPr>
            <a:r>
              <a:rPr lang="en-US" dirty="0">
                <a:solidFill>
                  <a:schemeClr val="accent1">
                    <a:tint val="83000"/>
                    <a:satMod val="150000"/>
                  </a:schemeClr>
                </a:solidFill>
              </a:rPr>
              <a:t>Designing Dialogues:</a:t>
            </a:r>
            <a:br>
              <a:rPr lang="en-US" dirty="0">
                <a:solidFill>
                  <a:schemeClr val="accent1">
                    <a:tint val="83000"/>
                    <a:satMod val="150000"/>
                  </a:schemeClr>
                </a:solidFill>
              </a:rPr>
            </a:br>
            <a:r>
              <a:rPr lang="en-US" dirty="0">
                <a:solidFill>
                  <a:schemeClr val="accent1">
                    <a:tint val="83000"/>
                    <a:satMod val="150000"/>
                  </a:schemeClr>
                </a:solidFill>
              </a:rPr>
              <a:t>Building Prototypes and Assessing Usability</a:t>
            </a:r>
          </a:p>
        </p:txBody>
      </p:sp>
      <p:sp>
        <p:nvSpPr>
          <p:cNvPr id="52226" name="Rectangle 3" descr="Rectangle: Click to edit Master text styles&#10;Second level&#10;Third level&#10;Fourth level&#10;Fifth level"/>
          <p:cNvSpPr>
            <a:spLocks noGrp="1" noChangeArrowheads="1"/>
          </p:cNvSpPr>
          <p:nvPr>
            <p:ph idx="1"/>
          </p:nvPr>
        </p:nvSpPr>
        <p:spPr>
          <a:xfrm>
            <a:off x="762000" y="2286000"/>
            <a:ext cx="7772400" cy="4419600"/>
          </a:xfrm>
        </p:spPr>
        <p:txBody>
          <a:bodyPr/>
          <a:lstStyle/>
          <a:p>
            <a:pPr marL="533400" indent="-533400"/>
            <a:r>
              <a:rPr lang="en-US" sz="2800" smtClean="0"/>
              <a:t>Activities often are optional </a:t>
            </a:r>
          </a:p>
          <a:p>
            <a:pPr marL="533400" indent="-533400"/>
            <a:r>
              <a:rPr lang="en-US" sz="2800" smtClean="0"/>
              <a:t>Task is simplified by using graphical design environment</a:t>
            </a:r>
          </a:p>
          <a:p>
            <a:pPr marL="533400" indent="-533400">
              <a:buFont typeface="Wingdings" pitchFamily="2" charset="2"/>
              <a:buNone/>
            </a:pPr>
            <a:endParaRPr lang="en-US" smtClean="0"/>
          </a:p>
          <a:p>
            <a:pPr marL="533400" indent="-533400"/>
            <a:endParaRPr lang="en-US" smtClean="0"/>
          </a:p>
          <a:p>
            <a:pPr marL="533400" indent="-533400">
              <a:buSzTx/>
              <a:buFont typeface="Wingdings" pitchFamily="2" charset="2"/>
              <a:buNone/>
            </a:pPr>
            <a:endParaRPr lang="en-US" smtClean="0"/>
          </a:p>
          <a:p>
            <a:pPr marL="914400" lvl="1" indent="-457200"/>
            <a:endParaRPr lang="en-US" smtClean="0"/>
          </a:p>
        </p:txBody>
      </p:sp>
      <p:sp>
        <p:nvSpPr>
          <p:cNvPr id="522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80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78FAE728-0F21-4E16-BFC3-A1930D99FF1F}"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648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9A4B45A0-1081-4B34-9123-5E22561F6CF9}" type="slidenum">
              <a:rPr lang="en-US" sz="1600">
                <a:solidFill>
                  <a:schemeClr val="tx1"/>
                </a:solidFill>
                <a:cs typeface="+mn-cs"/>
              </a:rPr>
              <a:pPr algn="ctr" eaLnBrk="0" hangingPunct="0">
                <a:defRPr/>
              </a:pPr>
              <a:t>36</a:t>
            </a:fld>
            <a:endParaRPr lang="en-US" sz="1600">
              <a:solidFill>
                <a:schemeClr val="tx1"/>
              </a:solidFill>
              <a:cs typeface="+mn-cs"/>
            </a:endParaRPr>
          </a:p>
        </p:txBody>
      </p:sp>
      <p:pic>
        <p:nvPicPr>
          <p:cNvPr id="53251" name="Picture 3" descr="FIG08_20"/>
          <p:cNvPicPr>
            <a:picLocks noChangeAspect="1" noChangeArrowheads="1"/>
          </p:cNvPicPr>
          <p:nvPr/>
        </p:nvPicPr>
        <p:blipFill>
          <a:blip r:embed="rId2"/>
          <a:srcRect/>
          <a:stretch>
            <a:fillRect/>
          </a:stretch>
        </p:blipFill>
        <p:spPr bwMode="auto">
          <a:xfrm>
            <a:off x="2462213" y="571500"/>
            <a:ext cx="4219575" cy="57150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noAutofit/>
          </a:bodyPr>
          <a:lstStyle/>
          <a:p>
            <a:pPr marL="484632" fontAlgn="auto">
              <a:spcAft>
                <a:spcPts val="0"/>
              </a:spcAft>
              <a:defRPr/>
            </a:pPr>
            <a:r>
              <a:rPr lang="en-US" sz="3200" dirty="0">
                <a:solidFill>
                  <a:schemeClr val="accent1">
                    <a:tint val="83000"/>
                    <a:satMod val="150000"/>
                  </a:schemeClr>
                </a:solidFill>
              </a:rPr>
              <a:t>PVF </a:t>
            </a:r>
            <a:r>
              <a:rPr lang="en-US" sz="3200" dirty="0" err="1">
                <a:solidFill>
                  <a:schemeClr val="accent1">
                    <a:tint val="83000"/>
                    <a:satMod val="150000"/>
                  </a:schemeClr>
                </a:solidFill>
              </a:rPr>
              <a:t>WebStore</a:t>
            </a:r>
            <a:r>
              <a:rPr lang="en-US" sz="3200" dirty="0">
                <a:solidFill>
                  <a:schemeClr val="accent1">
                    <a:tint val="83000"/>
                    <a:satMod val="150000"/>
                  </a:schemeClr>
                </a:solidFill>
              </a:rPr>
              <a:t>:</a:t>
            </a:r>
            <a:br>
              <a:rPr lang="en-US" sz="3200" dirty="0">
                <a:solidFill>
                  <a:schemeClr val="accent1">
                    <a:tint val="83000"/>
                    <a:satMod val="150000"/>
                  </a:schemeClr>
                </a:solidFill>
              </a:rPr>
            </a:br>
            <a:r>
              <a:rPr lang="en-US" sz="3200" dirty="0">
                <a:solidFill>
                  <a:schemeClr val="accent1">
                    <a:tint val="83000"/>
                    <a:satMod val="150000"/>
                  </a:schemeClr>
                </a:solidFill>
              </a:rPr>
              <a:t>Designing the Human Interface at Pine Valley Furniture</a:t>
            </a:r>
          </a:p>
        </p:txBody>
      </p:sp>
      <p:sp>
        <p:nvSpPr>
          <p:cNvPr id="257027" name="Rectangle 3" descr="Rectangle: Click to edit Master text styles&#10;Second level&#10;Third level&#10;Fourth level&#10;Fifth level"/>
          <p:cNvSpPr>
            <a:spLocks noGrp="1" noChangeArrowheads="1"/>
          </p:cNvSpPr>
          <p:nvPr>
            <p:ph idx="1"/>
          </p:nvPr>
        </p:nvSpPr>
        <p:spPr>
          <a:xfrm>
            <a:off x="838200" y="1905000"/>
            <a:ext cx="7772400" cy="4419600"/>
          </a:xfrm>
        </p:spPr>
        <p:txBody>
          <a:bodyPr>
            <a:normAutofit/>
          </a:bodyPr>
          <a:lstStyle/>
          <a:p>
            <a:pPr marL="533400" indent="-533400" fontAlgn="auto">
              <a:lnSpc>
                <a:spcPct val="90000"/>
              </a:lnSpc>
              <a:spcAft>
                <a:spcPts val="0"/>
              </a:spcAft>
              <a:buFont typeface="Wingdings 2"/>
              <a:buChar char=""/>
              <a:defRPr/>
            </a:pPr>
            <a:r>
              <a:rPr lang="en-US" dirty="0"/>
              <a:t>Design Guidelines</a:t>
            </a:r>
          </a:p>
          <a:p>
            <a:pPr marL="914400" lvl="1" indent="-457200" fontAlgn="auto">
              <a:lnSpc>
                <a:spcPct val="90000"/>
              </a:lnSpc>
              <a:spcAft>
                <a:spcPts val="0"/>
              </a:spcAft>
              <a:buFont typeface="Verdana"/>
              <a:buChar char="›"/>
              <a:defRPr/>
            </a:pPr>
            <a:r>
              <a:rPr lang="en-US" dirty="0"/>
              <a:t>Navigation via cookie crumbs</a:t>
            </a:r>
          </a:p>
          <a:p>
            <a:pPr marL="1295400" lvl="2" indent="-381000" fontAlgn="auto">
              <a:lnSpc>
                <a:spcPct val="90000"/>
              </a:lnSpc>
              <a:spcAft>
                <a:spcPts val="0"/>
              </a:spcAft>
              <a:buFont typeface="Wingdings 2"/>
              <a:buChar char=""/>
              <a:defRPr/>
            </a:pPr>
            <a:r>
              <a:rPr lang="en-US" dirty="0"/>
              <a:t>A technique that uses a series of tabs on a Web page to show users where they are and where they have been in the site</a:t>
            </a:r>
          </a:p>
          <a:p>
            <a:pPr marL="1295400" lvl="2" indent="-381000" fontAlgn="auto">
              <a:lnSpc>
                <a:spcPct val="90000"/>
              </a:lnSpc>
              <a:spcAft>
                <a:spcPts val="0"/>
              </a:spcAft>
              <a:buFont typeface="Wingdings 2"/>
              <a:buChar char=""/>
              <a:defRPr/>
            </a:pPr>
            <a:r>
              <a:rPr lang="en-US" dirty="0"/>
              <a:t>Tabs are hyperlinks to allow users to move backward easily within the site</a:t>
            </a:r>
          </a:p>
          <a:p>
            <a:pPr marL="1295400" lvl="2" indent="-381000" fontAlgn="auto">
              <a:lnSpc>
                <a:spcPct val="90000"/>
              </a:lnSpc>
              <a:spcAft>
                <a:spcPts val="0"/>
              </a:spcAft>
              <a:buFont typeface="Wingdings 2"/>
              <a:buChar char=""/>
              <a:defRPr/>
            </a:pPr>
            <a:r>
              <a:rPr lang="en-US" dirty="0"/>
              <a:t>Two important purposes:</a:t>
            </a:r>
          </a:p>
          <a:p>
            <a:pPr marL="1714500" lvl="3" indent="-342900" fontAlgn="auto">
              <a:lnSpc>
                <a:spcPct val="90000"/>
              </a:lnSpc>
              <a:spcAft>
                <a:spcPts val="0"/>
              </a:spcAft>
              <a:buFont typeface="Wingdings 2"/>
              <a:buChar char=""/>
              <a:defRPr/>
            </a:pPr>
            <a:r>
              <a:rPr lang="en-US" dirty="0"/>
              <a:t>Allows users to navigate to a point previously visited</a:t>
            </a:r>
          </a:p>
          <a:p>
            <a:pPr marL="1714500" lvl="3" indent="-342900" fontAlgn="auto">
              <a:lnSpc>
                <a:spcPct val="90000"/>
              </a:lnSpc>
              <a:spcAft>
                <a:spcPts val="0"/>
              </a:spcAft>
              <a:buFont typeface="Wingdings 2"/>
              <a:buChar char=""/>
              <a:defRPr/>
            </a:pPr>
            <a:r>
              <a:rPr lang="en-US" dirty="0"/>
              <a:t>Shows users where they have been and how far they have gone from point of entry into site</a:t>
            </a:r>
          </a:p>
          <a:p>
            <a:pPr marL="914400" lvl="1" indent="-457200" fontAlgn="auto">
              <a:lnSpc>
                <a:spcPct val="90000"/>
              </a:lnSpc>
              <a:spcAft>
                <a:spcPts val="0"/>
              </a:spcAft>
              <a:buFont typeface="Wingdings" pitchFamily="2" charset="2"/>
              <a:buNone/>
              <a:defRPr/>
            </a:pPr>
            <a:endParaRPr lang="en-US" dirty="0"/>
          </a:p>
          <a:p>
            <a:pPr marL="533400" indent="-533400" fontAlgn="auto">
              <a:lnSpc>
                <a:spcPct val="90000"/>
              </a:lnSpc>
              <a:spcAft>
                <a:spcPts val="0"/>
              </a:spcAft>
              <a:buSzTx/>
              <a:buFont typeface="Wingdings" pitchFamily="2" charset="2"/>
              <a:buNone/>
              <a:defRPr/>
            </a:pPr>
            <a:endParaRPr lang="en-US" dirty="0"/>
          </a:p>
          <a:p>
            <a:pPr marL="914400" lvl="1" indent="-457200" fontAlgn="auto">
              <a:lnSpc>
                <a:spcPct val="90000"/>
              </a:lnSpc>
              <a:spcAft>
                <a:spcPts val="0"/>
              </a:spcAft>
              <a:buFont typeface="Verdana"/>
              <a:buChar char="›"/>
              <a:defRPr/>
            </a:pPr>
            <a:endParaRPr lang="en-US" dirty="0"/>
          </a:p>
        </p:txBody>
      </p:sp>
      <p:sp>
        <p:nvSpPr>
          <p:cNvPr id="542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7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15E1BAF6-6189-4B8D-8321-D631B6542FA3}" type="slidenum">
              <a:rPr lang="en-US" sz="1600">
                <a:solidFill>
                  <a:schemeClr val="tx1"/>
                </a:solidFill>
                <a:cs typeface="+mn-cs"/>
              </a:rPr>
              <a:pPr algn="ctr" eaLnBrk="0" hangingPunct="0">
                <a:defRPr/>
              </a:pPr>
              <a:t>37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a:xfrm>
            <a:off x="609600" y="152400"/>
            <a:ext cx="7772400" cy="1371600"/>
          </a:xfrm>
        </p:spPr>
        <p:txBody>
          <a:bodyPr>
            <a:normAutofit fontScale="90000"/>
          </a:bodyPr>
          <a:lstStyle/>
          <a:p>
            <a:pPr marL="484632" fontAlgn="auto">
              <a:spcAft>
                <a:spcPts val="0"/>
              </a:spcAft>
              <a:defRPr/>
            </a:pPr>
            <a:r>
              <a:rPr lang="en-US" sz="3600" dirty="0">
                <a:solidFill>
                  <a:schemeClr val="accent1">
                    <a:tint val="83000"/>
                    <a:satMod val="150000"/>
                  </a:schemeClr>
                </a:solidFill>
              </a:rPr>
              <a:t>Electronic Commerce Application: </a:t>
            </a:r>
            <a:br>
              <a:rPr lang="en-US" sz="3600" dirty="0">
                <a:solidFill>
                  <a:schemeClr val="accent1">
                    <a:tint val="83000"/>
                    <a:satMod val="150000"/>
                  </a:schemeClr>
                </a:solidFill>
              </a:rPr>
            </a:br>
            <a:r>
              <a:rPr lang="en-US" sz="3600" dirty="0">
                <a:solidFill>
                  <a:schemeClr val="accent1">
                    <a:tint val="83000"/>
                    <a:satMod val="150000"/>
                  </a:schemeClr>
                </a:solidFill>
              </a:rPr>
              <a:t>Design Guidelines</a:t>
            </a:r>
          </a:p>
        </p:txBody>
      </p:sp>
      <p:sp>
        <p:nvSpPr>
          <p:cNvPr id="5529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Lightweight Graphics</a:t>
            </a:r>
          </a:p>
          <a:p>
            <a:pPr lvl="1">
              <a:lnSpc>
                <a:spcPct val="90000"/>
              </a:lnSpc>
            </a:pPr>
            <a:r>
              <a:rPr lang="en-US" sz="2400" smtClean="0"/>
              <a:t>The use of small images to allow a Web page to be displayed more quickly</a:t>
            </a:r>
          </a:p>
          <a:p>
            <a:pPr>
              <a:lnSpc>
                <a:spcPct val="90000"/>
              </a:lnSpc>
            </a:pPr>
            <a:r>
              <a:rPr lang="en-US" sz="2800" smtClean="0"/>
              <a:t>Forms and Data Integrity</a:t>
            </a:r>
          </a:p>
          <a:p>
            <a:pPr lvl="1">
              <a:lnSpc>
                <a:spcPct val="90000"/>
              </a:lnSpc>
            </a:pPr>
            <a:r>
              <a:rPr lang="en-US" sz="2400" smtClean="0"/>
              <a:t>All forms that record information should be clearly labeled and provide room for input</a:t>
            </a:r>
          </a:p>
          <a:p>
            <a:pPr lvl="1">
              <a:lnSpc>
                <a:spcPct val="90000"/>
              </a:lnSpc>
            </a:pPr>
            <a:r>
              <a:rPr lang="en-US" sz="2400" smtClean="0"/>
              <a:t>Clear examples of input should be provided to reduce data errors</a:t>
            </a:r>
          </a:p>
          <a:p>
            <a:pPr lvl="1">
              <a:lnSpc>
                <a:spcPct val="90000"/>
              </a:lnSpc>
            </a:pPr>
            <a:r>
              <a:rPr lang="en-US" sz="2400" smtClean="0"/>
              <a:t>Site must clearly designate which fields are required, which are optional, and which have a range of values</a:t>
            </a:r>
          </a:p>
        </p:txBody>
      </p:sp>
      <p:sp>
        <p:nvSpPr>
          <p:cNvPr id="552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010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FBC92C24-1F32-404B-A182-505BE18BE51B}" type="slidenum">
              <a:rPr lang="en-US" sz="1600">
                <a:solidFill>
                  <a:schemeClr val="tx1"/>
                </a:solidFill>
                <a:cs typeface="+mn-cs"/>
              </a:rPr>
              <a:pPr algn="ctr" eaLnBrk="0" hangingPunct="0">
                <a:defRPr/>
              </a:pPr>
              <a:t>38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a:xfrm>
            <a:off x="609600" y="304800"/>
            <a:ext cx="7772400" cy="1219200"/>
          </a:xfrm>
        </p:spPr>
        <p:txBody>
          <a:bodyPr>
            <a:normAutofit fontScale="90000"/>
          </a:bodyPr>
          <a:lstStyle/>
          <a:p>
            <a:pPr marL="484632" fontAlgn="auto">
              <a:spcAft>
                <a:spcPts val="0"/>
              </a:spcAft>
              <a:defRPr/>
            </a:pPr>
            <a:r>
              <a:rPr lang="en-US" sz="3600">
                <a:solidFill>
                  <a:schemeClr val="accent1">
                    <a:tint val="83000"/>
                    <a:satMod val="150000"/>
                  </a:schemeClr>
                </a:solidFill>
              </a:rPr>
              <a:t>Electronic Commerce Application: </a:t>
            </a:r>
            <a:br>
              <a:rPr lang="en-US" sz="3600">
                <a:solidFill>
                  <a:schemeClr val="accent1">
                    <a:tint val="83000"/>
                    <a:satMod val="150000"/>
                  </a:schemeClr>
                </a:solidFill>
              </a:rPr>
            </a:br>
            <a:r>
              <a:rPr lang="en-US" sz="3600">
                <a:solidFill>
                  <a:schemeClr val="accent1">
                    <a:tint val="83000"/>
                    <a:satMod val="150000"/>
                  </a:schemeClr>
                </a:solidFill>
              </a:rPr>
              <a:t>Design Guidelines (continued)</a:t>
            </a:r>
          </a:p>
        </p:txBody>
      </p:sp>
      <p:sp>
        <p:nvSpPr>
          <p:cNvPr id="563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 Template-based HTML</a:t>
            </a:r>
          </a:p>
          <a:p>
            <a:pPr lvl="1"/>
            <a:r>
              <a:rPr lang="en-US" smtClean="0"/>
              <a:t>Templates to display and process common attributes of higher-level, more abstract items</a:t>
            </a:r>
          </a:p>
          <a:p>
            <a:pPr lvl="1"/>
            <a:r>
              <a:rPr lang="en-US" smtClean="0"/>
              <a:t>Creates an interface that is very easy to maintain</a:t>
            </a:r>
          </a:p>
        </p:txBody>
      </p:sp>
      <p:sp>
        <p:nvSpPr>
          <p:cNvPr id="563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112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188BB69E-E1AC-4B2D-B4B7-B40CF397A9A4}" type="slidenum">
              <a:rPr lang="en-US" sz="1600">
                <a:solidFill>
                  <a:schemeClr val="tx1"/>
                </a:solidFill>
                <a:cs typeface="+mn-cs"/>
              </a:rPr>
              <a:pPr algn="ctr" eaLnBrk="0" hangingPunct="0">
                <a:defRPr/>
              </a:pPr>
              <a:t>39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a:t>
            </a:r>
          </a:p>
        </p:txBody>
      </p:sp>
      <p:sp>
        <p:nvSpPr>
          <p:cNvPr id="57346"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z="2800" smtClean="0"/>
              <a:t>Designing Forms and Reports</a:t>
            </a:r>
          </a:p>
          <a:p>
            <a:r>
              <a:rPr lang="en-US" sz="2800" smtClean="0"/>
              <a:t>General Guidelines for Designing Forms and Reports</a:t>
            </a:r>
          </a:p>
          <a:p>
            <a:r>
              <a:rPr lang="en-US" sz="2800" smtClean="0"/>
              <a:t>Formatting Text, Tables, and Lists</a:t>
            </a:r>
          </a:p>
          <a:p>
            <a:r>
              <a:rPr lang="en-US" sz="2800" smtClean="0"/>
              <a:t>Design Guidelines for Interfaces</a:t>
            </a:r>
          </a:p>
          <a:p>
            <a:pPr lvl="1"/>
            <a:r>
              <a:rPr lang="en-US" sz="2400" smtClean="0"/>
              <a:t>Layout design</a:t>
            </a:r>
          </a:p>
          <a:p>
            <a:pPr lvl="1"/>
            <a:r>
              <a:rPr lang="en-US" sz="2400" smtClean="0"/>
              <a:t>Structuring data-entry fields</a:t>
            </a:r>
          </a:p>
          <a:p>
            <a:pPr lvl="1"/>
            <a:r>
              <a:rPr lang="en-US" sz="2400" smtClean="0"/>
              <a:t>Providing feedback</a:t>
            </a:r>
          </a:p>
          <a:p>
            <a:pPr lvl="1"/>
            <a:r>
              <a:rPr lang="en-US" sz="2400" smtClean="0"/>
              <a:t>Designing help</a:t>
            </a:r>
          </a:p>
        </p:txBody>
      </p:sp>
      <p:sp>
        <p:nvSpPr>
          <p:cNvPr id="573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24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75F8D89B-119D-460A-A0CB-1D5DFB321F43}" type="slidenum">
              <a:rPr lang="en-US" sz="1600">
                <a:solidFill>
                  <a:schemeClr val="tx1"/>
                </a:solidFill>
                <a:cs typeface="+mn-cs"/>
              </a:rPr>
              <a:pPr algn="ctr" eaLnBrk="0" hangingPunct="0">
                <a:defRPr/>
              </a:pPr>
              <a:t>40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 (continued)</a:t>
            </a:r>
          </a:p>
        </p:txBody>
      </p:sp>
      <p:sp>
        <p:nvSpPr>
          <p:cNvPr id="58370"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mtClean="0"/>
              <a:t>Human-Computer Dialogue Design</a:t>
            </a:r>
          </a:p>
          <a:p>
            <a:r>
              <a:rPr lang="en-US" smtClean="0"/>
              <a:t>Interface Design Guidelines Unique to the Internet</a:t>
            </a:r>
          </a:p>
          <a:p>
            <a:endParaRPr lang="en-US" smtClean="0"/>
          </a:p>
          <a:p>
            <a:endParaRPr lang="en-US" smtClean="0"/>
          </a:p>
        </p:txBody>
      </p:sp>
      <p:sp>
        <p:nvSpPr>
          <p:cNvPr id="583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317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8.</a:t>
            </a:r>
            <a:fld id="{F133D125-EB57-42A3-BFBF-A5AFF0F9687F}" type="slidenum">
              <a:rPr lang="en-US" sz="1600">
                <a:solidFill>
                  <a:schemeClr val="tx1"/>
                </a:solidFill>
                <a:cs typeface="+mn-cs"/>
              </a:rPr>
              <a:pPr algn="ctr" eaLnBrk="0" hangingPunct="0">
                <a:defRPr/>
              </a:pPr>
              <a:t>41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67587"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67588"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3631</TotalTime>
  <Words>2070</Words>
  <Application>Microsoft Office PowerPoint</Application>
  <PresentationFormat>On-screen Show (4:3)</PresentationFormat>
  <Paragraphs>297</Paragraphs>
  <Slides>42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vt:lpstr>
      <vt:lpstr>Learning Objectives</vt:lpstr>
      <vt:lpstr>Learning Objectives (continued)</vt:lpstr>
      <vt:lpstr>Learning Objectives (continued)</vt:lpstr>
      <vt:lpstr>Designing Forms and Reports </vt:lpstr>
      <vt:lpstr>Designing Forms and Reports Key Concepts</vt:lpstr>
      <vt:lpstr>The Process of Designing Forms and Reports</vt:lpstr>
      <vt:lpstr>The Process of Designing Forms and Reports (continued)</vt:lpstr>
      <vt:lpstr>Deliverables and Outcome</vt:lpstr>
      <vt:lpstr>General Formatting Guidelines for Forms and Reports</vt:lpstr>
      <vt:lpstr>PowerPoint Presentation</vt:lpstr>
      <vt:lpstr>PowerPoint Presentation</vt:lpstr>
      <vt:lpstr>General Formatting Guidelines for Forms and Reports (continued)</vt:lpstr>
      <vt:lpstr>General Formatting Guidelines for Forms and Reports (continued)</vt:lpstr>
      <vt:lpstr>General Formatting Guidelines for Forms and Reports (continued)</vt:lpstr>
      <vt:lpstr>General Formatting Guidelines for Forms and Reports (continued)</vt:lpstr>
      <vt:lpstr>PowerPoint Presentation</vt:lpstr>
      <vt:lpstr>PowerPoint Presentation</vt:lpstr>
      <vt:lpstr>Designing Interfaces and Dialogues</vt:lpstr>
      <vt:lpstr>The Process of Designing Interfaces and Dialogues</vt:lpstr>
      <vt:lpstr>The Process of Designing Interfaces and Dialogues (continued)</vt:lpstr>
      <vt:lpstr>Designing Interfaces</vt:lpstr>
      <vt:lpstr>Designing Layouts</vt:lpstr>
      <vt:lpstr>Structuring Data Entry</vt:lpstr>
      <vt:lpstr>Controlling Data Input</vt:lpstr>
      <vt:lpstr>PowerPoint Presentation</vt:lpstr>
      <vt:lpstr>PowerPoint Presentation</vt:lpstr>
      <vt:lpstr>Providing Feedback</vt:lpstr>
      <vt:lpstr>Providing Help</vt:lpstr>
      <vt:lpstr>Providing Help (continued)</vt:lpstr>
      <vt:lpstr>PowerPoint Presentation</vt:lpstr>
      <vt:lpstr>Designing Dialogues</vt:lpstr>
      <vt:lpstr>Designing the Dialogue Sequence</vt:lpstr>
      <vt:lpstr>PowerPoint Presentation</vt:lpstr>
      <vt:lpstr>Designing Dialogues: Building Prototypes and Assessing Usability</vt:lpstr>
      <vt:lpstr>PowerPoint Presentation</vt:lpstr>
      <vt:lpstr>PVF WebStore: Designing the Human Interface at Pine Valley Furniture</vt:lpstr>
      <vt:lpstr>Electronic Commerce Application:  Design Guidelines</vt:lpstr>
      <vt:lpstr>Electronic Commerce Application:  Design Guidelines (continued)</vt:lpstr>
      <vt:lpstr>Summary</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Russo</dc:creator>
  <cp:lastModifiedBy>Kim Norbuta</cp:lastModifiedBy>
  <cp:revision>103</cp:revision>
  <cp:lastPrinted>1601-01-01T00:00:00Z</cp:lastPrinted>
  <dcterms:created xsi:type="dcterms:W3CDTF">2011-07-26T15:58:09Z</dcterms:created>
  <dcterms:modified xsi:type="dcterms:W3CDTF">2014-10-24T14:38:19Z</dcterms:modified>
</cp:coreProperties>
</file>