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69" r:id="rId4"/>
    <p:sldId id="267" r:id="rId5"/>
    <p:sldId id="268" r:id="rId6"/>
    <p:sldId id="272" r:id="rId7"/>
    <p:sldId id="259" r:id="rId8"/>
    <p:sldId id="257" r:id="rId9"/>
    <p:sldId id="273" r:id="rId10"/>
    <p:sldId id="274" r:id="rId11"/>
    <p:sldId id="275" r:id="rId12"/>
    <p:sldId id="277" r:id="rId13"/>
    <p:sldId id="276" r:id="rId14"/>
    <p:sldId id="279" r:id="rId15"/>
    <p:sldId id="278" r:id="rId16"/>
    <p:sldId id="280" r:id="rId17"/>
    <p:sldId id="281" r:id="rId18"/>
  </p:sldIdLst>
  <p:sldSz cx="9144000" cy="6858000" type="screen4x3"/>
  <p:notesSz cx="6858000" cy="9144000"/>
  <p:defaultTextStyle>
    <a:defPPr>
      <a:defRPr lang="ar-Y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52" d="100"/>
          <a:sy n="52" d="100"/>
        </p:scale>
        <p:origin x="48" y="5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C474917-7105-4C25-A512-6E026823641C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Y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67578C4-2301-45C3-B774-BE11507FB602}" type="slidenum">
              <a:rPr lang="ar-YE" smtClean="0"/>
              <a:pPr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46111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Y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  <a:alpha val="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B363-0EF1-473D-BA50-BD5C825620BB}" type="datetimeFigureOut">
              <a:rPr lang="ar-YE" smtClean="0"/>
              <a:pPr/>
              <a:t>05/04/1434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Y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66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Cabling Network</a:t>
            </a:r>
            <a:br>
              <a:rPr lang="en-US" sz="66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</a:br>
            <a:r>
              <a:rPr lang="en-US" sz="28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(Twisted pair,coax ial cable,fiber optic)</a:t>
            </a:r>
            <a:br>
              <a:rPr lang="en-US" sz="28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</a:br>
            <a:r>
              <a:rPr lang="en-US" sz="3200" b="1" cap="all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chapter </a:t>
            </a:r>
            <a:r>
              <a:rPr lang="en-US" sz="32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5</a:t>
            </a:r>
            <a:endParaRPr lang="ar-YE" sz="66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T.HASAN ABDULRAQIB ASAAD</a:t>
            </a:r>
          </a:p>
          <a:p>
            <a:endParaRPr lang="ar-YE" sz="24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66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Twisted pair</a:t>
            </a:r>
            <a:endParaRPr lang="ar-YE" sz="66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Twisted Pair     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يوجد نوعان هما 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محمي (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Sheild Twisted Pair &lt;STP&gt;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.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غير محمي (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Unsheild Twisted Pair &lt;UTP&gt;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.</a:t>
            </a:r>
          </a:p>
          <a:p>
            <a:pPr marL="0" indent="0" algn="r">
              <a:buNone/>
            </a:pPr>
            <a:endParaRPr lang="ar-YE" sz="1800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200" y="1905000"/>
            <a:ext cx="6096000" cy="472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7451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يتكون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UTP</a:t>
            </a:r>
            <a:r>
              <a:rPr lang="ar-YE" sz="2000" b="1" u="sng" dirty="0" smtClean="0">
                <a:solidFill>
                  <a:srgbClr val="C00000"/>
                </a:solidFill>
              </a:rPr>
              <a:t> من عدة أنواع هي :</a:t>
            </a: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مـــــــــــــــــلاحظة:</a:t>
            </a:r>
          </a:p>
          <a:p>
            <a:pPr marL="0" indent="0">
              <a:buNone/>
            </a:pPr>
            <a:r>
              <a:rPr lang="ar-YE" sz="1800" b="1" dirty="0" smtClean="0"/>
              <a:t>يعتبر الـ </a:t>
            </a:r>
            <a:r>
              <a:rPr lang="en-US" sz="1800" b="1" dirty="0" smtClean="0"/>
              <a:t>UTP </a:t>
            </a:r>
            <a:r>
              <a:rPr lang="ar-SA" sz="1800" b="1" dirty="0" smtClean="0"/>
              <a:t> عرضه للتداخلات الكهرومغناطيسية .</a:t>
            </a:r>
            <a:endParaRPr lang="ar-YE" sz="1800" b="1" dirty="0" smtClean="0"/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ar-SA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أولاَ:غير المحمي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UTP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371600" y="1295400"/>
          <a:ext cx="6172200" cy="441645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1543050"/>
                <a:gridCol w="1543050"/>
                <a:gridCol w="1543050"/>
                <a:gridCol w="1543050"/>
              </a:tblGrid>
              <a:tr h="426196">
                <a:tc>
                  <a:txBody>
                    <a:bodyPr/>
                    <a:lstStyle/>
                    <a:p>
                      <a:pPr algn="ctr" rtl="1"/>
                      <a:r>
                        <a:rPr lang="ar-YE" sz="2400" dirty="0" smtClean="0"/>
                        <a:t>الفئـــــه</a:t>
                      </a:r>
                      <a:endParaRPr lang="ar-Y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sz="2400" dirty="0" smtClean="0"/>
                        <a:t>السرعـــــة</a:t>
                      </a:r>
                      <a:endParaRPr lang="ar-Y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sz="2400" dirty="0" smtClean="0"/>
                        <a:t>المسافــــــة</a:t>
                      </a:r>
                      <a:endParaRPr lang="ar-Y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sz="2400" dirty="0" smtClean="0"/>
                        <a:t>الأستخدام</a:t>
                      </a:r>
                      <a:endParaRPr lang="ar-YE" sz="2400" dirty="0"/>
                    </a:p>
                  </a:txBody>
                  <a:tcPr/>
                </a:tc>
              </a:tr>
              <a:tr h="426196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CAT1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100kbps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5-6km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Telephone wire</a:t>
                      </a:r>
                      <a:endParaRPr lang="ar-YE" sz="1600" dirty="0"/>
                    </a:p>
                  </a:txBody>
                  <a:tcPr/>
                </a:tc>
              </a:tr>
              <a:tr h="708826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CAT2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2mbps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5-6km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Telephone</a:t>
                      </a:r>
                      <a:r>
                        <a:rPr lang="en-US" sz="1600" baseline="0" dirty="0" smtClean="0"/>
                        <a:t> and ISDN</a:t>
                      </a:r>
                    </a:p>
                    <a:p>
                      <a:pPr algn="ctr" rtl="1"/>
                      <a:r>
                        <a:rPr lang="ar-SA" sz="1600" baseline="0" dirty="0" smtClean="0"/>
                        <a:t>(خطوط مؤجرة)</a:t>
                      </a:r>
                      <a:endParaRPr lang="ar-YE" sz="1600" dirty="0"/>
                    </a:p>
                  </a:txBody>
                  <a:tcPr/>
                </a:tc>
              </a:tr>
              <a:tr h="498803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CAT3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10mbps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100m(with less noise)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LAN</a:t>
                      </a:r>
                      <a:endParaRPr lang="ar-YE" sz="1600" dirty="0"/>
                    </a:p>
                  </a:txBody>
                  <a:tcPr/>
                </a:tc>
              </a:tr>
              <a:tr h="426196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CAT4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20mbps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100m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LAN</a:t>
                      </a:r>
                      <a:endParaRPr lang="ar-YE" sz="1600" dirty="0"/>
                    </a:p>
                  </a:txBody>
                  <a:tcPr/>
                </a:tc>
              </a:tr>
              <a:tr h="426196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CAT5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100mbps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100m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LAN</a:t>
                      </a:r>
                      <a:endParaRPr lang="ar-YE" sz="1600" dirty="0"/>
                    </a:p>
                  </a:txBody>
                  <a:tcPr/>
                </a:tc>
              </a:tr>
              <a:tr h="426196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CAT5e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250mbps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100m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LAN</a:t>
                      </a:r>
                      <a:endParaRPr lang="ar-YE" sz="1600" dirty="0"/>
                    </a:p>
                  </a:txBody>
                  <a:tcPr/>
                </a:tc>
              </a:tr>
              <a:tr h="426196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CAT6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250mbps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100m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LAN</a:t>
                      </a:r>
                      <a:endParaRPr lang="ar-YE" sz="1600" dirty="0"/>
                    </a:p>
                  </a:txBody>
                  <a:tcPr/>
                </a:tc>
              </a:tr>
              <a:tr h="426196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CAT7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600mhz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100m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LAN</a:t>
                      </a:r>
                      <a:endParaRPr lang="ar-YE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ماهو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STP</a:t>
            </a:r>
            <a:r>
              <a:rPr lang="ar-YE" sz="20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هو عباره عن زوج من الأسلاك الملتوية محميه بطبقة من القصدير و غلاف بلاستيكي خارجي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تتفوق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STP </a:t>
            </a:r>
            <a:r>
              <a:rPr lang="ar-SA" sz="1800" b="1" u="sng" dirty="0" smtClean="0">
                <a:solidFill>
                  <a:srgbClr val="C00000"/>
                </a:solidFill>
              </a:rPr>
              <a:t> على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UTP </a:t>
            </a:r>
            <a:r>
              <a:rPr lang="ar-SA" sz="1800" b="1" u="sng" dirty="0" smtClean="0">
                <a:solidFill>
                  <a:srgbClr val="C00000"/>
                </a:solidFill>
              </a:rPr>
              <a:t> بالأتي</a:t>
            </a:r>
            <a:r>
              <a:rPr lang="ar-YE" sz="18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أقل عرضه للتداخل الكهرومغناطيسي .</a:t>
            </a:r>
          </a:p>
          <a:p>
            <a:pPr marL="0" indent="0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تستطيع دعم الارسال لمسافات أطول .</a:t>
            </a:r>
          </a:p>
          <a:p>
            <a:pPr marL="0" indent="0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3- في بعض الظروف توفر سرعات بث أكبر .</a:t>
            </a: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066800"/>
          </a:xfrm>
        </p:spPr>
        <p:txBody>
          <a:bodyPr/>
          <a:lstStyle/>
          <a:p>
            <a:pPr algn="r"/>
            <a:r>
              <a:rPr lang="ar-SA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ثانياَ:المحمي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STP</a:t>
            </a:r>
            <a:r>
              <a:rPr lang="ar-SA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28600" y="1676400"/>
            <a:ext cx="4952999" cy="4953000"/>
            <a:chOff x="228601" y="1828800"/>
            <a:chExt cx="4952999" cy="4724400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228601" y="1828800"/>
              <a:ext cx="4952999" cy="47244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ctangle 10"/>
            <p:cNvSpPr/>
            <p:nvPr/>
          </p:nvSpPr>
          <p:spPr>
            <a:xfrm>
              <a:off x="533400" y="4724400"/>
              <a:ext cx="4572000" cy="167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YE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66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Coaxial cable</a:t>
            </a:r>
            <a:endParaRPr lang="ar-YE" sz="66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Coaxial Cable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ماهو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Coaxial Cable</a:t>
            </a:r>
            <a:r>
              <a:rPr lang="ar-YE" sz="20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هو عبارة عن سلك نحاسي محاط بطبقة عازلة وملفوف عليها من الخارج سلك آخر معدني ثم يلي طبقة خارجية للحماية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استخدامات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Coaxial Cable</a:t>
            </a:r>
            <a:r>
              <a:rPr lang="ar-YE" sz="18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يستخدم في شبكات التلفزيون والأذاعة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ينقسم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Coaxial Cable</a:t>
            </a:r>
            <a:r>
              <a:rPr lang="ar-YE" sz="1800" b="1" u="sng" dirty="0" smtClean="0">
                <a:solidFill>
                  <a:srgbClr val="C00000"/>
                </a:solidFill>
              </a:rPr>
              <a:t> الى نوعان :</a:t>
            </a:r>
          </a:p>
          <a:p>
            <a:pPr marL="0" indent="0" algn="r">
              <a:buNone/>
            </a:pP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</a:t>
            </a: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Thin</a:t>
            </a: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marL="0" indent="0" algn="r">
              <a:buNone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يستخدم في الاماكن العامه (شبكات صغيرة) .</a:t>
            </a:r>
          </a:p>
          <a:p>
            <a:pPr marL="0" indent="0" algn="r">
              <a:buFontTx/>
              <a:buChar char="-"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يصل الى مسافة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200m </a:t>
            </a: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marL="0" indent="0" algn="r">
              <a:buNone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التكلفة أقل .</a:t>
            </a:r>
          </a:p>
          <a:p>
            <a:pPr marL="0" indent="0" algn="r">
              <a:buNone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سرعة نقل عالية 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</a:t>
            </a: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Thick </a:t>
            </a: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marL="0" indent="0" algn="r">
              <a:buNone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يستخدم في الأماكن التي يوجد بها ضوضاء مثل (محطة الكهرباء) (شبكات كبيرة) .</a:t>
            </a: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تكلفة أغلى .</a:t>
            </a:r>
          </a:p>
          <a:p>
            <a:pPr marL="0" indent="0" algn="r">
              <a:buNone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سرعة نقل عالية .</a:t>
            </a:r>
          </a:p>
          <a:p>
            <a:pPr marL="0" indent="0" algn="r">
              <a:buNone/>
            </a:pP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 يصل الى مسافة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500m </a:t>
            </a:r>
            <a:r>
              <a:rPr lang="ar-SA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4848225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895600"/>
            <a:ext cx="1905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Fiber Optic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ماهو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Fiber Optic</a:t>
            </a:r>
            <a:r>
              <a:rPr lang="ar-YE" sz="20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هو عبارة عن ألياف ضوئيه تستخدم في نقل البانات بسرعة عالية جداَ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مميزات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Fiber Optic</a:t>
            </a:r>
            <a:r>
              <a:rPr lang="ar-YE" sz="18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سريع جداَ .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يصل لمسافات طويله ويمكن تكرار السلك الى 12 مرة .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3- عالي الأمنية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عيوب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Fiber Optic</a:t>
            </a:r>
            <a:r>
              <a:rPr lang="ar-YE" sz="18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غالي الثمن .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صعوبة في التركيب ويحتاج الى خبراء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استخدامات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Fiber Optic</a:t>
            </a:r>
            <a:r>
              <a:rPr lang="ar-YE" sz="18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الأتصالات .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في شبكات الـ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LAN,MAN,WAN</a:t>
            </a: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3- في تقنية شبكات الـ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Sonet 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 أنواع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Fiber Optic</a:t>
            </a:r>
            <a:r>
              <a:rPr lang="ar-YE" sz="18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1-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Single-mode Fiber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Multi-mode Fiber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" y="457200"/>
            <a:ext cx="3113548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04800" y="3429000"/>
            <a:ext cx="3113548" cy="304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0" y="60198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Multi-Mode</a:t>
            </a:r>
            <a:endParaRPr lang="ar-YE" dirty="0"/>
          </a:p>
        </p:txBody>
      </p:sp>
      <p:sp>
        <p:nvSpPr>
          <p:cNvPr id="12" name="Rectangle 11"/>
          <p:cNvSpPr/>
          <p:nvPr/>
        </p:nvSpPr>
        <p:spPr>
          <a:xfrm>
            <a:off x="0" y="28956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Single-Mode</a:t>
            </a:r>
            <a:endParaRPr lang="ar-YE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8200" y="22828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+mj-lt"/>
                <a:ea typeface="+mj-ea"/>
                <a:cs typeface="+mj-cs"/>
              </a:rPr>
              <a:t>Three way</a:t>
            </a:r>
            <a:r>
              <a:rPr kumimoji="0" lang="en-US" sz="2800" b="1" i="0" u="none" strike="noStrike" kern="1200" cap="all" spc="0" normalizeH="0" noProof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to </a:t>
            </a:r>
            <a:r>
              <a:rPr kumimoji="0" lang="en-US" sz="2800" b="1" i="0" u="none" strike="noStrike" kern="1200" cap="all" spc="0" normalizeH="0" baseline="0" noProof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+mj-lt"/>
                <a:ea typeface="+mj-ea"/>
                <a:cs typeface="+mj-cs"/>
              </a:rPr>
              <a:t>Installation of Wiring using (UTP)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j-lt"/>
                <a:ea typeface="+mj-ea"/>
                <a:cs typeface="+mj-cs"/>
              </a:rPr>
              <a:t>(Straight-through cable,crossover cable ,rolled cable)</a:t>
            </a:r>
            <a:endParaRPr kumimoji="0" lang="ar-YE" sz="2000" b="1" i="0" u="none" strike="noStrike" kern="1200" cap="all" spc="0" normalizeH="0" baseline="0" noProof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Straight-through cable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يستخدم 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Straight-through cable</a:t>
            </a:r>
            <a:r>
              <a:rPr lang="ar-YE" sz="2000" b="1" u="sng" dirty="0" smtClean="0">
                <a:solidFill>
                  <a:srgbClr val="C00000"/>
                </a:solidFill>
              </a:rPr>
              <a:t> لربط الأجهزة التالية :</a:t>
            </a: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تتكون أسلاك الـ </a:t>
            </a: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UTP </a:t>
            </a: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من ثمانية ألوان وهي :</a:t>
            </a: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1397000"/>
          <a:ext cx="6096000" cy="185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Router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Switch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PC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Switch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Server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Switch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PC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Hub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Server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Hub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3733800" y="1600200"/>
            <a:ext cx="1600200" cy="1449388"/>
            <a:chOff x="3733800" y="1600200"/>
            <a:chExt cx="1600200" cy="1449388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3733800" y="1600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733800" y="1981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3733800" y="2362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733800" y="2743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3733800" y="30480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28600" y="35814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 rot="10800000">
            <a:off x="3671248" y="3761096"/>
            <a:ext cx="1447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28600" y="35814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{BC89EF96-8CEA-46FF-86C4-4CE0E7609802}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dirty="0" smtClean="0"/>
                        <a:t>1</a:t>
                      </a:r>
                      <a:endParaRPr lang="ar-YE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2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3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4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6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Straight-through cable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*تركيب أسلاك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UTP </a:t>
            </a:r>
            <a:r>
              <a:rPr lang="ar-YE" sz="2000" b="1" u="sng" dirty="0" smtClean="0">
                <a:solidFill>
                  <a:srgbClr val="C00000"/>
                </a:solidFill>
              </a:rPr>
              <a:t> بطريقة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Straight-Through cable</a:t>
            </a:r>
            <a:r>
              <a:rPr lang="ar-YE" sz="2000" b="1" u="sng" dirty="0" smtClean="0">
                <a:solidFill>
                  <a:srgbClr val="C00000"/>
                </a:solidFill>
              </a:rPr>
              <a:t> :</a:t>
            </a: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7912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3581400" y="2133600"/>
            <a:ext cx="2133600" cy="2744788"/>
            <a:chOff x="3581400" y="1600200"/>
            <a:chExt cx="2133600" cy="2744788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3581400" y="1600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581400" y="1981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3581400" y="2362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3581400" y="2743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581400" y="3124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3581400" y="3505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581400" y="3886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581400" y="43434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12192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Switch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70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Router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858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1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4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0772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4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85800" y="5334000"/>
            <a:ext cx="79248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حيث أن أهم الأسلاك هو (1،2،3،6) حيث أن (1،2) تقوم بأرسال البيانات و (3،6) تستقبل البيانات أما (4،5،7،8) تستخدم في أغراض أخرى 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Crossover cable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يستخدم 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Crossover cable</a:t>
            </a:r>
            <a:r>
              <a:rPr lang="ar-YE" sz="2000" b="1" u="sng" dirty="0" smtClean="0">
                <a:solidFill>
                  <a:srgbClr val="C00000"/>
                </a:solidFill>
              </a:rPr>
              <a:t> لربط الأجهزة التالية :</a:t>
            </a: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تتكون أسلاك الـ </a:t>
            </a:r>
            <a:r>
              <a:rPr lang="en-US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UTP </a:t>
            </a:r>
            <a:r>
              <a:rPr lang="ar-YE" sz="1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من ثمانية ألوان وهي :</a:t>
            </a: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1295400"/>
          <a:ext cx="6096000" cy="22250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Switch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Switch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Hub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Switch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Hub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Hub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Router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Router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PC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Router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PC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PC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28600" y="35814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 rot="10800000">
            <a:off x="3657600" y="3774744"/>
            <a:ext cx="1447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28600" y="35814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4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733800" y="1488744"/>
            <a:ext cx="1600200" cy="1830388"/>
            <a:chOff x="3733800" y="1600200"/>
            <a:chExt cx="1600200" cy="1830388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3733800" y="1600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733800" y="1981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3733800" y="2362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733800" y="27432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3733800" y="30480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3733800" y="3429000"/>
              <a:ext cx="1600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Crossover cable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*تركيب أسلاك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UTP </a:t>
            </a:r>
            <a:r>
              <a:rPr lang="ar-YE" sz="2000" b="1" u="sng" dirty="0" smtClean="0">
                <a:solidFill>
                  <a:srgbClr val="C00000"/>
                </a:solidFill>
              </a:rPr>
              <a:t> بطريقة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Crossover cable</a:t>
            </a:r>
            <a:r>
              <a:rPr lang="ar-YE" sz="2000" b="1" u="sng" dirty="0" smtClean="0">
                <a:solidFill>
                  <a:srgbClr val="C00000"/>
                </a:solidFill>
              </a:rPr>
              <a:t> :</a:t>
            </a: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7912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2192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Switch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70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Switch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858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4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0772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4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85800" y="5334000"/>
            <a:ext cx="79248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YE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حيث أن أهم الأسلاك هو (1،2،3،6) حيث أن (1،2) تقوم بأرسال البيانات و (3،6) تستقبل البيانات أما (4،5،7،8) تستخدم في أغراض أخرى .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3505200" y="2057400"/>
            <a:ext cx="2286000" cy="2820988"/>
            <a:chOff x="3505200" y="2057400"/>
            <a:chExt cx="2286000" cy="2820988"/>
          </a:xfrm>
        </p:grpSpPr>
        <p:grpSp>
          <p:nvGrpSpPr>
            <p:cNvPr id="49" name="Group 48"/>
            <p:cNvGrpSpPr/>
            <p:nvPr/>
          </p:nvGrpSpPr>
          <p:grpSpPr>
            <a:xfrm>
              <a:off x="3505200" y="2057400"/>
              <a:ext cx="2286000" cy="1981200"/>
              <a:chOff x="3505200" y="2057400"/>
              <a:chExt cx="2286000" cy="1981200"/>
            </a:xfrm>
          </p:grpSpPr>
          <p:cxnSp>
            <p:nvCxnSpPr>
              <p:cNvPr id="33" name="Elbow Connector 32"/>
              <p:cNvCxnSpPr/>
              <p:nvPr/>
            </p:nvCxnSpPr>
            <p:spPr>
              <a:xfrm rot="10800000" flipV="1">
                <a:off x="3505200" y="2133600"/>
                <a:ext cx="2209800" cy="762000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/>
              <p:cNvCxnSpPr/>
              <p:nvPr/>
            </p:nvCxnSpPr>
            <p:spPr>
              <a:xfrm rot="10800000" flipV="1">
                <a:off x="3505200" y="2514600"/>
                <a:ext cx="2286000" cy="1524000"/>
              </a:xfrm>
              <a:prstGeom prst="bentConnector3">
                <a:avLst>
                  <a:gd name="adj1" fmla="val 39254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Elbow Connector 43"/>
              <p:cNvCxnSpPr/>
              <p:nvPr/>
            </p:nvCxnSpPr>
            <p:spPr>
              <a:xfrm>
                <a:off x="3581400" y="2057400"/>
                <a:ext cx="2209800" cy="762000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" name="Elbow Connector 47"/>
              <p:cNvCxnSpPr/>
              <p:nvPr/>
            </p:nvCxnSpPr>
            <p:spPr>
              <a:xfrm>
                <a:off x="3505200" y="2514600"/>
                <a:ext cx="2286000" cy="1447800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/>
            <p:cNvGrpSpPr/>
            <p:nvPr/>
          </p:nvGrpSpPr>
          <p:grpSpPr>
            <a:xfrm>
              <a:off x="3505200" y="3276600"/>
              <a:ext cx="2209800" cy="1601788"/>
              <a:chOff x="3505200" y="3276600"/>
              <a:chExt cx="2209800" cy="1601788"/>
            </a:xfrm>
          </p:grpSpPr>
          <p:cxnSp>
            <p:nvCxnSpPr>
              <p:cNvPr id="51" name="Straight Arrow Connector 50"/>
              <p:cNvCxnSpPr/>
              <p:nvPr/>
            </p:nvCxnSpPr>
            <p:spPr>
              <a:xfrm>
                <a:off x="3505200" y="36576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>
                <a:off x="3505200" y="44196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>
                <a:off x="3505200" y="48768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>
                <a:off x="3505200" y="32766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Rollover cable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4403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يستخدم 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Roll Over Cable </a:t>
            </a:r>
            <a:r>
              <a:rPr lang="ar-YE" sz="20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تستخدم لربط جهاز الكمبيوتر مع الـ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 or Switch 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لكي نستطيع مع عمل اعدادات الـ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Router or Switch 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</a:p>
          <a:p>
            <a:pPr marL="0" indent="0">
              <a:buNone/>
            </a:pPr>
            <a:r>
              <a:rPr lang="ar-YE" sz="1800" b="1" u="sng" dirty="0" smtClean="0">
                <a:solidFill>
                  <a:srgbClr val="C00000"/>
                </a:solidFill>
              </a:rPr>
              <a:t>*تركيب أسلاك الـ </a:t>
            </a:r>
            <a:r>
              <a:rPr lang="en-US" sz="1800" b="1" u="sng" dirty="0" smtClean="0">
                <a:solidFill>
                  <a:srgbClr val="C00000"/>
                </a:solidFill>
              </a:rPr>
              <a:t>RollOver Cable </a:t>
            </a:r>
            <a:r>
              <a:rPr lang="ar-YE" sz="1800" b="1" u="sng" dirty="0" smtClean="0">
                <a:solidFill>
                  <a:srgbClr val="C00000"/>
                </a:solidFill>
              </a:rPr>
              <a:t> 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يتم تركيب الأسلاك من المصنع حيث ان تركيبها معقد ويطلق عليها بأسم (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Console Cable 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.</a:t>
            </a: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12954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PC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Router/Switch 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3962400" y="1488744"/>
            <a:ext cx="16002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" y="3200400"/>
            <a:ext cx="4191000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0" y="3276600"/>
            <a:ext cx="4191000" cy="32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/>
          <p:cNvSpPr txBox="1"/>
          <p:nvPr/>
        </p:nvSpPr>
        <p:spPr>
          <a:xfrm>
            <a:off x="5791200" y="6172200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Console Cable</a:t>
            </a:r>
            <a:endParaRPr lang="ar-YE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8200" y="22828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all" spc="0" normalizeH="0" baseline="0" noProof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+mj-lt"/>
                <a:ea typeface="+mj-ea"/>
                <a:cs typeface="+mj-cs"/>
              </a:rPr>
              <a:t>Standard color</a:t>
            </a:r>
            <a:endParaRPr kumimoji="0" lang="ar-YE" sz="4000" b="1" i="0" u="none" strike="noStrike" kern="1200" cap="all" spc="0" normalizeH="0" baseline="0" noProof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912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3581400" y="2133600"/>
            <a:ext cx="2133600" cy="2744788"/>
            <a:chOff x="3581400" y="1600200"/>
            <a:chExt cx="2133600" cy="2744788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3581400" y="1600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3581400" y="1981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581400" y="2362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581400" y="2743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3581400" y="3124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581400" y="3505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3581400" y="38862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581400" y="4343400"/>
              <a:ext cx="2133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2192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Switch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70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Router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4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772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4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895600" y="838200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YE" b="1" u="sng" dirty="0" smtClean="0">
                <a:solidFill>
                  <a:srgbClr val="C00000"/>
                </a:solidFill>
              </a:rPr>
              <a:t>* الـ </a:t>
            </a:r>
            <a:r>
              <a:rPr lang="en-US" b="1" u="sng" dirty="0" smtClean="0">
                <a:solidFill>
                  <a:srgbClr val="C00000"/>
                </a:solidFill>
              </a:rPr>
              <a:t>Straight-Through cable</a:t>
            </a:r>
            <a:r>
              <a:rPr lang="ar-YE" b="1" u="sng" dirty="0" smtClean="0">
                <a:solidFill>
                  <a:srgbClr val="C00000"/>
                </a:solidFill>
              </a:rPr>
              <a:t> :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Standard Color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1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5334000"/>
            <a:ext cx="7924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YE" b="1" u="sng" dirty="0" smtClean="0"/>
              <a:t>حيث ان هذا الترتيب يصل البيانات الى 100 متر .</a:t>
            </a:r>
            <a:endParaRPr lang="ar-YE" b="1" u="sng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91200" y="1905000"/>
          <a:ext cx="2819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2819400"/>
              </a:tblGrid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White/Orange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Orange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White/Blue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Green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White/Brown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Brown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2192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Switch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7000" y="1447800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2">
                    <a:lumMod val="50000"/>
                  </a:schemeClr>
                </a:solidFill>
              </a:rPr>
              <a:t>Router</a:t>
            </a:r>
            <a:endParaRPr lang="ar-YE" b="1" u="sng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4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77200" y="1905000"/>
          <a:ext cx="533400" cy="312420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533400"/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u="sng" dirty="0" smtClean="0"/>
                        <a:t>1</a:t>
                      </a:r>
                      <a:endParaRPr lang="ar-YE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2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3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4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5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u="sng" dirty="0" smtClean="0"/>
                        <a:t>6</a:t>
                      </a:r>
                      <a:endParaRPr lang="ar-YE" b="1" u="sng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7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ar-YE" b="1" dirty="0" smtClean="0"/>
                        <a:t>8</a:t>
                      </a:r>
                      <a:endParaRPr lang="ar-YE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895600" y="838200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YE" b="1" u="sng" dirty="0" smtClean="0">
                <a:solidFill>
                  <a:srgbClr val="C00000"/>
                </a:solidFill>
              </a:rPr>
              <a:t>* الـ </a:t>
            </a:r>
            <a:r>
              <a:rPr lang="en-US" b="1" u="sng" dirty="0" smtClean="0">
                <a:solidFill>
                  <a:srgbClr val="C00000"/>
                </a:solidFill>
              </a:rPr>
              <a:t>Crossover cable</a:t>
            </a:r>
            <a:r>
              <a:rPr lang="ar-YE" b="1" u="sng" dirty="0" smtClean="0">
                <a:solidFill>
                  <a:srgbClr val="C00000"/>
                </a:solidFill>
              </a:rPr>
              <a:t> :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Standard Color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1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5334000"/>
            <a:ext cx="7924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YE" b="1" u="sng" dirty="0" smtClean="0"/>
              <a:t>حيث ان هذا الترتيب يصل البيانات الى 100 متر .</a:t>
            </a:r>
            <a:endParaRPr lang="ar-YE" b="1" u="sng" dirty="0"/>
          </a:p>
        </p:txBody>
      </p:sp>
      <p:grpSp>
        <p:nvGrpSpPr>
          <p:cNvPr id="26" name="Group 25"/>
          <p:cNvGrpSpPr/>
          <p:nvPr/>
        </p:nvGrpSpPr>
        <p:grpSpPr>
          <a:xfrm>
            <a:off x="3505200" y="2057400"/>
            <a:ext cx="2286000" cy="2820988"/>
            <a:chOff x="3505200" y="2057400"/>
            <a:chExt cx="2286000" cy="2820988"/>
          </a:xfrm>
        </p:grpSpPr>
        <p:grpSp>
          <p:nvGrpSpPr>
            <p:cNvPr id="27" name="Group 48"/>
            <p:cNvGrpSpPr/>
            <p:nvPr/>
          </p:nvGrpSpPr>
          <p:grpSpPr>
            <a:xfrm>
              <a:off x="3505200" y="2057400"/>
              <a:ext cx="2286000" cy="1981200"/>
              <a:chOff x="3505200" y="2057400"/>
              <a:chExt cx="2286000" cy="1981200"/>
            </a:xfrm>
          </p:grpSpPr>
          <p:cxnSp>
            <p:nvCxnSpPr>
              <p:cNvPr id="33" name="Elbow Connector 32"/>
              <p:cNvCxnSpPr/>
              <p:nvPr/>
            </p:nvCxnSpPr>
            <p:spPr>
              <a:xfrm rot="10800000" flipV="1">
                <a:off x="3505200" y="2133600"/>
                <a:ext cx="2209800" cy="762000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Elbow Connector 33"/>
              <p:cNvCxnSpPr/>
              <p:nvPr/>
            </p:nvCxnSpPr>
            <p:spPr>
              <a:xfrm rot="10800000" flipV="1">
                <a:off x="3505200" y="2514600"/>
                <a:ext cx="2286000" cy="1524000"/>
              </a:xfrm>
              <a:prstGeom prst="bentConnector3">
                <a:avLst>
                  <a:gd name="adj1" fmla="val 39254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Elbow Connector 34"/>
              <p:cNvCxnSpPr/>
              <p:nvPr/>
            </p:nvCxnSpPr>
            <p:spPr>
              <a:xfrm>
                <a:off x="3581400" y="2057400"/>
                <a:ext cx="2209800" cy="762000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Elbow Connector 35"/>
              <p:cNvCxnSpPr/>
              <p:nvPr/>
            </p:nvCxnSpPr>
            <p:spPr>
              <a:xfrm>
                <a:off x="3505200" y="2514600"/>
                <a:ext cx="2286000" cy="1447800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54"/>
            <p:cNvGrpSpPr/>
            <p:nvPr/>
          </p:nvGrpSpPr>
          <p:grpSpPr>
            <a:xfrm>
              <a:off x="3505200" y="3276600"/>
              <a:ext cx="2209800" cy="1601788"/>
              <a:chOff x="3505200" y="3276600"/>
              <a:chExt cx="2209800" cy="1601788"/>
            </a:xfrm>
          </p:grpSpPr>
          <p:cxnSp>
            <p:nvCxnSpPr>
              <p:cNvPr id="29" name="Straight Arrow Connector 28"/>
              <p:cNvCxnSpPr/>
              <p:nvPr/>
            </p:nvCxnSpPr>
            <p:spPr>
              <a:xfrm>
                <a:off x="3505200" y="36576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3505200" y="44196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3505200" y="48768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3505200" y="3276600"/>
                <a:ext cx="22098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11301</TotalTime>
  <Words>835</Words>
  <Application>Microsoft Office PowerPoint</Application>
  <PresentationFormat>On-screen Show (4:3)</PresentationFormat>
  <Paragraphs>363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Arabic Typesetting</vt:lpstr>
      <vt:lpstr>Arial</vt:lpstr>
      <vt:lpstr>Calibri</vt:lpstr>
      <vt:lpstr>Times New Roman</vt:lpstr>
      <vt:lpstr>Office Theme</vt:lpstr>
      <vt:lpstr>Cabling Network (Twisted pair,coax ial cable,fiber optic) chapter 5</vt:lpstr>
      <vt:lpstr>Twisted pair</vt:lpstr>
      <vt:lpstr>Twisted Pair     </vt:lpstr>
      <vt:lpstr>أولاَ:غير المحمي UTP</vt:lpstr>
      <vt:lpstr>ثانياَ:المحمي STP </vt:lpstr>
      <vt:lpstr>Coaxial cable</vt:lpstr>
      <vt:lpstr>Coaxial Cable</vt:lpstr>
      <vt:lpstr>Fiber Optic</vt:lpstr>
      <vt:lpstr>PowerPoint Presentation</vt:lpstr>
      <vt:lpstr>Straight-through cable</vt:lpstr>
      <vt:lpstr>Straight-through cable</vt:lpstr>
      <vt:lpstr>Crossover cable</vt:lpstr>
      <vt:lpstr>Crossover cable</vt:lpstr>
      <vt:lpstr>Rollover cable</vt:lpstr>
      <vt:lpstr>PowerPoint Presentation</vt:lpstr>
      <vt:lpstr>Standard Color </vt:lpstr>
      <vt:lpstr>Standard Color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PC</dc:creator>
  <cp:lastModifiedBy>HASAN</cp:lastModifiedBy>
  <cp:revision>449</cp:revision>
  <dcterms:created xsi:type="dcterms:W3CDTF">2011-12-20T11:36:44Z</dcterms:created>
  <dcterms:modified xsi:type="dcterms:W3CDTF">2013-02-15T16:31:11Z</dcterms:modified>
</cp:coreProperties>
</file>